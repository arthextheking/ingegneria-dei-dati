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88" r:id="rId3"/>
    <p:sldId id="290" r:id="rId4"/>
    <p:sldId id="28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683"/>
    <a:srgbClr val="82B3D9"/>
    <a:srgbClr val="96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66467-7BC1-9E46-8C90-7F8A7CE2180F}" v="20" dt="2025-11-13T14:37:47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137"/>
  </p:normalViewPr>
  <p:slideViewPr>
    <p:cSldViewPr snapToGrid="0" snapToObjects="1">
      <p:cViewPr varScale="1">
        <p:scale>
          <a:sx n="110" d="100"/>
          <a:sy n="110" d="100"/>
        </p:scale>
        <p:origin x="1080" y="168"/>
      </p:cViewPr>
      <p:guideLst/>
    </p:cSldViewPr>
  </p:slideViewPr>
  <p:outlineViewPr>
    <p:cViewPr>
      <p:scale>
        <a:sx n="33" d="100"/>
        <a:sy n="33" d="100"/>
      </p:scale>
      <p:origin x="0" y="-99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Merialdo" userId="6b2f726f-c277-4207-bbd5-daf1d09aaa87" providerId="ADAL" clId="{AE64C085-1E6C-5EB7-9CA8-8A6CCB2E411F}"/>
    <pc:docChg chg="custSel modSld">
      <pc:chgData name="Paolo Merialdo" userId="6b2f726f-c277-4207-bbd5-daf1d09aaa87" providerId="ADAL" clId="{AE64C085-1E6C-5EB7-9CA8-8A6CCB2E411F}" dt="2025-11-14T11:01:14.812" v="200" actId="20577"/>
      <pc:docMkLst>
        <pc:docMk/>
      </pc:docMkLst>
      <pc:sldChg chg="modSp mod">
        <pc:chgData name="Paolo Merialdo" userId="6b2f726f-c277-4207-bbd5-daf1d09aaa87" providerId="ADAL" clId="{AE64C085-1E6C-5EB7-9CA8-8A6CCB2E411F}" dt="2025-11-14T10:15:58.507" v="1" actId="20577"/>
        <pc:sldMkLst>
          <pc:docMk/>
          <pc:sldMk cId="3688995893" sldId="257"/>
        </pc:sldMkLst>
        <pc:spChg chg="mod">
          <ac:chgData name="Paolo Merialdo" userId="6b2f726f-c277-4207-bbd5-daf1d09aaa87" providerId="ADAL" clId="{AE64C085-1E6C-5EB7-9CA8-8A6CCB2E411F}" dt="2025-11-14T10:15:58.507" v="1" actId="20577"/>
          <ac:spMkLst>
            <pc:docMk/>
            <pc:sldMk cId="3688995893" sldId="257"/>
            <ac:spMk id="4" creationId="{111BD2A2-3F15-9F44-8219-E0CE813B4B51}"/>
          </ac:spMkLst>
        </pc:spChg>
      </pc:sldChg>
      <pc:sldChg chg="modSp mod">
        <pc:chgData name="Paolo Merialdo" userId="6b2f726f-c277-4207-bbd5-daf1d09aaa87" providerId="ADAL" clId="{AE64C085-1E6C-5EB7-9CA8-8A6CCB2E411F}" dt="2025-11-14T11:01:14.812" v="200" actId="20577"/>
        <pc:sldMkLst>
          <pc:docMk/>
          <pc:sldMk cId="3460329526" sldId="288"/>
        </pc:sldMkLst>
        <pc:spChg chg="mod">
          <ac:chgData name="Paolo Merialdo" userId="6b2f726f-c277-4207-bbd5-daf1d09aaa87" providerId="ADAL" clId="{AE64C085-1E6C-5EB7-9CA8-8A6CCB2E411F}" dt="2025-11-14T10:16:02.776" v="3" actId="20577"/>
          <ac:spMkLst>
            <pc:docMk/>
            <pc:sldMk cId="3460329526" sldId="288"/>
            <ac:spMk id="2" creationId="{0C3EE80F-CC95-C142-8315-50AF78B462B8}"/>
          </ac:spMkLst>
        </pc:spChg>
        <pc:spChg chg="mod">
          <ac:chgData name="Paolo Merialdo" userId="6b2f726f-c277-4207-bbd5-daf1d09aaa87" providerId="ADAL" clId="{AE64C085-1E6C-5EB7-9CA8-8A6CCB2E411F}" dt="2025-11-14T11:01:14.812" v="200" actId="20577"/>
          <ac:spMkLst>
            <pc:docMk/>
            <pc:sldMk cId="3460329526" sldId="288"/>
            <ac:spMk id="3" creationId="{53547EB2-20EA-6849-9867-547B3D39958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FF0F641-D87B-5E4D-A75C-570D466209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3D443D8-5940-014B-8155-E7F4400F32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B6218-4069-6A44-960D-4B7E077799FD}" type="datetimeFigureOut">
              <a:rPr lang="it-IT" smtClean="0"/>
              <a:t>11/12/25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C9FB05-6A95-2642-B534-EDFC6E213B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03B92F-BD03-ED4B-9367-E273E4C257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4A270-FD93-B240-AC91-6016E5C0AD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6116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BA147-752D-DB4E-88EB-08B36A378B80}" type="datetimeFigureOut">
              <a:rPr lang="it-IT" smtClean="0"/>
              <a:t>11/12/25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0F04D-5C0F-DA4B-85E2-BF0C9363D6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7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D0F04D-5C0F-DA4B-85E2-BF0C9363D6F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3367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4755F9-81A6-B24A-BA9A-24337A79F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0231F15-836E-0142-A257-8AF75E4AA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venir Next" panose="020B05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Fare clic per modificare lo stile del sottotitolo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1CBDEAE-D954-6746-959D-A4763C94690C}"/>
              </a:ext>
            </a:extLst>
          </p:cNvPr>
          <p:cNvSpPr/>
          <p:nvPr userDrawn="1"/>
        </p:nvSpPr>
        <p:spPr>
          <a:xfrm>
            <a:off x="1524000" y="1127983"/>
            <a:ext cx="9144000" cy="24434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8D9EBE-028F-C340-8AFB-A00FDC70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B8559C-52FC-8A4C-A86E-630BA9E4F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  <a:lvl2pPr>
              <a:defRPr>
                <a:latin typeface="Avenir Next" panose="020B0503020202020204" pitchFamily="34" charset="0"/>
              </a:defRPr>
            </a:lvl2pPr>
            <a:lvl3pPr>
              <a:defRPr>
                <a:latin typeface="Avenir Next" panose="020B0503020202020204" pitchFamily="34" charset="0"/>
              </a:defRPr>
            </a:lvl3pPr>
            <a:lvl4pPr>
              <a:defRPr>
                <a:latin typeface="Avenir Next" panose="020B0503020202020204" pitchFamily="34" charset="0"/>
              </a:defRPr>
            </a:lvl4pPr>
            <a:lvl5pPr>
              <a:defRPr>
                <a:latin typeface="Avenir Next" panose="020B0503020202020204" pitchFamily="34" charset="0"/>
              </a:defRPr>
            </a:lvl5pPr>
          </a:lstStyle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A0FED27-284A-5C41-9A03-211ACF13B211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27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6C3F35-E1A2-0B48-9CA1-7F68BC2C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C0070A-762E-2E48-B83C-F4B9A305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3BDF445-D5C7-EA4E-AA88-FE45E1413229}"/>
              </a:ext>
            </a:extLst>
          </p:cNvPr>
          <p:cNvSpPr/>
          <p:nvPr userDrawn="1"/>
        </p:nvSpPr>
        <p:spPr>
          <a:xfrm>
            <a:off x="831850" y="1682750"/>
            <a:ext cx="10515600" cy="440690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85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62DCE8-DE8D-C94E-BC7E-9778D4A3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1E7BDC-0ADF-C144-B510-6B58BC61A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F71F4D-FFC2-2B43-9102-A244D2B6A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146D269-976A-4546-9136-6B5E7C94C37D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23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A31F53-DB22-FA4C-B815-A1AEDC89D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B20BEB-45C3-A44E-8081-A9A03BFF4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567D79D-93D9-294C-A79C-249AB41FF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846FD12-9D8F-E24D-9054-3EE403D63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ECBE19B-6C50-A246-B7B5-34238C0F2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AD3AC99-E819-4544-BDF5-FAEF97A95C15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72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AD2EA-9701-8D47-A79A-AD0814DA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CE58A4-1AB2-EE48-B083-29FDF8E26581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8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41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BDE83B-CF56-0440-9A06-FF5B65D2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9260E79-F936-8D41-B307-9C5127BFF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81A14CA-2139-3645-BC95-CE0FD2B4C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8DF1B43-C934-D548-9E5D-5870AC2CCD81}"/>
              </a:ext>
            </a:extLst>
          </p:cNvPr>
          <p:cNvSpPr/>
          <p:nvPr userDrawn="1"/>
        </p:nvSpPr>
        <p:spPr>
          <a:xfrm>
            <a:off x="838199" y="457200"/>
            <a:ext cx="3935413" cy="160020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9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AFA3FED-15CE-BF48-9AFC-577CC18A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5" y="324980"/>
            <a:ext cx="11323529" cy="71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EDDC49-A0E0-5648-A5A9-17E65FE10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235" y="1465544"/>
            <a:ext cx="11323529" cy="5067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527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ustinreese/craigslist-carstrucks-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ananaymital/us-used-cars-datase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coNapoleone/FAIR-DA4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EbqbR7dvK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11BD2A2-3F15-9F44-8219-E0CE813B4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 err="1"/>
              <a:t>Ingegneria</a:t>
            </a:r>
            <a:r>
              <a:rPr lang="en-US" sz="4400" noProof="0" dirty="0"/>
              <a:t> </a:t>
            </a:r>
            <a:r>
              <a:rPr lang="en-US" sz="4400" noProof="0" dirty="0" err="1"/>
              <a:t>dei</a:t>
            </a:r>
            <a:r>
              <a:rPr lang="en-US" sz="4400" noProof="0" dirty="0"/>
              <a:t> </a:t>
            </a:r>
            <a:r>
              <a:rPr lang="en-US" sz="4400" noProof="0" dirty="0" err="1"/>
              <a:t>dati</a:t>
            </a:r>
            <a:r>
              <a:rPr lang="en-US" sz="4400" noProof="0" dirty="0"/>
              <a:t> 2025/2026</a:t>
            </a:r>
            <a:br>
              <a:rPr lang="en-US" noProof="0" dirty="0"/>
            </a:br>
            <a:r>
              <a:rPr lang="en-US" dirty="0"/>
              <a:t>Homework 6</a:t>
            </a:r>
            <a:br>
              <a:rPr lang="en-US" dirty="0"/>
            </a:br>
            <a:r>
              <a:rPr lang="en-US" sz="4000" dirty="0"/>
              <a:t>(da </a:t>
            </a:r>
            <a:r>
              <a:rPr lang="en-US" sz="4000" dirty="0" err="1"/>
              <a:t>svolgere</a:t>
            </a:r>
            <a:r>
              <a:rPr lang="en-US" sz="4000" dirty="0"/>
              <a:t> in </a:t>
            </a:r>
            <a:r>
              <a:rPr lang="en-US" sz="4000" dirty="0" err="1"/>
              <a:t>gruppo</a:t>
            </a:r>
            <a:r>
              <a:rPr lang="en-US" sz="4000" dirty="0"/>
              <a:t>)</a:t>
            </a:r>
            <a:endParaRPr lang="en-US" noProof="0" dirty="0"/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E00618CB-BC8E-F445-90EA-C9FBB8381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Paolo </a:t>
            </a:r>
            <a:r>
              <a:rPr lang="en-US" noProof="0" dirty="0" err="1"/>
              <a:t>Merialdo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899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EE80F-CC95-C142-8315-50AF78B4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Homework 6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547EB2-20EA-6849-9867-547B3D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35" y="1465544"/>
            <a:ext cx="11583594" cy="50674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it-IT" sz="1600" dirty="0"/>
              <a:t>L’obiettivo del progetto è integrare i dati su automobili disponibili da diverse sorgenti. Considerare i dati disponibili in queste sorgenti:</a:t>
            </a:r>
          </a:p>
          <a:p>
            <a:pPr>
              <a:lnSpc>
                <a:spcPct val="120000"/>
              </a:lnSpc>
            </a:pPr>
            <a:r>
              <a:rPr lang="it-IT" sz="1600" dirty="0">
                <a:hlinkClick r:id="rId3"/>
              </a:rPr>
              <a:t>https://www.kaggle.com/datasets/austinreese/craigslist-carstrucks-data</a:t>
            </a:r>
            <a:r>
              <a:rPr lang="it-IT" sz="1600" dirty="0"/>
              <a:t> *</a:t>
            </a:r>
          </a:p>
          <a:p>
            <a:pPr>
              <a:lnSpc>
                <a:spcPct val="120000"/>
              </a:lnSpc>
            </a:pPr>
            <a:r>
              <a:rPr lang="it-IT" sz="1600" dirty="0">
                <a:hlinkClick r:id="rId4"/>
              </a:rPr>
              <a:t>https://www.kaggle.com/datasets/ananaymital/us-used-cars-dataset</a:t>
            </a:r>
            <a:r>
              <a:rPr lang="it-IT" sz="1600" dirty="0"/>
              <a:t> *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t-IT" sz="1600" dirty="0"/>
              <a:t>Per ciascuna sorgente analizzare la percentuale di valori nulli e di valori unici di ciascun attributo</a:t>
            </a:r>
            <a:endParaRPr lang="it-IT" sz="1200" dirty="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t-IT" sz="1600" dirty="0"/>
              <a:t>Definire uno schema mediato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t-IT" sz="1600" dirty="0"/>
              <a:t>Allineare le sorgenti allo schema mediato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t-IT" sz="1600" dirty="0"/>
              <a:t>Implementare e valutare una strategia di record linkage (vedi </a:t>
            </a:r>
            <a:r>
              <a:rPr lang="it-IT" sz="1600" dirty="0" err="1"/>
              <a:t>prox</a:t>
            </a:r>
            <a:r>
              <a:rPr lang="it-IT" sz="1600" dirty="0"/>
              <a:t> slide)</a:t>
            </a:r>
          </a:p>
          <a:p>
            <a:pPr marL="0" indent="0">
              <a:lnSpc>
                <a:spcPct val="120000"/>
              </a:lnSpc>
              <a:buNone/>
            </a:pPr>
            <a:endParaRPr lang="it-IT" sz="1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81C988-6959-7CD2-18F6-CA92BA2D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025" y="26114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2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92B006-4D57-E6A1-8726-0792774B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6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79F07B-E8FF-2894-1861-76C49226C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it-IT" dirty="0"/>
              <a:t>4. Record linkage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4.A  Generare un ground-truth per valutare diversi soluzioni e addestrare 	modelli di ML.  Per questo passaggio	sfruttiamo la presenza dell'attributo VIN, che rappresenta il numero di telaio. Tuttavia, dobbiamo prestare 	attenzione 	al fatto che i dati sono rumorosi; a tal fine, definire una strategia per fare verifiche ad hoc e pulire i dati (senza 	perderne la rappresentatività). Se si decide di produrre una ground-truth curata a mano, valutare l'uso di Label Studio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4.B Eliminare gli attributi VIN dai due dataset e dalla ground-truth 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4.C Dalla ground-truth creare tre dataset (training, </a:t>
            </a:r>
            <a:r>
              <a:rPr lang="it-IT" dirty="0" err="1"/>
              <a:t>validation</a:t>
            </a:r>
            <a:r>
              <a:rPr lang="it-IT" dirty="0"/>
              <a:t>, test)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4.D Definire due strategie di </a:t>
            </a:r>
            <a:r>
              <a:rPr lang="it-IT" dirty="0" err="1"/>
              <a:t>blocking</a:t>
            </a:r>
            <a:r>
              <a:rPr lang="it-IT" dirty="0"/>
              <a:t> B1 e B2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4.E Definire regole di record linkage con la libreria Python Record Linkage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4.F Addestrare un modello usando la libreria Python </a:t>
            </a:r>
            <a:r>
              <a:rPr lang="it-IT" dirty="0" err="1"/>
              <a:t>Dedupe</a:t>
            </a:r>
            <a:r>
              <a:rPr lang="it-IT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4.G Addestrare un modello con la versione di Ditto disponibile a questo indirizzo: 	</a:t>
            </a:r>
            <a:r>
              <a:rPr lang="it-IT" dirty="0">
                <a:hlinkClick r:id="rId2"/>
              </a:rPr>
              <a:t>https://github.com/MarcoNapoleone/FAIR-DA4ER</a:t>
            </a:r>
            <a:r>
              <a:rPr lang="it-IT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dirty="0"/>
              <a:t>	4.H Valutare le prestazioni di diverse pipeline (B1-dedupe, B2-dedupe, B1-RecordLikage, B2-RecordLikage, B1-ditto, 	B2-ditto) in termini di </a:t>
            </a:r>
            <a:r>
              <a:rPr lang="it-IT" dirty="0" err="1"/>
              <a:t>precision</a:t>
            </a:r>
            <a:r>
              <a:rPr lang="it-IT" dirty="0"/>
              <a:t>, recall, F1-measure, tempi di training, tempi di inferenza</a:t>
            </a:r>
            <a:endParaRPr lang="en-US" dirty="0"/>
          </a:p>
          <a:p>
            <a:pPr marL="1119188" lvl="1" indent="-219075">
              <a:lnSpc>
                <a:spcPct val="120000"/>
              </a:lnSpc>
            </a:pPr>
            <a:endParaRPr lang="it-IT" dirty="0"/>
          </a:p>
          <a:p>
            <a:pPr marL="1119188" lvl="1" indent="-219075">
              <a:lnSpc>
                <a:spcPct val="120000"/>
              </a:lnSpc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68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EE80F-CC95-C142-8315-50AF78B4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Homework 6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547EB2-20EA-6849-9867-547B3D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35" y="1465544"/>
            <a:ext cx="11323529" cy="5067475"/>
          </a:xfrm>
        </p:spPr>
        <p:txBody>
          <a:bodyPr>
            <a:normAutofit fontScale="92500"/>
          </a:bodyPr>
          <a:lstStyle/>
          <a:p>
            <a:r>
              <a:rPr lang="it-IT" dirty="0"/>
              <a:t>Preparare una relazione di circa 10 pagine che descrive le principali sfide affrontate nel progetto, la caratterizzazione delle fonti e, in dettaglio, la valutazione sperimentale.</a:t>
            </a:r>
          </a:p>
          <a:p>
            <a:r>
              <a:rPr lang="it-IT" dirty="0"/>
              <a:t>Preparare una presentazione di 20' che descrive architettura e valutazione sperimentale della soluzione.</a:t>
            </a:r>
          </a:p>
          <a:p>
            <a:pPr marL="0" indent="0">
              <a:lnSpc>
                <a:spcPct val="100000"/>
              </a:lnSpc>
              <a:buNone/>
            </a:pPr>
            <a:endParaRPr lang="it-IT" dirty="0"/>
          </a:p>
          <a:p>
            <a:pPr marL="0" indent="0">
              <a:lnSpc>
                <a:spcPct val="100000"/>
              </a:lnSpc>
              <a:buNone/>
            </a:pPr>
            <a:r>
              <a:rPr lang="it-IT" dirty="0"/>
              <a:t>Termini di consegna: il giorno prima dell'esame.</a:t>
            </a:r>
          </a:p>
          <a:p>
            <a:pPr marL="0" indent="0">
              <a:lnSpc>
                <a:spcPct val="100000"/>
              </a:lnSpc>
              <a:buNone/>
            </a:pPr>
            <a:endParaRPr lang="it-IT" dirty="0"/>
          </a:p>
          <a:p>
            <a:pPr marL="0" indent="0">
              <a:lnSpc>
                <a:spcPct val="100000"/>
              </a:lnSpc>
              <a:buNone/>
            </a:pPr>
            <a:r>
              <a:rPr lang="it-IT" dirty="0"/>
              <a:t>Caricare la relazione e la presentazione attraverso il seguente modulo:</a:t>
            </a:r>
            <a:br>
              <a:rPr lang="it-IT" dirty="0"/>
            </a:br>
            <a:br>
              <a:rPr lang="it-IT" dirty="0"/>
            </a:br>
            <a:r>
              <a:rPr lang="it-IT" dirty="0"/>
              <a:t>         </a:t>
            </a:r>
            <a:r>
              <a:rPr lang="it-IT" dirty="0">
                <a:hlinkClick r:id="rId2"/>
              </a:rPr>
              <a:t>https://forms.office.com/e/EbqbR7dvK4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8427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143289</TotalTime>
  <Words>421</Words>
  <Application>Microsoft Macintosh PowerPoint</Application>
  <PresentationFormat>Widescreen</PresentationFormat>
  <Paragraphs>29</Paragraphs>
  <Slides>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Avenir Next</vt:lpstr>
      <vt:lpstr>Calibri</vt:lpstr>
      <vt:lpstr>Tema di Office</vt:lpstr>
      <vt:lpstr>Ingegneria dei dati 2025/2026 Homework 6 (da svolgere in gruppo)</vt:lpstr>
      <vt:lpstr>Homework 6</vt:lpstr>
      <vt:lpstr>Homework 6</vt:lpstr>
      <vt:lpstr>Homework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Ingegneria dei dati</dc:title>
  <dc:creator>Paolo Merialdo</dc:creator>
  <cp:lastModifiedBy>Paolo Merialdo</cp:lastModifiedBy>
  <cp:revision>54</cp:revision>
  <dcterms:created xsi:type="dcterms:W3CDTF">2021-06-16T08:50:58Z</dcterms:created>
  <dcterms:modified xsi:type="dcterms:W3CDTF">2025-12-15T10:40:00Z</dcterms:modified>
</cp:coreProperties>
</file>