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7"/>
  </p:notesMasterIdLst>
  <p:sldIdLst>
    <p:sldId id="256" r:id="rId2"/>
    <p:sldId id="257" r:id="rId3"/>
    <p:sldId id="275" r:id="rId4"/>
    <p:sldId id="282" r:id="rId5"/>
    <p:sldId id="276" r:id="rId6"/>
    <p:sldId id="277" r:id="rId7"/>
    <p:sldId id="278" r:id="rId8"/>
    <p:sldId id="279" r:id="rId9"/>
    <p:sldId id="280" r:id="rId10"/>
    <p:sldId id="265" r:id="rId11"/>
    <p:sldId id="266" r:id="rId12"/>
    <p:sldId id="271" r:id="rId13"/>
    <p:sldId id="284" r:id="rId14"/>
    <p:sldId id="287" r:id="rId15"/>
    <p:sldId id="274" r:id="rId16"/>
  </p:sldIdLst>
  <p:sldSz cx="9144000" cy="6858000" type="screen4x3"/>
  <p:notesSz cx="7104063" cy="10234613"/>
  <p:defaultTextStyle>
    <a:defPPr>
      <a:defRPr lang="it-IT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ile medio 2 - Colore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Nessuno stile, nessuna griglia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3C2FFA5D-87B4-456A-9821-1D502468CF0F}" styleName="Stile con tema 1 - Colore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284E427A-3D55-4303-BF80-6455036E1DE7}" styleName="Stile con tema 1 - Colore 2">
    <a:tblBg>
      <a:fillRef idx="2">
        <a:schemeClr val="accent2"/>
      </a:fillRef>
      <a:effectRef idx="1">
        <a:schemeClr val="accent2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Ref idx="1">
              <a:schemeClr val="accent2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</a:tcBdr>
        <a:fill>
          <a:solidFill>
            <a:schemeClr val="accent2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2"/>
            </a:lnRef>
          </a:left>
          <a:right>
            <a:lnRef idx="2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2">
              <a:schemeClr val="accent2"/>
            </a:lnRef>
          </a:top>
          <a:bottom>
            <a:lnRef idx="2">
              <a:schemeClr val="accent2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2"/>
          </a:solidFill>
        </a:fill>
      </a:tcStyle>
    </a:firstRow>
  </a:tblStyle>
  <a:tblStyle styleId="{5940675A-B579-460E-94D1-54222C63F5DA}" styleName="Nessuno stile, griglia tabella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D7AC3CCA-C797-4891-BE02-D94E43425B78}" styleName="Stile medio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 w="12700" cmpd="sng">
              <a:solidFill>
                <a:schemeClr val="dk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dk1">
              <a:tint val="20000"/>
            </a:schemeClr>
          </a:solidFill>
        </a:fill>
      </a:tcStyle>
    </a:firstRow>
  </a:tblStyle>
  <a:tblStyle styleId="{69CF1AB2-1976-4502-BF36-3FF5EA218861}" styleName="Stile medio 4 - Colore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1"/>
              </a:solidFill>
            </a:ln>
          </a:top>
        </a:tcBdr>
        <a:fill>
          <a:solidFill>
            <a:schemeClr val="accent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1">
              <a:tint val="20000"/>
            </a:schemeClr>
          </a:solidFill>
        </a:fill>
      </a:tcStyle>
    </a:firstRow>
  </a:tblStyle>
  <a:tblStyle styleId="{7DF18680-E054-41AD-8BC1-D1AEF772440D}" styleName="Stile medio 2 - Colore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D113A9D2-9D6B-4929-AA2D-F23B5EE8CBE7}" styleName="Stile con tema 2 - Colore 1">
    <a:tblBg>
      <a:fillRef idx="3">
        <a:schemeClr val="accent1"/>
      </a:fillRef>
      <a:effectRef idx="3">
        <a:schemeClr val="accent1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1">
                <a:tint val="50000"/>
              </a:schemeClr>
            </a:lnRef>
          </a:left>
          <a:right>
            <a:lnRef idx="1">
              <a:schemeClr val="accent1">
                <a:tint val="50000"/>
              </a:schemeClr>
            </a:lnRef>
          </a:right>
          <a:top>
            <a:lnRef idx="1">
              <a:schemeClr val="accent1">
                <a:tint val="50000"/>
              </a:schemeClr>
            </a:lnRef>
          </a:top>
          <a:bottom>
            <a:lnRef idx="1">
              <a:schemeClr val="accent1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  <a:tblStyle styleId="{B301B821-A1FF-4177-AEE7-76D212191A09}" styleName="Stile medio 1 - Colore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1">
              <a:tint val="20000"/>
            </a:schemeClr>
          </a:solidFill>
        </a:fill>
      </a:tcStyle>
    </a:band1H>
    <a:band1V>
      <a:tcStyle>
        <a:tcBdr/>
        <a:fill>
          <a:solidFill>
            <a:schemeClr val="accent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Row>
  </a:tblStyle>
  <a:tblStyle styleId="{BC89EF96-8CEA-46FF-86C4-4CE0E7609802}" styleName="Stile chiaro 3 - Colore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125E5076-3810-47DD-B79F-674D7AD40C01}" styleName="Stile scuro 1 - Colore 1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wholeTbl>
    <a:band1H>
      <a:tcStyle>
        <a:tcBdr/>
        <a:fill>
          <a:solidFill>
            <a:schemeClr val="accent1">
              <a:shade val="60000"/>
            </a:schemeClr>
          </a:solidFill>
        </a:fill>
      </a:tcStyle>
    </a:band1H>
    <a:band1V>
      <a:tcStyle>
        <a:tcBdr/>
        <a:fill>
          <a:solidFill>
            <a:schemeClr val="accent1">
              <a:shade val="6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accent1">
              <a:shade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accent1">
              <a:shade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accent1">
              <a:shade val="4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E8034E78-7F5D-4C2E-B375-FC64B27BC917}" styleName="Stile scuro 1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dk1">
              <a:tint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dk1">
              <a:tint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dk1">
              <a:tint val="6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37CE84F3-28C3-443E-9E96-99CF82512B78}" styleName="Stile scuro 1 - Colore 2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2"/>
          </a:solidFill>
        </a:fill>
      </a:tcStyle>
    </a:wholeTbl>
    <a:band1H>
      <a:tcStyle>
        <a:tcBdr/>
        <a:fill>
          <a:solidFill>
            <a:schemeClr val="accent2">
              <a:shade val="60000"/>
            </a:schemeClr>
          </a:solidFill>
        </a:fill>
      </a:tcStyle>
    </a:band1H>
    <a:band1V>
      <a:tcStyle>
        <a:tcBdr/>
        <a:fill>
          <a:solidFill>
            <a:schemeClr val="accent2">
              <a:shade val="6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accent2">
              <a:shade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accent2">
              <a:shade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accent2">
              <a:shade val="4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3B4B98B0-60AC-42C2-AFA5-B58CD77FA1E5}" styleName="Stile chiaro 1 - Colore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367"/>
    <p:restoredTop sz="94696"/>
  </p:normalViewPr>
  <p:slideViewPr>
    <p:cSldViewPr>
      <p:cViewPr varScale="1">
        <p:scale>
          <a:sx n="79" d="100"/>
          <a:sy n="79" d="100"/>
        </p:scale>
        <p:origin x="1493" y="67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ntestazion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78163" cy="512763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it-IT"/>
          </a:p>
        </p:txBody>
      </p:sp>
      <p:sp>
        <p:nvSpPr>
          <p:cNvPr id="3" name="Segnaposto data 2"/>
          <p:cNvSpPr>
            <a:spLocks noGrp="1"/>
          </p:cNvSpPr>
          <p:nvPr>
            <p:ph type="dt" idx="1"/>
          </p:nvPr>
        </p:nvSpPr>
        <p:spPr>
          <a:xfrm>
            <a:off x="4024313" y="0"/>
            <a:ext cx="3078162" cy="512763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758AAB4-36CD-3341-A9F1-9279EB62B2A7}" type="datetimeFigureOut">
              <a:rPr lang="it-IT" smtClean="0"/>
              <a:t>21/02/2026</a:t>
            </a:fld>
            <a:endParaRPr lang="it-IT"/>
          </a:p>
        </p:txBody>
      </p:sp>
      <p:sp>
        <p:nvSpPr>
          <p:cNvPr id="4" name="Segnaposto immagin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1249363" y="1279525"/>
            <a:ext cx="4606925" cy="34544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it-IT"/>
          </a:p>
        </p:txBody>
      </p:sp>
      <p:sp>
        <p:nvSpPr>
          <p:cNvPr id="5" name="Segnaposto note 4"/>
          <p:cNvSpPr>
            <a:spLocks noGrp="1"/>
          </p:cNvSpPr>
          <p:nvPr>
            <p:ph type="body" sz="quarter" idx="3"/>
          </p:nvPr>
        </p:nvSpPr>
        <p:spPr>
          <a:xfrm>
            <a:off x="711200" y="4926013"/>
            <a:ext cx="5683250" cy="4029075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6" name="Segnaposto piè di pagina 5"/>
          <p:cNvSpPr>
            <a:spLocks noGrp="1"/>
          </p:cNvSpPr>
          <p:nvPr>
            <p:ph type="ftr" sz="quarter" idx="4"/>
          </p:nvPr>
        </p:nvSpPr>
        <p:spPr>
          <a:xfrm>
            <a:off x="0" y="9721850"/>
            <a:ext cx="3078163" cy="51276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it-IT"/>
          </a:p>
        </p:txBody>
      </p:sp>
      <p:sp>
        <p:nvSpPr>
          <p:cNvPr id="7" name="Segnaposto numero diapositiva 6"/>
          <p:cNvSpPr>
            <a:spLocks noGrp="1"/>
          </p:cNvSpPr>
          <p:nvPr>
            <p:ph type="sldNum" sz="quarter" idx="5"/>
          </p:nvPr>
        </p:nvSpPr>
        <p:spPr>
          <a:xfrm>
            <a:off x="4024313" y="9721850"/>
            <a:ext cx="3078162" cy="51276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9627FA2-C2B7-1C4E-BA0C-94DD9628DC14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67647015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it-IT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Gemini ha detto</a:t>
            </a:r>
          </a:p>
          <a:p>
            <a:pPr rtl="0"/>
            <a:r>
              <a:rPr lang="it-IT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Ecco un'ottima spiegazione tecnica del </a:t>
            </a:r>
            <a:r>
              <a:rPr lang="it-IT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perché</a:t>
            </a:r>
            <a:r>
              <a:rPr lang="it-IT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hai scelto esattamente questi algoritmi. Questa è una classica domanda da esame, ed è il momento in cui dimostri di non aver fatto "copia-incolla", ma di aver compreso la natura dei tuoi dati.</a:t>
            </a:r>
          </a:p>
          <a:p>
            <a:pPr rtl="0"/>
            <a:r>
              <a:rPr lang="it-IT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Ecco come puoi spiegarlo al professore:</a:t>
            </a:r>
          </a:p>
          <a:p>
            <a:pPr rtl="0"/>
            <a:r>
              <a:rPr lang="it-IT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1. </a:t>
            </a:r>
            <a:r>
              <a:rPr lang="it-IT" sz="1200" b="1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Jaro</a:t>
            </a:r>
            <a:r>
              <a:rPr lang="it-IT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-Winkler (Scelto per Make e Model)</a:t>
            </a:r>
          </a:p>
          <a:p>
            <a:pPr rtl="0"/>
            <a:r>
              <a:rPr lang="it-IT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Come funziona:</a:t>
            </a:r>
            <a:r>
              <a:rPr lang="it-IT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È una misura di similarità per le stringhe che </a:t>
            </a:r>
            <a:r>
              <a:rPr lang="it-IT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premia fortemente i prefissi identici</a:t>
            </a:r>
            <a:r>
              <a:rPr lang="it-IT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Significa che se le prime lettere di due parole sono uguali, il punteggio sale drasticamente.</a:t>
            </a:r>
          </a:p>
          <a:p>
            <a:pPr rtl="0"/>
            <a:r>
              <a:rPr lang="it-IT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Perché lo usiamo per Marca e Modello:</a:t>
            </a:r>
            <a:r>
              <a:rPr lang="it-IT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Quando le persone scrivono il nome di un'auto, raramente sbagliano le prime lettere. Gli errori di battitura (</a:t>
            </a:r>
            <a:r>
              <a:rPr lang="it-IT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typos</a:t>
            </a:r>
            <a:r>
              <a:rPr lang="it-IT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), le abbreviazioni o le varianti si trovano quasi sempre alla fine o al centro della parola (es. </a:t>
            </a:r>
            <a:r>
              <a:rPr lang="it-IT" sz="120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"Chevrolet"</a:t>
            </a:r>
            <a:r>
              <a:rPr lang="it-IT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vs </a:t>
            </a:r>
            <a:r>
              <a:rPr lang="it-IT" sz="120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"</a:t>
            </a:r>
            <a:r>
              <a:rPr lang="it-IT" sz="1200" i="1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Chevy</a:t>
            </a:r>
            <a:r>
              <a:rPr lang="it-IT" sz="120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"</a:t>
            </a:r>
            <a:r>
              <a:rPr lang="it-IT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oppure </a:t>
            </a:r>
            <a:r>
              <a:rPr lang="it-IT" sz="120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"Volkswagen"</a:t>
            </a:r>
            <a:r>
              <a:rPr lang="it-IT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vs </a:t>
            </a:r>
            <a:r>
              <a:rPr lang="it-IT" sz="120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"</a:t>
            </a:r>
            <a:r>
              <a:rPr lang="it-IT" sz="1200" i="1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Volksvagen</a:t>
            </a:r>
            <a:r>
              <a:rPr lang="it-IT" sz="120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"</a:t>
            </a:r>
            <a:r>
              <a:rPr lang="it-IT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o </a:t>
            </a:r>
            <a:r>
              <a:rPr lang="it-IT" sz="120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"Golf"</a:t>
            </a:r>
            <a:r>
              <a:rPr lang="it-IT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vs </a:t>
            </a:r>
            <a:r>
              <a:rPr lang="it-IT" sz="120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"Golf GTI"</a:t>
            </a:r>
            <a:r>
              <a:rPr lang="it-IT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). </a:t>
            </a:r>
            <a:r>
              <a:rPr lang="it-IT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Jaro</a:t>
            </a:r>
            <a:r>
              <a:rPr lang="it-IT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-Winkler è l'algoritmo migliore in letteratura per i nomi propri perché cattura perfettamente questa dinamica umana.</a:t>
            </a:r>
          </a:p>
          <a:p>
            <a:pPr rtl="0"/>
            <a:r>
              <a:rPr lang="it-IT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2. </a:t>
            </a:r>
            <a:r>
              <a:rPr lang="it-IT" sz="1200" b="1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Levenshtein</a:t>
            </a:r>
            <a:r>
              <a:rPr lang="it-IT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(Scelto per </a:t>
            </a:r>
            <a:r>
              <a:rPr lang="it-IT" sz="1200" b="1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Year</a:t>
            </a:r>
            <a:r>
              <a:rPr lang="it-IT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</a:t>
            </a:r>
          </a:p>
          <a:p>
            <a:pPr rtl="0"/>
            <a:r>
              <a:rPr lang="it-IT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Come funziona:</a:t>
            </a:r>
            <a:r>
              <a:rPr lang="it-IT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Calcola l'</a:t>
            </a:r>
            <a:r>
              <a:rPr lang="it-IT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Edit </a:t>
            </a:r>
            <a:r>
              <a:rPr lang="it-IT" sz="1200" b="1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Distance</a:t>
            </a:r>
            <a:r>
              <a:rPr lang="it-IT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(Distanza di Modifica), ovvero il numero minimo di operazioni (inserimenti, cancellazioni o sostituzioni di singoli caratteri) necessarie per trasformare una stringa nell'altra.</a:t>
            </a:r>
          </a:p>
          <a:p>
            <a:pPr rtl="0"/>
            <a:r>
              <a:rPr lang="it-IT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Perché lo usiamo per l'Anno:</a:t>
            </a:r>
            <a:r>
              <a:rPr lang="it-IT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L'anno è una stringa fissa e corta (4 caratteri). Qui non ci sono abbreviazioni, c'è solo il rischio del "dito scivolato" sulla tastiera. Se confronti "201</a:t>
            </a:r>
            <a:r>
              <a:rPr lang="it-IT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8</a:t>
            </a:r>
            <a:r>
              <a:rPr lang="it-IT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" e "201</a:t>
            </a:r>
            <a:r>
              <a:rPr lang="it-IT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9</a:t>
            </a:r>
            <a:r>
              <a:rPr lang="it-IT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", basta sostituire un solo carattere. </a:t>
            </a:r>
            <a:r>
              <a:rPr lang="it-IT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Levenshtein</a:t>
            </a:r>
            <a:r>
              <a:rPr lang="it-IT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capisce immediatamente che la distanza è piccolissima (1 operazione su 4) e restituisce un punteggio alto. </a:t>
            </a:r>
            <a:r>
              <a:rPr lang="it-IT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Jaro</a:t>
            </a:r>
            <a:r>
              <a:rPr lang="it-IT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-Winkler qui sarebbe sprecato o impreciso.</a:t>
            </a:r>
          </a:p>
          <a:p>
            <a:pPr rtl="0"/>
            <a:r>
              <a:rPr lang="it-IT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3. Gaussiano (Scelto per Price)</a:t>
            </a:r>
          </a:p>
          <a:p>
            <a:pPr rtl="0"/>
            <a:r>
              <a:rPr lang="it-IT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Come funziona:</a:t>
            </a:r>
            <a:r>
              <a:rPr lang="it-IT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Non ragiona a caratteri, ma a </a:t>
            </a:r>
            <a:r>
              <a:rPr lang="it-IT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grandezze numeriche</a:t>
            </a:r>
            <a:r>
              <a:rPr lang="it-IT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Crea una "curva a campana" (distribuzione normale) attorno al numero base, assegnando un punteggio che scende dolcemente man mano che i numeri si allontanano.</a:t>
            </a:r>
          </a:p>
          <a:p>
            <a:pPr rtl="0"/>
            <a:r>
              <a:rPr lang="it-IT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Perché lo usiamo per il Prezzo:</a:t>
            </a:r>
            <a:r>
              <a:rPr lang="it-IT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Il prezzo di un'auto usata non è una stringa di testo, è una variabile continua, soggetta a fluttuazioni (es. sconti, tasse, arrotondamenti). Se confronti </a:t>
            </a:r>
            <a:r>
              <a:rPr lang="it-IT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5000$</a:t>
            </a:r>
            <a:r>
              <a:rPr lang="it-IT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e </a:t>
            </a:r>
            <a:r>
              <a:rPr lang="it-IT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5100$</a:t>
            </a:r>
            <a:r>
              <a:rPr lang="it-IT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un algoritmo testuale direbbe che sono diversi. Il Gaussiano, invece, valuta che matematicamente sono vicinissimi (scarto del 2%) e restituisce una similarità del 95%. Se invece confronti 5000$ e 15000$, la curva a campana crolla e restituisce 0.</a:t>
            </a:r>
          </a:p>
          <a:p>
            <a:endParaRPr lang="it-IT" dirty="0"/>
          </a:p>
        </p:txBody>
      </p:sp>
      <p:sp>
        <p:nvSpPr>
          <p:cNvPr id="4" name="Segnaposto numero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9627FA2-C2B7-1C4E-BA0C-94DD9628DC14}" type="slidenum">
              <a:rPr lang="it-IT" smtClean="0"/>
              <a:t>10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30482605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tito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it-IT"/>
              <a:t>Fare clic per modificare lo stile del titolo</a:t>
            </a:r>
          </a:p>
        </p:txBody>
      </p:sp>
      <p:sp>
        <p:nvSpPr>
          <p:cNvPr id="3" name="Sottotitolo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it-IT"/>
              <a:t>Fare clic per modificare lo stile del sottotitolo dello schema</a:t>
            </a:r>
          </a:p>
        </p:txBody>
      </p:sp>
      <p:sp>
        <p:nvSpPr>
          <p:cNvPr id="4" name="Segnaposto dat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49D355-16BD-4E45-BD9A-5EA878CF7CBD}" type="datetimeFigureOut">
              <a:rPr lang="it-IT" smtClean="0"/>
              <a:t>21/02/2026</a:t>
            </a:fld>
            <a:endParaRPr lang="it-IT"/>
          </a:p>
        </p:txBody>
      </p:sp>
      <p:sp>
        <p:nvSpPr>
          <p:cNvPr id="5" name="Segnaposto piè di pagina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egnaposto numero diapositiva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A41E1B-4F70-4964-A407-84C68BE8251C}" type="slidenum">
              <a:rPr lang="it-IT" smtClean="0"/>
              <a:t>‹N›</a:t>
            </a:fld>
            <a:endParaRPr lang="it-IT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olo e contenu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</a:t>
            </a:r>
          </a:p>
        </p:txBody>
      </p:sp>
      <p:sp>
        <p:nvSpPr>
          <p:cNvPr id="3" name="Segnaposto contenuto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it-IT"/>
              <a:t>Fare clic per modificare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dat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49D355-16BD-4E45-BD9A-5EA878CF7CBD}" type="datetimeFigureOut">
              <a:rPr lang="it-IT" smtClean="0"/>
              <a:t>21/02/2026</a:t>
            </a:fld>
            <a:endParaRPr lang="it-IT"/>
          </a:p>
        </p:txBody>
      </p:sp>
      <p:sp>
        <p:nvSpPr>
          <p:cNvPr id="5" name="Segnaposto piè di pagina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egnaposto numero diapositiva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A41E1B-4F70-4964-A407-84C68BE8251C}" type="slidenum">
              <a:rPr lang="it-IT" smtClean="0"/>
              <a:t>‹N›</a:t>
            </a:fld>
            <a:endParaRPr lang="it-IT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Intestazione sezio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it-IT"/>
              <a:t>Fare clic per modificare lo stile del titolo</a:t>
            </a:r>
          </a:p>
        </p:txBody>
      </p:sp>
      <p:sp>
        <p:nvSpPr>
          <p:cNvPr id="3" name="Segnaposto testo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it-IT"/>
              <a:t>Fare clic per modificare stili del testo dello schema</a:t>
            </a:r>
          </a:p>
        </p:txBody>
      </p:sp>
      <p:sp>
        <p:nvSpPr>
          <p:cNvPr id="4" name="Segnaposto dat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49D355-16BD-4E45-BD9A-5EA878CF7CBD}" type="datetimeFigureOut">
              <a:rPr lang="it-IT" smtClean="0"/>
              <a:t>21/02/2026</a:t>
            </a:fld>
            <a:endParaRPr lang="it-IT"/>
          </a:p>
        </p:txBody>
      </p:sp>
      <p:sp>
        <p:nvSpPr>
          <p:cNvPr id="5" name="Segnaposto piè di pagina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egnaposto numero diapositiva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A41E1B-4F70-4964-A407-84C68BE8251C}" type="slidenum">
              <a:rPr lang="it-IT" smtClean="0"/>
              <a:t>‹N›</a:t>
            </a:fld>
            <a:endParaRPr lang="it-IT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e contenuti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</a:t>
            </a:r>
          </a:p>
        </p:txBody>
      </p:sp>
      <p:sp>
        <p:nvSpPr>
          <p:cNvPr id="3" name="Segnaposto contenuto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it-IT"/>
              <a:t>Fare clic per modificare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contenuto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it-IT"/>
              <a:t>Fare clic per modificare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5" name="Segnaposto data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49D355-16BD-4E45-BD9A-5EA878CF7CBD}" type="datetimeFigureOut">
              <a:rPr lang="it-IT" smtClean="0"/>
              <a:t>21/02/2026</a:t>
            </a:fld>
            <a:endParaRPr lang="it-IT"/>
          </a:p>
        </p:txBody>
      </p:sp>
      <p:sp>
        <p:nvSpPr>
          <p:cNvPr id="6" name="Segnaposto piè di pagina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7" name="Segnaposto numero diapositiva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A41E1B-4F70-4964-A407-84C68BE8251C}" type="slidenum">
              <a:rPr lang="it-IT" smtClean="0"/>
              <a:t>‹N›</a:t>
            </a:fld>
            <a:endParaRPr lang="it-IT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nfron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it-IT"/>
              <a:t>Fare clic per modificare lo stile del titolo</a:t>
            </a:r>
          </a:p>
        </p:txBody>
      </p:sp>
      <p:sp>
        <p:nvSpPr>
          <p:cNvPr id="3" name="Segnaposto testo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it-IT"/>
              <a:t>Fare clic per modificare stili del testo dello schema</a:t>
            </a:r>
          </a:p>
        </p:txBody>
      </p:sp>
      <p:sp>
        <p:nvSpPr>
          <p:cNvPr id="4" name="Segnaposto contenuto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it-IT"/>
              <a:t>Fare clic per modificare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5" name="Segnaposto testo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it-IT"/>
              <a:t>Fare clic per modificare stili del testo dello schema</a:t>
            </a:r>
          </a:p>
        </p:txBody>
      </p:sp>
      <p:sp>
        <p:nvSpPr>
          <p:cNvPr id="6" name="Segnaposto contenuto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it-IT"/>
              <a:t>Fare clic per modificare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7" name="Segnaposto data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49D355-16BD-4E45-BD9A-5EA878CF7CBD}" type="datetimeFigureOut">
              <a:rPr lang="it-IT" smtClean="0"/>
              <a:t>21/02/2026</a:t>
            </a:fld>
            <a:endParaRPr lang="it-IT"/>
          </a:p>
        </p:txBody>
      </p:sp>
      <p:sp>
        <p:nvSpPr>
          <p:cNvPr id="8" name="Segnaposto piè di pagina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9" name="Segnaposto numero diapositiva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A41E1B-4F70-4964-A407-84C68BE8251C}" type="slidenum">
              <a:rPr lang="it-IT" smtClean="0"/>
              <a:t>‹N›</a:t>
            </a:fld>
            <a:endParaRPr lang="it-IT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tito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</a:t>
            </a:r>
          </a:p>
        </p:txBody>
      </p:sp>
      <p:sp>
        <p:nvSpPr>
          <p:cNvPr id="3" name="Segnaposto data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49D355-16BD-4E45-BD9A-5EA878CF7CBD}" type="datetimeFigureOut">
              <a:rPr lang="it-IT" smtClean="0"/>
              <a:t>21/02/2026</a:t>
            </a:fld>
            <a:endParaRPr lang="it-IT"/>
          </a:p>
        </p:txBody>
      </p:sp>
      <p:sp>
        <p:nvSpPr>
          <p:cNvPr id="4" name="Segnaposto piè di pagina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5" name="Segnaposto numero diapositiva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A41E1B-4F70-4964-A407-84C68BE8251C}" type="slidenum">
              <a:rPr lang="it-IT" smtClean="0"/>
              <a:t>‹N›</a:t>
            </a:fld>
            <a:endParaRPr lang="it-IT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uot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data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49D355-16BD-4E45-BD9A-5EA878CF7CBD}" type="datetimeFigureOut">
              <a:rPr lang="it-IT" smtClean="0"/>
              <a:t>21/02/2026</a:t>
            </a:fld>
            <a:endParaRPr lang="it-IT"/>
          </a:p>
        </p:txBody>
      </p:sp>
      <p:sp>
        <p:nvSpPr>
          <p:cNvPr id="3" name="Segnaposto piè di pagina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4" name="Segnaposto numero diapositiva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A41E1B-4F70-4964-A407-84C68BE8251C}" type="slidenum">
              <a:rPr lang="it-IT" smtClean="0"/>
              <a:t>‹N›</a:t>
            </a:fld>
            <a:endParaRPr lang="it-IT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to con didascal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it-IT"/>
              <a:t>Fare clic per modificare lo stile del titolo</a:t>
            </a:r>
          </a:p>
        </p:txBody>
      </p:sp>
      <p:sp>
        <p:nvSpPr>
          <p:cNvPr id="3" name="Segnaposto contenuto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it-IT"/>
              <a:t>Fare clic per modificare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testo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it-IT"/>
              <a:t>Fare clic per modificare stili del testo dello schema</a:t>
            </a:r>
          </a:p>
        </p:txBody>
      </p:sp>
      <p:sp>
        <p:nvSpPr>
          <p:cNvPr id="5" name="Segnaposto data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49D355-16BD-4E45-BD9A-5EA878CF7CBD}" type="datetimeFigureOut">
              <a:rPr lang="it-IT" smtClean="0"/>
              <a:t>21/02/2026</a:t>
            </a:fld>
            <a:endParaRPr lang="it-IT"/>
          </a:p>
        </p:txBody>
      </p:sp>
      <p:sp>
        <p:nvSpPr>
          <p:cNvPr id="6" name="Segnaposto piè di pagina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7" name="Segnaposto numero diapositiva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A41E1B-4F70-4964-A407-84C68BE8251C}" type="slidenum">
              <a:rPr lang="it-IT" smtClean="0"/>
              <a:t>‹N›</a:t>
            </a:fld>
            <a:endParaRPr lang="it-IT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magine con didascal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it-IT"/>
              <a:t>Fare clic per modificare lo stile del titolo</a:t>
            </a:r>
          </a:p>
        </p:txBody>
      </p:sp>
      <p:sp>
        <p:nvSpPr>
          <p:cNvPr id="3" name="Segnaposto immagine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it-IT"/>
          </a:p>
        </p:txBody>
      </p:sp>
      <p:sp>
        <p:nvSpPr>
          <p:cNvPr id="4" name="Segnaposto testo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it-IT"/>
              <a:t>Fare clic per modificare stili del testo dello schema</a:t>
            </a:r>
          </a:p>
        </p:txBody>
      </p:sp>
      <p:sp>
        <p:nvSpPr>
          <p:cNvPr id="5" name="Segnaposto data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49D355-16BD-4E45-BD9A-5EA878CF7CBD}" type="datetimeFigureOut">
              <a:rPr lang="it-IT" smtClean="0"/>
              <a:t>21/02/2026</a:t>
            </a:fld>
            <a:endParaRPr lang="it-IT"/>
          </a:p>
        </p:txBody>
      </p:sp>
      <p:sp>
        <p:nvSpPr>
          <p:cNvPr id="6" name="Segnaposto piè di pagina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7" name="Segnaposto numero diapositiva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A41E1B-4F70-4964-A407-84C68BE8251C}" type="slidenum">
              <a:rPr lang="it-IT" smtClean="0"/>
              <a:t>‹N›</a:t>
            </a:fld>
            <a:endParaRPr lang="it-IT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olo e testo vertica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</a:t>
            </a:r>
          </a:p>
        </p:txBody>
      </p:sp>
      <p:sp>
        <p:nvSpPr>
          <p:cNvPr id="3" name="Segnaposto testo verticale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it-IT"/>
              <a:t>Fare clic per modificare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dat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49D355-16BD-4E45-BD9A-5EA878CF7CBD}" type="datetimeFigureOut">
              <a:rPr lang="it-IT" smtClean="0"/>
              <a:t>21/02/2026</a:t>
            </a:fld>
            <a:endParaRPr lang="it-IT"/>
          </a:p>
        </p:txBody>
      </p:sp>
      <p:sp>
        <p:nvSpPr>
          <p:cNvPr id="5" name="Segnaposto piè di pagina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egnaposto numero diapositiva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A41E1B-4F70-4964-A407-84C68BE8251C}" type="slidenum">
              <a:rPr lang="it-IT" smtClean="0"/>
              <a:t>‹N›</a:t>
            </a:fld>
            <a:endParaRPr lang="it-IT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olo e testo vertica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vertica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it-IT"/>
              <a:t>Fare clic per modificare lo stile del titolo</a:t>
            </a:r>
          </a:p>
        </p:txBody>
      </p:sp>
      <p:sp>
        <p:nvSpPr>
          <p:cNvPr id="3" name="Segnaposto testo verticale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it-IT"/>
              <a:t>Fare clic per modificare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dat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49D355-16BD-4E45-BD9A-5EA878CF7CBD}" type="datetimeFigureOut">
              <a:rPr lang="it-IT" smtClean="0"/>
              <a:t>21/02/2026</a:t>
            </a:fld>
            <a:endParaRPr lang="it-IT"/>
          </a:p>
        </p:txBody>
      </p:sp>
      <p:sp>
        <p:nvSpPr>
          <p:cNvPr id="5" name="Segnaposto piè di pagina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egnaposto numero diapositiva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A41E1B-4F70-4964-A407-84C68BE8251C}" type="slidenum">
              <a:rPr lang="it-IT" smtClean="0"/>
              <a:t>‹N›</a:t>
            </a:fld>
            <a:endParaRPr lang="it-IT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titolo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it-IT"/>
              <a:t>Fare clic per modificare lo stile del titolo</a:t>
            </a:r>
          </a:p>
        </p:txBody>
      </p:sp>
      <p:sp>
        <p:nvSpPr>
          <p:cNvPr id="3" name="Segnaposto testo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it-IT"/>
              <a:t>Fare clic per modificare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data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F49D355-16BD-4E45-BD9A-5EA878CF7CBD}" type="datetimeFigureOut">
              <a:rPr lang="it-IT" smtClean="0"/>
              <a:t>21/02/2026</a:t>
            </a:fld>
            <a:endParaRPr lang="it-IT"/>
          </a:p>
        </p:txBody>
      </p:sp>
      <p:sp>
        <p:nvSpPr>
          <p:cNvPr id="5" name="Segnaposto piè di pagina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it-IT"/>
          </a:p>
        </p:txBody>
      </p:sp>
      <p:sp>
        <p:nvSpPr>
          <p:cNvPr id="6" name="Segnaposto numero diapositiva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7A41E1B-4F70-4964-A407-84C68BE8251C}" type="slidenum">
              <a:rPr lang="it-IT" smtClean="0"/>
              <a:t>‹N›</a:t>
            </a:fld>
            <a:endParaRPr lang="it-IT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it-IT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olo 1"/>
          <p:cNvSpPr txBox="1">
            <a:spLocks/>
          </p:cNvSpPr>
          <p:nvPr/>
        </p:nvSpPr>
        <p:spPr>
          <a:xfrm>
            <a:off x="0" y="0"/>
            <a:ext cx="9144000" cy="1417638"/>
          </a:xfrm>
          <a:prstGeom prst="rect">
            <a:avLst/>
          </a:prstGeom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vert="horz" lIns="91440" tIns="45720" rIns="91440" bIns="45720" rtlCol="0" anchor="ctr">
            <a:normAutofit fontScale="97500"/>
          </a:bodyPr>
          <a:lstStyle>
            <a:lvl1pPr algn="ctr" defTabSz="9144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it-IT" sz="1800" dirty="0" err="1"/>
              <a:t>HomeWork</a:t>
            </a:r>
            <a:r>
              <a:rPr lang="it-IT" sz="1800" dirty="0"/>
              <a:t> 6</a:t>
            </a:r>
            <a:br>
              <a:rPr lang="it-IT" sz="1800" dirty="0"/>
            </a:br>
            <a:r>
              <a:rPr lang="it-IT" sz="1800" dirty="0"/>
              <a:t>Ingegneria dei Dati</a:t>
            </a:r>
            <a:endParaRPr lang="it-IT" sz="3000" dirty="0"/>
          </a:p>
        </p:txBody>
      </p:sp>
      <p:pic>
        <p:nvPicPr>
          <p:cNvPr id="5" name="Immagine 4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9512" y="188640"/>
            <a:ext cx="1645469" cy="1031045"/>
          </a:xfrm>
          <a:prstGeom prst="rect">
            <a:avLst/>
          </a:prstGeom>
        </p:spPr>
      </p:pic>
      <p:cxnSp>
        <p:nvCxnSpPr>
          <p:cNvPr id="6" name="Connettore 1 5"/>
          <p:cNvCxnSpPr/>
          <p:nvPr/>
        </p:nvCxnSpPr>
        <p:spPr>
          <a:xfrm flipV="1">
            <a:off x="-12968" y="1484784"/>
            <a:ext cx="9163830" cy="36004"/>
          </a:xfrm>
          <a:prstGeom prst="line">
            <a:avLst/>
          </a:prstGeom>
          <a:ln w="571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Connettore 1 6"/>
          <p:cNvCxnSpPr/>
          <p:nvPr/>
        </p:nvCxnSpPr>
        <p:spPr>
          <a:xfrm flipV="1">
            <a:off x="-19830" y="1655186"/>
            <a:ext cx="9163830" cy="36004"/>
          </a:xfrm>
          <a:prstGeom prst="line">
            <a:avLst/>
          </a:prstGeom>
          <a:ln w="571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Connettore 1 7"/>
          <p:cNvCxnSpPr/>
          <p:nvPr/>
        </p:nvCxnSpPr>
        <p:spPr>
          <a:xfrm flipV="1">
            <a:off x="-19830" y="1844824"/>
            <a:ext cx="9163830" cy="36004"/>
          </a:xfrm>
          <a:prstGeom prst="line">
            <a:avLst/>
          </a:prstGeom>
          <a:ln w="571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Rettangolo 9"/>
          <p:cNvSpPr/>
          <p:nvPr/>
        </p:nvSpPr>
        <p:spPr>
          <a:xfrm>
            <a:off x="467544" y="2204864"/>
            <a:ext cx="8064896" cy="292387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it-IT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Titolo:</a:t>
            </a:r>
          </a:p>
          <a:p>
            <a:r>
              <a:rPr lang="it-IT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Integrazione di Dati Automobilistici da Sorgenti Eterogenee tramite Record </a:t>
            </a:r>
            <a:r>
              <a:rPr lang="it-IT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Linkage</a:t>
            </a:r>
            <a:r>
              <a:rPr lang="it-IT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it-IT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Blocking</a:t>
            </a:r>
            <a:r>
              <a:rPr lang="it-IT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e Modelli di Machine Learning</a:t>
            </a:r>
            <a:r>
              <a:rPr lang="it-IT" dirty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  <a:p>
            <a:endParaRPr lang="it-IT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it-IT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Corso: </a:t>
            </a:r>
          </a:p>
          <a:p>
            <a:r>
              <a:rPr lang="it-IT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Ingegneria dei Dati 2025/2026 </a:t>
            </a:r>
            <a:r>
              <a:rPr lang="it-IT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Homework</a:t>
            </a:r>
            <a:r>
              <a:rPr lang="it-IT" dirty="0">
                <a:latin typeface="Times New Roman" panose="02020603050405020304" pitchFamily="18" charset="0"/>
                <a:cs typeface="Times New Roman" panose="02020603050405020304" pitchFamily="18" charset="0"/>
              </a:rPr>
              <a:t>: 6</a:t>
            </a:r>
          </a:p>
          <a:p>
            <a:endParaRPr lang="it-IT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it-IT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Autori</a:t>
            </a:r>
            <a:r>
              <a:rPr lang="it-IT" dirty="0">
                <a:latin typeface="Times New Roman" panose="02020603050405020304" pitchFamily="18" charset="0"/>
                <a:cs typeface="Times New Roman" panose="02020603050405020304" pitchFamily="18" charset="0"/>
              </a:rPr>
              <a:t>:</a:t>
            </a:r>
          </a:p>
          <a:p>
            <a:r>
              <a:rPr lang="it-IT" dirty="0">
                <a:latin typeface="Times New Roman" panose="02020603050405020304" pitchFamily="18" charset="0"/>
                <a:cs typeface="Times New Roman" panose="02020603050405020304" pitchFamily="18" charset="0"/>
              </a:rPr>
              <a:t>Alessandro di Mario 547297, Pietro Barone 579635, Guido </a:t>
            </a:r>
            <a:r>
              <a:rPr lang="it-IT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Petrolito</a:t>
            </a:r>
            <a:r>
              <a:rPr lang="it-IT" dirty="0">
                <a:latin typeface="Times New Roman" panose="02020603050405020304" pitchFamily="18" charset="0"/>
                <a:cs typeface="Times New Roman" panose="02020603050405020304" pitchFamily="18" charset="0"/>
              </a:rPr>
              <a:t> 629688, Douglas Ruffini 482379.</a:t>
            </a:r>
          </a:p>
        </p:txBody>
      </p:sp>
    </p:spTree>
    <p:extLst>
      <p:ext uri="{BB962C8B-B14F-4D97-AF65-F5344CB8AC3E}">
        <p14:creationId xmlns:p14="http://schemas.microsoft.com/office/powerpoint/2010/main" val="161120967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olo 1"/>
          <p:cNvSpPr txBox="1">
            <a:spLocks/>
          </p:cNvSpPr>
          <p:nvPr/>
        </p:nvSpPr>
        <p:spPr>
          <a:xfrm>
            <a:off x="0" y="0"/>
            <a:ext cx="9144000" cy="1417638"/>
          </a:xfrm>
          <a:prstGeom prst="rect">
            <a:avLst/>
          </a:prstGeom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vert="horz" lIns="91440" tIns="45720" rIns="91440" bIns="45720" rtlCol="0" anchor="ctr">
            <a:normAutofit fontScale="97500"/>
          </a:bodyPr>
          <a:lstStyle>
            <a:lvl1pPr algn="ctr" defTabSz="9144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it-IT" sz="1800" dirty="0" err="1"/>
              <a:t>HomeWork</a:t>
            </a:r>
            <a:r>
              <a:rPr lang="it-IT" sz="1800" dirty="0"/>
              <a:t> 6</a:t>
            </a:r>
            <a:br>
              <a:rPr lang="it-IT" sz="1800" dirty="0"/>
            </a:br>
            <a:r>
              <a:rPr lang="it-IT" sz="1800" dirty="0"/>
              <a:t>Ingegneria dei Dati</a:t>
            </a:r>
            <a:endParaRPr lang="it-IT" sz="3000" dirty="0"/>
          </a:p>
        </p:txBody>
      </p:sp>
      <p:pic>
        <p:nvPicPr>
          <p:cNvPr id="5" name="Immagine 4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9512" y="188640"/>
            <a:ext cx="1645469" cy="1031045"/>
          </a:xfrm>
          <a:prstGeom prst="rect">
            <a:avLst/>
          </a:prstGeom>
        </p:spPr>
      </p:pic>
      <p:cxnSp>
        <p:nvCxnSpPr>
          <p:cNvPr id="6" name="Connettore 1 5"/>
          <p:cNvCxnSpPr/>
          <p:nvPr/>
        </p:nvCxnSpPr>
        <p:spPr>
          <a:xfrm flipV="1">
            <a:off x="-12968" y="1484784"/>
            <a:ext cx="9163830" cy="36004"/>
          </a:xfrm>
          <a:prstGeom prst="line">
            <a:avLst/>
          </a:prstGeom>
          <a:ln w="571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Connettore 1 6"/>
          <p:cNvCxnSpPr/>
          <p:nvPr/>
        </p:nvCxnSpPr>
        <p:spPr>
          <a:xfrm flipV="1">
            <a:off x="-19830" y="1655186"/>
            <a:ext cx="9163830" cy="36004"/>
          </a:xfrm>
          <a:prstGeom prst="line">
            <a:avLst/>
          </a:prstGeom>
          <a:ln w="571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Connettore 1 7"/>
          <p:cNvCxnSpPr/>
          <p:nvPr/>
        </p:nvCxnSpPr>
        <p:spPr>
          <a:xfrm flipV="1">
            <a:off x="-19830" y="1844824"/>
            <a:ext cx="9163830" cy="36004"/>
          </a:xfrm>
          <a:prstGeom prst="line">
            <a:avLst/>
          </a:prstGeom>
          <a:ln w="571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Rettangolo 1"/>
          <p:cNvSpPr/>
          <p:nvPr/>
        </p:nvSpPr>
        <p:spPr>
          <a:xfrm>
            <a:off x="171195" y="1998458"/>
            <a:ext cx="8784976" cy="480131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it-IT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Introduzione</a:t>
            </a:r>
          </a:p>
          <a:p>
            <a:pPr algn="just"/>
            <a:r>
              <a:rPr lang="it-IT" dirty="0">
                <a:latin typeface="Times New Roman" panose="02020603050405020304" pitchFamily="18" charset="0"/>
                <a:cs typeface="Times New Roman" panose="02020603050405020304" pitchFamily="18" charset="0"/>
              </a:rPr>
              <a:t>Quando più dataset descrivono entità reali simili (in questo caso automobili usate), ma con schemi differenti, dati rumorosi e rappresentazioni inconsistenti, diventa necessario progettare una pipeline che permetta:</a:t>
            </a:r>
          </a:p>
          <a:p>
            <a:pPr marL="342900" indent="-342900" algn="just">
              <a:buFont typeface="+mj-lt"/>
              <a:buAutoNum type="arabicPeriod"/>
            </a:pPr>
            <a:endParaRPr lang="it-IT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42900" indent="-342900" algn="just">
              <a:buFont typeface="+mj-lt"/>
              <a:buAutoNum type="arabicPeriod"/>
            </a:pPr>
            <a:r>
              <a:rPr lang="it-IT" dirty="0">
                <a:latin typeface="Times New Roman" panose="02020603050405020304" pitchFamily="18" charset="0"/>
                <a:cs typeface="Times New Roman" panose="02020603050405020304" pitchFamily="18" charset="0"/>
              </a:rPr>
              <a:t>La caratterizzazione delle sorgenti</a:t>
            </a:r>
          </a:p>
          <a:p>
            <a:pPr marL="342900" indent="-342900" algn="just">
              <a:buFont typeface="+mj-lt"/>
              <a:buAutoNum type="arabicPeriod"/>
            </a:pPr>
            <a:r>
              <a:rPr lang="it-IT" dirty="0">
                <a:latin typeface="Times New Roman" panose="02020603050405020304" pitchFamily="18" charset="0"/>
                <a:cs typeface="Times New Roman" panose="02020603050405020304" pitchFamily="18" charset="0"/>
              </a:rPr>
              <a:t>La definizione di uno schema mediato </a:t>
            </a:r>
          </a:p>
          <a:p>
            <a:pPr marL="342900" indent="-342900" algn="just">
              <a:buFont typeface="+mj-lt"/>
              <a:buAutoNum type="arabicPeriod"/>
            </a:pPr>
            <a:r>
              <a:rPr lang="it-IT" dirty="0">
                <a:latin typeface="Times New Roman" panose="02020603050405020304" pitchFamily="18" charset="0"/>
                <a:cs typeface="Times New Roman" panose="02020603050405020304" pitchFamily="18" charset="0"/>
              </a:rPr>
              <a:t>L’allineamento delle sorgenti allo schema mediato </a:t>
            </a:r>
          </a:p>
          <a:p>
            <a:pPr marL="342900" indent="-342900" algn="just">
              <a:buFont typeface="+mj-lt"/>
              <a:buAutoNum type="arabicPeriod"/>
            </a:pPr>
            <a:r>
              <a:rPr lang="it-IT" dirty="0">
                <a:latin typeface="Times New Roman" panose="02020603050405020304" pitchFamily="18" charset="0"/>
                <a:cs typeface="Times New Roman" panose="02020603050405020304" pitchFamily="18" charset="0"/>
              </a:rPr>
              <a:t>L’identificazione dei record che si riferiscono alla stessa entità reale (</a:t>
            </a:r>
            <a:r>
              <a:rPr lang="it-IT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record</a:t>
            </a:r>
            <a:r>
              <a:rPr lang="it-IT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it-IT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linkage</a:t>
            </a:r>
            <a:r>
              <a:rPr lang="it-IT" dirty="0">
                <a:latin typeface="Times New Roman" panose="02020603050405020304" pitchFamily="18" charset="0"/>
                <a:cs typeface="Times New Roman" panose="02020603050405020304" pitchFamily="18" charset="0"/>
              </a:rPr>
              <a:t>)</a:t>
            </a:r>
          </a:p>
          <a:p>
            <a:pPr algn="just"/>
            <a:endParaRPr lang="it-IT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just"/>
            <a:r>
              <a:rPr lang="it-IT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 questo progetto sono state utilizzate due grandi sorgenti pubbliche:</a:t>
            </a:r>
          </a:p>
          <a:p>
            <a:pPr marL="285750" indent="-285750" algn="just">
              <a:buFont typeface="Wingdings" pitchFamily="2" charset="2"/>
              <a:buChar char="Ø"/>
            </a:pPr>
            <a:r>
              <a:rPr lang="it-IT" dirty="0">
                <a:latin typeface="Times New Roman" panose="02020603050405020304" pitchFamily="18" charset="0"/>
                <a:cs typeface="Times New Roman" panose="02020603050405020304" pitchFamily="18" charset="0"/>
              </a:rPr>
              <a:t>Craigslist Cars &amp; Trucks </a:t>
            </a:r>
          </a:p>
          <a:p>
            <a:pPr marL="285750" indent="-285750" algn="just">
              <a:buFont typeface="Wingdings" pitchFamily="2" charset="2"/>
              <a:buChar char="Ø"/>
            </a:pPr>
            <a:r>
              <a:rPr lang="it-IT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DatasetUS</a:t>
            </a:r>
            <a:r>
              <a:rPr lang="it-IT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it-IT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Used</a:t>
            </a:r>
            <a:r>
              <a:rPr lang="it-IT" dirty="0">
                <a:latin typeface="Times New Roman" panose="02020603050405020304" pitchFamily="18" charset="0"/>
                <a:cs typeface="Times New Roman" panose="02020603050405020304" pitchFamily="18" charset="0"/>
              </a:rPr>
              <a:t> Cars Dataset</a:t>
            </a:r>
          </a:p>
          <a:p>
            <a:pPr algn="just"/>
            <a:endParaRPr lang="it-IT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just"/>
            <a:r>
              <a:rPr lang="it-IT" dirty="0">
                <a:latin typeface="Times New Roman" panose="02020603050405020304" pitchFamily="18" charset="0"/>
                <a:cs typeface="Times New Roman" panose="02020603050405020304" pitchFamily="18" charset="0"/>
              </a:rPr>
              <a:t>L’obiettivo è stato costruire una pipeline sperimentale completa per confrontare diverse strategie di </a:t>
            </a:r>
            <a:r>
              <a:rPr lang="it-IT" u="sng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record </a:t>
            </a:r>
            <a:r>
              <a:rPr lang="it-IT" u="sng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linkage</a:t>
            </a:r>
            <a:r>
              <a:rPr lang="it-IT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valutandole in termini di </a:t>
            </a:r>
            <a:r>
              <a:rPr lang="it-IT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Precision</a:t>
            </a:r>
            <a:r>
              <a:rPr lang="it-IT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it-IT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Recall</a:t>
            </a:r>
            <a:r>
              <a:rPr lang="it-IT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it-IT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F1-measure</a:t>
            </a:r>
            <a:r>
              <a:rPr lang="it-IT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it-IT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tempi di training</a:t>
            </a:r>
            <a:r>
              <a:rPr lang="it-IT" dirty="0">
                <a:latin typeface="Times New Roman" panose="02020603050405020304" pitchFamily="18" charset="0"/>
                <a:cs typeface="Times New Roman" panose="02020603050405020304" pitchFamily="18" charset="0"/>
              </a:rPr>
              <a:t> e </a:t>
            </a:r>
            <a:r>
              <a:rPr lang="it-IT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tempi di inferenza</a:t>
            </a:r>
            <a:r>
              <a:rPr lang="it-IT" dirty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23874430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E3A8F29-F792-BAED-46DF-3B7CFE7026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olo 1">
            <a:extLst>
              <a:ext uri="{FF2B5EF4-FFF2-40B4-BE49-F238E27FC236}">
                <a16:creationId xmlns:a16="http://schemas.microsoft.com/office/drawing/2014/main" id="{1F0E0D1B-DC7F-80D6-28E6-FA5AEFE8112F}"/>
              </a:ext>
            </a:extLst>
          </p:cNvPr>
          <p:cNvSpPr txBox="1">
            <a:spLocks/>
          </p:cNvSpPr>
          <p:nvPr/>
        </p:nvSpPr>
        <p:spPr>
          <a:xfrm>
            <a:off x="0" y="0"/>
            <a:ext cx="9144000" cy="1417638"/>
          </a:xfrm>
          <a:prstGeom prst="rect">
            <a:avLst/>
          </a:prstGeom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vert="horz" lIns="91440" tIns="45720" rIns="91440" bIns="45720" rtlCol="0" anchor="ctr">
            <a:normAutofit fontScale="97500"/>
          </a:bodyPr>
          <a:lstStyle>
            <a:lvl1pPr algn="ctr" defTabSz="9144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it-IT" sz="1800" dirty="0" err="1"/>
              <a:t>HomeWork</a:t>
            </a:r>
            <a:r>
              <a:rPr lang="it-IT" sz="1800" dirty="0"/>
              <a:t> 6</a:t>
            </a:r>
            <a:br>
              <a:rPr lang="it-IT" sz="1800" dirty="0"/>
            </a:br>
            <a:r>
              <a:rPr lang="it-IT" sz="1800" dirty="0"/>
              <a:t>Ingegneria dei Dati</a:t>
            </a:r>
            <a:endParaRPr lang="it-IT" sz="3000" dirty="0"/>
          </a:p>
        </p:txBody>
      </p:sp>
      <p:pic>
        <p:nvPicPr>
          <p:cNvPr id="5" name="Immagine 4">
            <a:extLst>
              <a:ext uri="{FF2B5EF4-FFF2-40B4-BE49-F238E27FC236}">
                <a16:creationId xmlns:a16="http://schemas.microsoft.com/office/drawing/2014/main" id="{443782A5-1D2E-C348-A8FC-838B60CAF3DB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9512" y="188640"/>
            <a:ext cx="1645469" cy="1031045"/>
          </a:xfrm>
          <a:prstGeom prst="rect">
            <a:avLst/>
          </a:prstGeom>
        </p:spPr>
      </p:pic>
      <p:cxnSp>
        <p:nvCxnSpPr>
          <p:cNvPr id="6" name="Connettore 1 5">
            <a:extLst>
              <a:ext uri="{FF2B5EF4-FFF2-40B4-BE49-F238E27FC236}">
                <a16:creationId xmlns:a16="http://schemas.microsoft.com/office/drawing/2014/main" id="{E99763BE-86F0-8C80-0143-891A728D6DB4}"/>
              </a:ext>
            </a:extLst>
          </p:cNvPr>
          <p:cNvCxnSpPr/>
          <p:nvPr/>
        </p:nvCxnSpPr>
        <p:spPr>
          <a:xfrm flipV="1">
            <a:off x="-12968" y="1484784"/>
            <a:ext cx="9163830" cy="36004"/>
          </a:xfrm>
          <a:prstGeom prst="line">
            <a:avLst/>
          </a:prstGeom>
          <a:ln w="571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Connettore 1 6">
            <a:extLst>
              <a:ext uri="{FF2B5EF4-FFF2-40B4-BE49-F238E27FC236}">
                <a16:creationId xmlns:a16="http://schemas.microsoft.com/office/drawing/2014/main" id="{79658F85-98AA-BFFB-CE5D-EF51C1E0CE99}"/>
              </a:ext>
            </a:extLst>
          </p:cNvPr>
          <p:cNvCxnSpPr/>
          <p:nvPr/>
        </p:nvCxnSpPr>
        <p:spPr>
          <a:xfrm flipV="1">
            <a:off x="-19830" y="1655186"/>
            <a:ext cx="9163830" cy="36004"/>
          </a:xfrm>
          <a:prstGeom prst="line">
            <a:avLst/>
          </a:prstGeom>
          <a:ln w="571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Connettore 1 7">
            <a:extLst>
              <a:ext uri="{FF2B5EF4-FFF2-40B4-BE49-F238E27FC236}">
                <a16:creationId xmlns:a16="http://schemas.microsoft.com/office/drawing/2014/main" id="{ACE540BC-CF63-DBE2-CAC2-5FA01C29D353}"/>
              </a:ext>
            </a:extLst>
          </p:cNvPr>
          <p:cNvCxnSpPr/>
          <p:nvPr/>
        </p:nvCxnSpPr>
        <p:spPr>
          <a:xfrm flipV="1">
            <a:off x="-19830" y="1844824"/>
            <a:ext cx="9163830" cy="36004"/>
          </a:xfrm>
          <a:prstGeom prst="line">
            <a:avLst/>
          </a:prstGeom>
          <a:ln w="571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Rettangolo 1">
            <a:extLst>
              <a:ext uri="{FF2B5EF4-FFF2-40B4-BE49-F238E27FC236}">
                <a16:creationId xmlns:a16="http://schemas.microsoft.com/office/drawing/2014/main" id="{B39D1EF0-5B9E-E49B-619B-0F2F0DF5A258}"/>
              </a:ext>
            </a:extLst>
          </p:cNvPr>
          <p:cNvSpPr/>
          <p:nvPr/>
        </p:nvSpPr>
        <p:spPr>
          <a:xfrm>
            <a:off x="179512" y="2034462"/>
            <a:ext cx="8784976" cy="455509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it-IT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Punto 1 - Caratterizzazione delle sorgenti </a:t>
            </a:r>
          </a:p>
          <a:p>
            <a:pPr algn="ctr"/>
            <a:endParaRPr lang="it-IT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just"/>
            <a:r>
              <a:rPr lang="it-IT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Obiettivo</a:t>
            </a:r>
          </a:p>
          <a:p>
            <a:pPr algn="just"/>
            <a:r>
              <a:rPr lang="it-IT" dirty="0">
                <a:latin typeface="Times New Roman" panose="02020603050405020304" pitchFamily="18" charset="0"/>
                <a:cs typeface="Times New Roman" panose="02020603050405020304" pitchFamily="18" charset="0"/>
              </a:rPr>
              <a:t>Per ciascuna sorgente analizzare la percentuale di valori nulli e di valori unici di ciascuno attributo.</a:t>
            </a:r>
          </a:p>
          <a:p>
            <a:pPr algn="just"/>
            <a:endParaRPr lang="it-IT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just"/>
            <a:r>
              <a:rPr lang="it-IT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Implementazione</a:t>
            </a:r>
          </a:p>
          <a:p>
            <a:pPr algn="just"/>
            <a:r>
              <a:rPr lang="it-IT" dirty="0">
                <a:latin typeface="Times New Roman" panose="02020603050405020304" pitchFamily="18" charset="0"/>
                <a:cs typeface="Times New Roman" panose="02020603050405020304" pitchFamily="18" charset="0"/>
              </a:rPr>
              <a:t>E’ stata eseguita un’analisi statistica considerando l’intero dataset, andando ad eseguire il conteggio dei valori nulli e distinti tramite caricamento completo in memoria.</a:t>
            </a:r>
          </a:p>
          <a:p>
            <a:pPr algn="just"/>
            <a:endParaRPr lang="it-IT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just"/>
            <a:r>
              <a:rPr lang="it-IT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Conclusioni</a:t>
            </a:r>
          </a:p>
          <a:p>
            <a:pPr algn="just"/>
            <a:r>
              <a:rPr lang="it-IT" dirty="0">
                <a:latin typeface="Times New Roman" panose="02020603050405020304" pitchFamily="18" charset="0"/>
                <a:cs typeface="Times New Roman" panose="02020603050405020304" pitchFamily="18" charset="0"/>
              </a:rPr>
              <a:t>L'analisi ha evidenziato che attributi come </a:t>
            </a:r>
            <a:r>
              <a:rPr lang="it-IT" dirty="0">
                <a:latin typeface="Courier New" panose="02070309020205020404" pitchFamily="49" charset="0"/>
                <a:cs typeface="Courier New" panose="02070309020205020404" pitchFamily="49" charset="0"/>
              </a:rPr>
              <a:t>MANUFACTURER/MAKE_NAME </a:t>
            </a:r>
            <a:r>
              <a:rPr lang="it-IT" dirty="0">
                <a:latin typeface="Times New Roman" panose="02020603050405020304" pitchFamily="18" charset="0"/>
                <a:cs typeface="Times New Roman" panose="02020603050405020304" pitchFamily="18" charset="0"/>
              </a:rPr>
              <a:t>e </a:t>
            </a:r>
            <a:r>
              <a:rPr lang="it-IT" dirty="0">
                <a:latin typeface="Courier New" panose="02070309020205020404" pitchFamily="49" charset="0"/>
                <a:cs typeface="Courier New" panose="02070309020205020404" pitchFamily="49" charset="0"/>
              </a:rPr>
              <a:t>YEAR</a:t>
            </a:r>
            <a:r>
              <a:rPr lang="it-IT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hanno una densità informativa elevata con bassa percentuale di nulli. Al contrario, attributi descrittivi come </a:t>
            </a:r>
            <a:r>
              <a:rPr lang="it-IT" dirty="0">
                <a:latin typeface="Courier New" panose="02070309020205020404" pitchFamily="49" charset="0"/>
                <a:cs typeface="Courier New" panose="02070309020205020404" pitchFamily="49" charset="0"/>
              </a:rPr>
              <a:t>CONDITION</a:t>
            </a:r>
            <a:r>
              <a:rPr lang="it-IT" dirty="0">
                <a:latin typeface="Times New Roman" panose="02020603050405020304" pitchFamily="18" charset="0"/>
                <a:cs typeface="Times New Roman" panose="02020603050405020304" pitchFamily="18" charset="0"/>
              </a:rPr>
              <a:t> o </a:t>
            </a:r>
            <a:r>
              <a:rPr lang="it-IT" dirty="0">
                <a:latin typeface="Courier New" panose="02070309020205020404" pitchFamily="49" charset="0"/>
                <a:cs typeface="Courier New" panose="02070309020205020404" pitchFamily="49" charset="0"/>
              </a:rPr>
              <a:t>CYLINDERS</a:t>
            </a:r>
            <a:r>
              <a:rPr lang="it-IT" dirty="0">
                <a:latin typeface="Times New Roman" panose="02020603050405020304" pitchFamily="18" charset="0"/>
                <a:cs typeface="Times New Roman" panose="02020603050405020304" pitchFamily="18" charset="0"/>
              </a:rPr>
              <a:t> presentano in Craigslist un'elevata percentuale di valori mancanti [&gt;30%], suggerendo cautela nel loro utilizzo per il blocco o il confronto rigido.</a:t>
            </a:r>
          </a:p>
        </p:txBody>
      </p:sp>
    </p:spTree>
    <p:extLst>
      <p:ext uri="{BB962C8B-B14F-4D97-AF65-F5344CB8AC3E}">
        <p14:creationId xmlns:p14="http://schemas.microsoft.com/office/powerpoint/2010/main" val="332819046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Segnaposto contenuto 15">
            <a:extLst>
              <a:ext uri="{FF2B5EF4-FFF2-40B4-BE49-F238E27FC236}">
                <a16:creationId xmlns:a16="http://schemas.microsoft.com/office/drawing/2014/main" id="{163ECD4A-6BFD-E6B5-511F-D6B5B8A0A75D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532427571"/>
              </p:ext>
            </p:extLst>
          </p:nvPr>
        </p:nvGraphicFramePr>
        <p:xfrm>
          <a:off x="211962" y="2814071"/>
          <a:ext cx="4320486" cy="3657600"/>
        </p:xfrm>
        <a:graphic>
          <a:graphicData uri="http://schemas.openxmlformats.org/drawingml/2006/table">
            <a:tbl>
              <a:tblPr>
                <a:tableStyleId>{3B4B98B0-60AC-42C2-AFA5-B58CD77FA1E5}</a:tableStyleId>
              </a:tblPr>
              <a:tblGrid>
                <a:gridCol w="1440162">
                  <a:extLst>
                    <a:ext uri="{9D8B030D-6E8A-4147-A177-3AD203B41FA5}">
                      <a16:colId xmlns:a16="http://schemas.microsoft.com/office/drawing/2014/main" val="1246210049"/>
                    </a:ext>
                  </a:extLst>
                </a:gridCol>
                <a:gridCol w="1440162">
                  <a:extLst>
                    <a:ext uri="{9D8B030D-6E8A-4147-A177-3AD203B41FA5}">
                      <a16:colId xmlns:a16="http://schemas.microsoft.com/office/drawing/2014/main" val="4052531658"/>
                    </a:ext>
                  </a:extLst>
                </a:gridCol>
                <a:gridCol w="1440162">
                  <a:extLst>
                    <a:ext uri="{9D8B030D-6E8A-4147-A177-3AD203B41FA5}">
                      <a16:colId xmlns:a16="http://schemas.microsoft.com/office/drawing/2014/main" val="1878418118"/>
                    </a:ext>
                  </a:extLst>
                </a:gridCol>
              </a:tblGrid>
              <a:tr h="16387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it-IT" sz="1400" b="1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Source</a:t>
                      </a:r>
                      <a:endParaRPr lang="it-IT" sz="1400" dirty="0"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solidFill>
                      <a:schemeClr val="bg1">
                        <a:alpha val="2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it-IT" sz="1400" b="1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Null %</a:t>
                      </a:r>
                      <a:endParaRPr lang="it-IT" sz="1400"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solidFill>
                      <a:schemeClr val="bg1">
                        <a:alpha val="2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it-IT" sz="1400" b="1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Valori Unici</a:t>
                      </a:r>
                      <a:endParaRPr lang="it-IT" sz="1400" dirty="0"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solidFill>
                      <a:schemeClr val="bg1">
                        <a:alpha val="2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36240584"/>
                  </a:ext>
                </a:extLst>
              </a:tr>
              <a:tr h="16387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it-IT" sz="1400" b="1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VIN</a:t>
                      </a:r>
                      <a:endParaRPr lang="it-IT" sz="1400" dirty="0"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solidFill>
                      <a:schemeClr val="accent1">
                        <a:alpha val="2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it-IT" sz="14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37.73</a:t>
                      </a:r>
                    </a:p>
                  </a:txBody>
                  <a:tcPr anchor="ctr">
                    <a:solidFill>
                      <a:schemeClr val="accent1">
                        <a:alpha val="2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it-IT" sz="14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118264</a:t>
                      </a:r>
                    </a:p>
                  </a:txBody>
                  <a:tcPr anchor="ctr">
                    <a:solidFill>
                      <a:schemeClr val="accent1">
                        <a:alpha val="2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35151899"/>
                  </a:ext>
                </a:extLst>
              </a:tr>
              <a:tr h="16387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it-IT" sz="1400" b="1" dirty="0" err="1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manufacturer</a:t>
                      </a:r>
                      <a:endParaRPr lang="it-IT" sz="1400" dirty="0"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solidFill>
                      <a:schemeClr val="bg1">
                        <a:alpha val="2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it-IT" sz="14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4.13</a:t>
                      </a:r>
                    </a:p>
                  </a:txBody>
                  <a:tcPr anchor="ctr">
                    <a:solidFill>
                      <a:schemeClr val="bg1">
                        <a:alpha val="2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it-IT" sz="14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42</a:t>
                      </a:r>
                    </a:p>
                  </a:txBody>
                  <a:tcPr anchor="ctr">
                    <a:solidFill>
                      <a:schemeClr val="bg1">
                        <a:alpha val="2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7046635"/>
                  </a:ext>
                </a:extLst>
              </a:tr>
              <a:tr h="16387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it-IT" sz="1400" b="1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model</a:t>
                      </a:r>
                      <a:endParaRPr lang="it-IT" sz="1400" dirty="0"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solidFill>
                      <a:schemeClr val="accent1">
                        <a:alpha val="2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it-IT" sz="14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1.24</a:t>
                      </a:r>
                    </a:p>
                  </a:txBody>
                  <a:tcPr anchor="ctr">
                    <a:solidFill>
                      <a:schemeClr val="accent1">
                        <a:alpha val="2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it-IT" sz="14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28576</a:t>
                      </a:r>
                    </a:p>
                  </a:txBody>
                  <a:tcPr anchor="ctr">
                    <a:solidFill>
                      <a:schemeClr val="accent1">
                        <a:alpha val="2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22996961"/>
                  </a:ext>
                </a:extLst>
              </a:tr>
              <a:tr h="16387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it-IT" sz="1400" b="1" dirty="0" err="1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year</a:t>
                      </a:r>
                      <a:endParaRPr lang="it-IT" sz="1400" dirty="0"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solidFill>
                      <a:schemeClr val="bg1">
                        <a:alpha val="2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it-IT" sz="14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0.28</a:t>
                      </a:r>
                    </a:p>
                  </a:txBody>
                  <a:tcPr anchor="ctr">
                    <a:solidFill>
                      <a:schemeClr val="bg1">
                        <a:alpha val="2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it-IT" sz="14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114</a:t>
                      </a:r>
                    </a:p>
                  </a:txBody>
                  <a:tcPr anchor="ctr">
                    <a:solidFill>
                      <a:schemeClr val="bg1">
                        <a:alpha val="2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35510295"/>
                  </a:ext>
                </a:extLst>
              </a:tr>
              <a:tr h="16387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it-IT" sz="1400" b="1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price</a:t>
                      </a:r>
                      <a:endParaRPr lang="it-IT" sz="1400" dirty="0"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solidFill>
                      <a:schemeClr val="accent1">
                        <a:alpha val="2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it-IT" sz="14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0.00</a:t>
                      </a:r>
                    </a:p>
                  </a:txBody>
                  <a:tcPr anchor="ctr">
                    <a:solidFill>
                      <a:schemeClr val="accent1">
                        <a:alpha val="2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it-IT" sz="14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15655</a:t>
                      </a:r>
                    </a:p>
                  </a:txBody>
                  <a:tcPr anchor="ctr">
                    <a:solidFill>
                      <a:schemeClr val="accent1">
                        <a:alpha val="2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35909037"/>
                  </a:ext>
                </a:extLst>
              </a:tr>
              <a:tr h="16387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it-IT" sz="1400" b="1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odometer</a:t>
                      </a:r>
                      <a:endParaRPr lang="it-IT" sz="1400"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solidFill>
                      <a:schemeClr val="bg1">
                        <a:alpha val="2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it-IT" sz="14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1.03</a:t>
                      </a:r>
                    </a:p>
                  </a:txBody>
                  <a:tcPr anchor="ctr">
                    <a:solidFill>
                      <a:schemeClr val="bg1">
                        <a:alpha val="2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it-IT" sz="14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104870</a:t>
                      </a:r>
                    </a:p>
                  </a:txBody>
                  <a:tcPr anchor="ctr">
                    <a:solidFill>
                      <a:schemeClr val="bg1">
                        <a:alpha val="2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30351895"/>
                  </a:ext>
                </a:extLst>
              </a:tr>
              <a:tr h="16387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it-IT" sz="1400" b="1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fuel</a:t>
                      </a:r>
                      <a:endParaRPr lang="it-IT" sz="1400"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solidFill>
                      <a:schemeClr val="accent1">
                        <a:alpha val="2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it-IT" sz="14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0.71</a:t>
                      </a:r>
                    </a:p>
                  </a:txBody>
                  <a:tcPr anchor="ctr">
                    <a:solidFill>
                      <a:schemeClr val="accent1">
                        <a:alpha val="2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it-IT" sz="14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5</a:t>
                      </a:r>
                    </a:p>
                  </a:txBody>
                  <a:tcPr anchor="ctr">
                    <a:solidFill>
                      <a:schemeClr val="accent1">
                        <a:alpha val="2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44418476"/>
                  </a:ext>
                </a:extLst>
              </a:tr>
              <a:tr h="16387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it-IT" sz="1400" b="1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transmission</a:t>
                      </a:r>
                      <a:endParaRPr lang="it-IT" sz="1400"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solidFill>
                      <a:schemeClr val="bg1">
                        <a:alpha val="2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it-IT" sz="14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0.60</a:t>
                      </a:r>
                    </a:p>
                  </a:txBody>
                  <a:tcPr anchor="ctr">
                    <a:solidFill>
                      <a:schemeClr val="bg1">
                        <a:alpha val="2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it-IT" sz="14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3</a:t>
                      </a:r>
                    </a:p>
                  </a:txBody>
                  <a:tcPr anchor="ctr">
                    <a:solidFill>
                      <a:schemeClr val="bg1">
                        <a:alpha val="2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41285473"/>
                  </a:ext>
                </a:extLst>
              </a:tr>
              <a:tr h="16387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it-IT" sz="1400" b="1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state</a:t>
                      </a:r>
                      <a:endParaRPr lang="it-IT" sz="1400"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solidFill>
                      <a:schemeClr val="accent1">
                        <a:alpha val="2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it-IT" sz="14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0.00</a:t>
                      </a:r>
                    </a:p>
                  </a:txBody>
                  <a:tcPr anchor="ctr">
                    <a:solidFill>
                      <a:schemeClr val="accent1">
                        <a:alpha val="2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it-IT" sz="14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51</a:t>
                      </a:r>
                    </a:p>
                  </a:txBody>
                  <a:tcPr anchor="ctr">
                    <a:solidFill>
                      <a:schemeClr val="accent1">
                        <a:alpha val="2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48669963"/>
                  </a:ext>
                </a:extLst>
              </a:tr>
              <a:tr h="16387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it-IT" sz="1400" b="1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region</a:t>
                      </a:r>
                      <a:endParaRPr lang="it-IT" sz="1400"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solidFill>
                      <a:schemeClr val="bg1">
                        <a:alpha val="2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it-IT" sz="14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0.00</a:t>
                      </a:r>
                    </a:p>
                  </a:txBody>
                  <a:tcPr anchor="ctr">
                    <a:solidFill>
                      <a:schemeClr val="bg1">
                        <a:alpha val="2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it-IT" sz="14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404</a:t>
                      </a:r>
                    </a:p>
                  </a:txBody>
                  <a:tcPr anchor="ctr">
                    <a:solidFill>
                      <a:schemeClr val="bg1">
                        <a:alpha val="2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35128115"/>
                  </a:ext>
                </a:extLst>
              </a:tr>
              <a:tr h="16387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it-IT" sz="1400" b="1" dirty="0" err="1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description</a:t>
                      </a:r>
                      <a:endParaRPr lang="it-IT" sz="1400" dirty="0"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solidFill>
                      <a:schemeClr val="accent1">
                        <a:alpha val="2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it-IT" sz="14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0.02</a:t>
                      </a:r>
                    </a:p>
                  </a:txBody>
                  <a:tcPr anchor="ctr">
                    <a:solidFill>
                      <a:schemeClr val="accent1">
                        <a:alpha val="2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it-IT" sz="1400" dirty="0" err="1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N</a:t>
                      </a:r>
                      <a:r>
                        <a:rPr lang="it-IT" sz="14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/A (Text)</a:t>
                      </a:r>
                    </a:p>
                  </a:txBody>
                  <a:tcPr anchor="ctr">
                    <a:solidFill>
                      <a:schemeClr val="accent1">
                        <a:alpha val="2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44261375"/>
                  </a:ext>
                </a:extLst>
              </a:tr>
            </a:tbl>
          </a:graphicData>
        </a:graphic>
      </p:graphicFrame>
      <p:graphicFrame>
        <p:nvGraphicFramePr>
          <p:cNvPr id="6" name="Tabella 5">
            <a:extLst>
              <a:ext uri="{FF2B5EF4-FFF2-40B4-BE49-F238E27FC236}">
                <a16:creationId xmlns:a16="http://schemas.microsoft.com/office/drawing/2014/main" id="{31A00D57-9C9B-F495-96A8-D0178098548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5518758"/>
              </p:ext>
            </p:extLst>
          </p:nvPr>
        </p:nvGraphicFramePr>
        <p:xfrm>
          <a:off x="4860032" y="2814071"/>
          <a:ext cx="3950145" cy="3048000"/>
        </p:xfrm>
        <a:graphic>
          <a:graphicData uri="http://schemas.openxmlformats.org/drawingml/2006/table">
            <a:tbl>
              <a:tblPr>
                <a:tableStyleId>{3B4B98B0-60AC-42C2-AFA5-B58CD77FA1E5}</a:tableStyleId>
              </a:tblPr>
              <a:tblGrid>
                <a:gridCol w="1316715">
                  <a:extLst>
                    <a:ext uri="{9D8B030D-6E8A-4147-A177-3AD203B41FA5}">
                      <a16:colId xmlns:a16="http://schemas.microsoft.com/office/drawing/2014/main" val="1433020963"/>
                    </a:ext>
                  </a:extLst>
                </a:gridCol>
                <a:gridCol w="1316715">
                  <a:extLst>
                    <a:ext uri="{9D8B030D-6E8A-4147-A177-3AD203B41FA5}">
                      <a16:colId xmlns:a16="http://schemas.microsoft.com/office/drawing/2014/main" val="3895330635"/>
                    </a:ext>
                  </a:extLst>
                </a:gridCol>
                <a:gridCol w="1316715">
                  <a:extLst>
                    <a:ext uri="{9D8B030D-6E8A-4147-A177-3AD203B41FA5}">
                      <a16:colId xmlns:a16="http://schemas.microsoft.com/office/drawing/2014/main" val="838770030"/>
                    </a:ext>
                  </a:extLst>
                </a:gridCol>
              </a:tblGrid>
              <a:tr h="12601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it-IT" sz="1400" b="1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Source</a:t>
                      </a:r>
                      <a:endParaRPr lang="it-IT" sz="1400" dirty="0"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solidFill>
                      <a:schemeClr val="bg1">
                        <a:alpha val="2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it-IT" sz="1400" b="1" dirty="0" err="1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Null</a:t>
                      </a:r>
                      <a:r>
                        <a:rPr lang="it-IT" sz="1400" b="1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%</a:t>
                      </a:r>
                      <a:endParaRPr lang="it-IT" sz="1400" dirty="0"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solidFill>
                      <a:schemeClr val="bg1">
                        <a:alpha val="2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it-IT" sz="1400" b="1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Valori Unici</a:t>
                      </a:r>
                      <a:endParaRPr lang="it-IT" sz="1400" dirty="0"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solidFill>
                      <a:schemeClr val="bg1">
                        <a:alpha val="2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55150305"/>
                  </a:ext>
                </a:extLst>
              </a:tr>
              <a:tr h="12601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it-IT" sz="1400" b="1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vin</a:t>
                      </a:r>
                      <a:endParaRPr lang="it-IT" sz="1400"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solidFill>
                      <a:schemeClr val="accent1">
                        <a:alpha val="2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it-IT" sz="14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0.00</a:t>
                      </a:r>
                    </a:p>
                  </a:txBody>
                  <a:tcPr anchor="ctr">
                    <a:solidFill>
                      <a:schemeClr val="accent1">
                        <a:alpha val="2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it-IT" sz="14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3000000</a:t>
                      </a:r>
                    </a:p>
                  </a:txBody>
                  <a:tcPr anchor="ctr">
                    <a:solidFill>
                      <a:schemeClr val="accent1">
                        <a:alpha val="2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50899100"/>
                  </a:ext>
                </a:extLst>
              </a:tr>
              <a:tr h="12601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it-IT" sz="1400" b="1" dirty="0" err="1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make_name</a:t>
                      </a:r>
                      <a:endParaRPr lang="it-IT" sz="1400" dirty="0"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solidFill>
                      <a:schemeClr val="bg1">
                        <a:alpha val="2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it-IT" sz="14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0.00</a:t>
                      </a:r>
                    </a:p>
                  </a:txBody>
                  <a:tcPr anchor="ctr">
                    <a:solidFill>
                      <a:schemeClr val="bg1">
                        <a:alpha val="2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it-IT" sz="14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100</a:t>
                      </a:r>
                    </a:p>
                  </a:txBody>
                  <a:tcPr anchor="ctr">
                    <a:solidFill>
                      <a:schemeClr val="bg1">
                        <a:alpha val="2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42420079"/>
                  </a:ext>
                </a:extLst>
              </a:tr>
              <a:tr h="12601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it-IT" sz="1400" b="1" dirty="0" err="1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model_name</a:t>
                      </a:r>
                      <a:endParaRPr lang="it-IT" sz="1400" dirty="0"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solidFill>
                      <a:schemeClr val="accent1">
                        <a:alpha val="2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it-IT" sz="14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0.00</a:t>
                      </a:r>
                    </a:p>
                  </a:txBody>
                  <a:tcPr anchor="ctr">
                    <a:solidFill>
                      <a:schemeClr val="accent1">
                        <a:alpha val="2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it-IT" sz="14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1428</a:t>
                      </a:r>
                    </a:p>
                  </a:txBody>
                  <a:tcPr anchor="ctr">
                    <a:solidFill>
                      <a:schemeClr val="accent1">
                        <a:alpha val="2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39670332"/>
                  </a:ext>
                </a:extLst>
              </a:tr>
              <a:tr h="12601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it-IT" sz="1400" b="1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year</a:t>
                      </a:r>
                      <a:endParaRPr lang="it-IT" sz="1400"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solidFill>
                      <a:schemeClr val="bg1">
                        <a:alpha val="2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it-IT" sz="14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0.00</a:t>
                      </a:r>
                    </a:p>
                  </a:txBody>
                  <a:tcPr anchor="ctr">
                    <a:solidFill>
                      <a:schemeClr val="bg1">
                        <a:alpha val="2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it-IT" sz="14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98</a:t>
                      </a:r>
                    </a:p>
                  </a:txBody>
                  <a:tcPr anchor="ctr">
                    <a:solidFill>
                      <a:schemeClr val="bg1">
                        <a:alpha val="2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22196917"/>
                  </a:ext>
                </a:extLst>
              </a:tr>
              <a:tr h="12601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it-IT" sz="1400" b="1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price</a:t>
                      </a:r>
                      <a:endParaRPr lang="it-IT" sz="1400"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solidFill>
                      <a:schemeClr val="accent1">
                        <a:alpha val="2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it-IT" sz="14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0.00</a:t>
                      </a:r>
                    </a:p>
                  </a:txBody>
                  <a:tcPr anchor="ctr">
                    <a:solidFill>
                      <a:schemeClr val="accent1">
                        <a:alpha val="2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it-IT" sz="14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88861</a:t>
                      </a:r>
                    </a:p>
                  </a:txBody>
                  <a:tcPr anchor="ctr">
                    <a:solidFill>
                      <a:schemeClr val="accent1">
                        <a:alpha val="2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77385716"/>
                  </a:ext>
                </a:extLst>
              </a:tr>
              <a:tr h="12601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it-IT" sz="1400" b="1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mileage</a:t>
                      </a:r>
                      <a:endParaRPr lang="it-IT" sz="1400"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solidFill>
                      <a:schemeClr val="bg1">
                        <a:alpha val="2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it-IT" sz="14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4.81</a:t>
                      </a:r>
                    </a:p>
                  </a:txBody>
                  <a:tcPr anchor="ctr">
                    <a:solidFill>
                      <a:schemeClr val="bg1">
                        <a:alpha val="2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it-IT" sz="14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197577</a:t>
                      </a:r>
                    </a:p>
                  </a:txBody>
                  <a:tcPr anchor="ctr">
                    <a:solidFill>
                      <a:schemeClr val="bg1">
                        <a:alpha val="2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29402034"/>
                  </a:ext>
                </a:extLst>
              </a:tr>
              <a:tr h="12601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it-IT" sz="1400" b="1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fuel_type</a:t>
                      </a:r>
                      <a:endParaRPr lang="it-IT" sz="1400"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solidFill>
                      <a:schemeClr val="accent1">
                        <a:alpha val="2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it-IT" sz="14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2.76</a:t>
                      </a:r>
                    </a:p>
                  </a:txBody>
                  <a:tcPr anchor="ctr">
                    <a:solidFill>
                      <a:schemeClr val="accent1">
                        <a:alpha val="2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it-IT" sz="14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8</a:t>
                      </a:r>
                    </a:p>
                  </a:txBody>
                  <a:tcPr anchor="ctr">
                    <a:solidFill>
                      <a:schemeClr val="accent1">
                        <a:alpha val="2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86254253"/>
                  </a:ext>
                </a:extLst>
              </a:tr>
              <a:tr h="12601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it-IT" sz="1400" b="1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transmission</a:t>
                      </a:r>
                      <a:endParaRPr lang="it-IT" sz="1400"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solidFill>
                      <a:schemeClr val="bg1">
                        <a:alpha val="2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it-IT" sz="14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2.14</a:t>
                      </a:r>
                    </a:p>
                  </a:txBody>
                  <a:tcPr anchor="ctr">
                    <a:solidFill>
                      <a:schemeClr val="bg1">
                        <a:alpha val="2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it-IT" sz="14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4</a:t>
                      </a:r>
                    </a:p>
                  </a:txBody>
                  <a:tcPr anchor="ctr">
                    <a:solidFill>
                      <a:schemeClr val="bg1">
                        <a:alpha val="2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83127378"/>
                  </a:ext>
                </a:extLst>
              </a:tr>
              <a:tr h="12601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it-IT" sz="1400" b="1" dirty="0" err="1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description</a:t>
                      </a:r>
                      <a:endParaRPr lang="it-IT" sz="1400" dirty="0"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solidFill>
                      <a:schemeClr val="accent1">
                        <a:alpha val="2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it-IT" sz="14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2.60</a:t>
                      </a:r>
                    </a:p>
                  </a:txBody>
                  <a:tcPr anchor="ctr">
                    <a:solidFill>
                      <a:schemeClr val="accent1">
                        <a:alpha val="2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it-IT" sz="1400" dirty="0" err="1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N</a:t>
                      </a:r>
                      <a:r>
                        <a:rPr lang="it-IT" sz="14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/A (Text)</a:t>
                      </a:r>
                    </a:p>
                  </a:txBody>
                  <a:tcPr anchor="ctr">
                    <a:solidFill>
                      <a:schemeClr val="accent1">
                        <a:alpha val="2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00987223"/>
                  </a:ext>
                </a:extLst>
              </a:tr>
            </a:tbl>
          </a:graphicData>
        </a:graphic>
      </p:graphicFrame>
      <p:sp>
        <p:nvSpPr>
          <p:cNvPr id="7" name="CasellaDiTesto 6">
            <a:extLst>
              <a:ext uri="{FF2B5EF4-FFF2-40B4-BE49-F238E27FC236}">
                <a16:creationId xmlns:a16="http://schemas.microsoft.com/office/drawing/2014/main" id="{39E69201-089F-CFF2-948C-584AAAE71A30}"/>
              </a:ext>
            </a:extLst>
          </p:cNvPr>
          <p:cNvSpPr txBox="1">
            <a:spLocks/>
          </p:cNvSpPr>
          <p:nvPr/>
        </p:nvSpPr>
        <p:spPr>
          <a:xfrm>
            <a:off x="845375" y="6529860"/>
            <a:ext cx="2464087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11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Sorgente: Craigslist Cars &amp; Trucks Data</a:t>
            </a:r>
          </a:p>
        </p:txBody>
      </p:sp>
      <p:sp>
        <p:nvSpPr>
          <p:cNvPr id="8" name="CasellaDiTesto 7">
            <a:extLst>
              <a:ext uri="{FF2B5EF4-FFF2-40B4-BE49-F238E27FC236}">
                <a16:creationId xmlns:a16="http://schemas.microsoft.com/office/drawing/2014/main" id="{22D9A1CE-27EB-AA22-4321-8A168A103DE9}"/>
              </a:ext>
            </a:extLst>
          </p:cNvPr>
          <p:cNvSpPr txBox="1">
            <a:spLocks/>
          </p:cNvSpPr>
          <p:nvPr/>
        </p:nvSpPr>
        <p:spPr>
          <a:xfrm>
            <a:off x="5957943" y="6529860"/>
            <a:ext cx="2214457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11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Sorgente: US </a:t>
            </a:r>
            <a:r>
              <a:rPr lang="it-IT" sz="11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Used</a:t>
            </a:r>
            <a:r>
              <a:rPr lang="it-IT" sz="11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Cars Dataset</a:t>
            </a:r>
          </a:p>
        </p:txBody>
      </p:sp>
      <p:sp>
        <p:nvSpPr>
          <p:cNvPr id="9" name="Titolo 1">
            <a:extLst>
              <a:ext uri="{FF2B5EF4-FFF2-40B4-BE49-F238E27FC236}">
                <a16:creationId xmlns:a16="http://schemas.microsoft.com/office/drawing/2014/main" id="{21D67330-5433-6F35-CB4B-77978D588A9D}"/>
              </a:ext>
            </a:extLst>
          </p:cNvPr>
          <p:cNvSpPr txBox="1">
            <a:spLocks/>
          </p:cNvSpPr>
          <p:nvPr/>
        </p:nvSpPr>
        <p:spPr>
          <a:xfrm>
            <a:off x="0" y="0"/>
            <a:ext cx="9144000" cy="1417638"/>
          </a:xfrm>
          <a:prstGeom prst="rect">
            <a:avLst/>
          </a:prstGeom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vert="horz" lIns="91440" tIns="45720" rIns="91440" bIns="45720" rtlCol="0" anchor="ctr">
            <a:normAutofit fontScale="97500"/>
          </a:bodyPr>
          <a:lstStyle>
            <a:lvl1pPr algn="ctr" defTabSz="9144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it-IT" sz="1800" dirty="0" err="1"/>
              <a:t>HomeWork</a:t>
            </a:r>
            <a:r>
              <a:rPr lang="it-IT" sz="1800" dirty="0"/>
              <a:t> 6</a:t>
            </a:r>
            <a:br>
              <a:rPr lang="it-IT" sz="1800" dirty="0"/>
            </a:br>
            <a:r>
              <a:rPr lang="it-IT" sz="1800" dirty="0"/>
              <a:t>Ingegneria dei Dati</a:t>
            </a:r>
            <a:endParaRPr lang="it-IT" sz="3000" dirty="0"/>
          </a:p>
        </p:txBody>
      </p:sp>
      <p:cxnSp>
        <p:nvCxnSpPr>
          <p:cNvPr id="10" name="Connettore 1 5">
            <a:extLst>
              <a:ext uri="{FF2B5EF4-FFF2-40B4-BE49-F238E27FC236}">
                <a16:creationId xmlns:a16="http://schemas.microsoft.com/office/drawing/2014/main" id="{23DE79AA-0B94-CB9A-0E0D-B8C191919964}"/>
              </a:ext>
            </a:extLst>
          </p:cNvPr>
          <p:cNvCxnSpPr/>
          <p:nvPr/>
        </p:nvCxnSpPr>
        <p:spPr>
          <a:xfrm flipV="1">
            <a:off x="-12968" y="1484784"/>
            <a:ext cx="9163830" cy="36004"/>
          </a:xfrm>
          <a:prstGeom prst="line">
            <a:avLst/>
          </a:prstGeom>
          <a:ln w="571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Connettore 1 6">
            <a:extLst>
              <a:ext uri="{FF2B5EF4-FFF2-40B4-BE49-F238E27FC236}">
                <a16:creationId xmlns:a16="http://schemas.microsoft.com/office/drawing/2014/main" id="{A6114B9B-1FFB-5D16-4E00-06C216520818}"/>
              </a:ext>
            </a:extLst>
          </p:cNvPr>
          <p:cNvCxnSpPr/>
          <p:nvPr/>
        </p:nvCxnSpPr>
        <p:spPr>
          <a:xfrm flipV="1">
            <a:off x="-19830" y="1655186"/>
            <a:ext cx="9163830" cy="36004"/>
          </a:xfrm>
          <a:prstGeom prst="line">
            <a:avLst/>
          </a:prstGeom>
          <a:ln w="571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Connettore 1 7">
            <a:extLst>
              <a:ext uri="{FF2B5EF4-FFF2-40B4-BE49-F238E27FC236}">
                <a16:creationId xmlns:a16="http://schemas.microsoft.com/office/drawing/2014/main" id="{E6EA4EF8-7801-2872-DE94-5CDB89E883C9}"/>
              </a:ext>
            </a:extLst>
          </p:cNvPr>
          <p:cNvCxnSpPr/>
          <p:nvPr/>
        </p:nvCxnSpPr>
        <p:spPr>
          <a:xfrm flipV="1">
            <a:off x="-19830" y="1844824"/>
            <a:ext cx="9163830" cy="36004"/>
          </a:xfrm>
          <a:prstGeom prst="line">
            <a:avLst/>
          </a:prstGeom>
          <a:ln w="571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CasellaDiTesto 12">
            <a:extLst>
              <a:ext uri="{FF2B5EF4-FFF2-40B4-BE49-F238E27FC236}">
                <a16:creationId xmlns:a16="http://schemas.microsoft.com/office/drawing/2014/main" id="{DCA0744D-2549-2273-BB9C-730AF4AB04B8}"/>
              </a:ext>
            </a:extLst>
          </p:cNvPr>
          <p:cNvSpPr txBox="1"/>
          <p:nvPr/>
        </p:nvSpPr>
        <p:spPr>
          <a:xfrm>
            <a:off x="95060" y="2109551"/>
            <a:ext cx="894143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>
                <a:latin typeface="Times New Roman" panose="02020603050405020304" pitchFamily="18" charset="0"/>
                <a:cs typeface="Times New Roman" panose="02020603050405020304" pitchFamily="18" charset="0"/>
              </a:rPr>
              <a:t>Poiché il numero di attributi per ciascuno dataset è considerevole, riportiamo esclusivamente le statistiche degli attributi utilizzati nelle fasi successive per lo </a:t>
            </a:r>
            <a:r>
              <a:rPr lang="it-IT" u="sng" dirty="0">
                <a:latin typeface="Times New Roman" panose="02020603050405020304" pitchFamily="18" charset="0"/>
                <a:cs typeface="Times New Roman" panose="02020603050405020304" pitchFamily="18" charset="0"/>
              </a:rPr>
              <a:t>schema mediato</a:t>
            </a:r>
            <a:r>
              <a:rPr lang="it-IT" dirty="0">
                <a:latin typeface="Times New Roman" panose="02020603050405020304" pitchFamily="18" charset="0"/>
                <a:cs typeface="Times New Roman" panose="02020603050405020304" pitchFamily="18" charset="0"/>
              </a:rPr>
              <a:t>.  </a:t>
            </a:r>
          </a:p>
        </p:txBody>
      </p:sp>
      <p:pic>
        <p:nvPicPr>
          <p:cNvPr id="14" name="Immagine 13">
            <a:extLst>
              <a:ext uri="{FF2B5EF4-FFF2-40B4-BE49-F238E27FC236}">
                <a16:creationId xmlns:a16="http://schemas.microsoft.com/office/drawing/2014/main" id="{3B1C4FF6-0AE4-8712-7F4B-FF5E4408C661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9512" y="188640"/>
            <a:ext cx="1645469" cy="1031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8003079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0259838-D724-59D5-4C9B-EB57925DFA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olo 1">
            <a:extLst>
              <a:ext uri="{FF2B5EF4-FFF2-40B4-BE49-F238E27FC236}">
                <a16:creationId xmlns:a16="http://schemas.microsoft.com/office/drawing/2014/main" id="{F1DC847E-F568-B55A-E40D-B2985B2A679A}"/>
              </a:ext>
            </a:extLst>
          </p:cNvPr>
          <p:cNvSpPr txBox="1">
            <a:spLocks/>
          </p:cNvSpPr>
          <p:nvPr/>
        </p:nvSpPr>
        <p:spPr>
          <a:xfrm>
            <a:off x="0" y="0"/>
            <a:ext cx="9144000" cy="1417638"/>
          </a:xfrm>
          <a:prstGeom prst="rect">
            <a:avLst/>
          </a:prstGeom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vert="horz" lIns="91440" tIns="45720" rIns="91440" bIns="45720" rtlCol="0" anchor="ctr">
            <a:normAutofit fontScale="97500"/>
          </a:bodyPr>
          <a:lstStyle>
            <a:lvl1pPr algn="ctr" defTabSz="9144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it-IT" sz="1800" dirty="0" err="1"/>
              <a:t>HomeWork</a:t>
            </a:r>
            <a:r>
              <a:rPr lang="it-IT" sz="1800" dirty="0"/>
              <a:t> 6</a:t>
            </a:r>
            <a:br>
              <a:rPr lang="it-IT" sz="1800" dirty="0"/>
            </a:br>
            <a:r>
              <a:rPr lang="it-IT" sz="1800" dirty="0"/>
              <a:t>Ingegneria dei Dati</a:t>
            </a:r>
            <a:endParaRPr lang="it-IT" sz="3000" dirty="0"/>
          </a:p>
        </p:txBody>
      </p:sp>
      <p:pic>
        <p:nvPicPr>
          <p:cNvPr id="5" name="Immagine 4">
            <a:extLst>
              <a:ext uri="{FF2B5EF4-FFF2-40B4-BE49-F238E27FC236}">
                <a16:creationId xmlns:a16="http://schemas.microsoft.com/office/drawing/2014/main" id="{67C7B7E3-E6CE-36FD-85EA-3D9ADC53E9F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9512" y="188640"/>
            <a:ext cx="1645469" cy="1031045"/>
          </a:xfrm>
          <a:prstGeom prst="rect">
            <a:avLst/>
          </a:prstGeom>
        </p:spPr>
      </p:pic>
      <p:cxnSp>
        <p:nvCxnSpPr>
          <p:cNvPr id="6" name="Connettore 1 5">
            <a:extLst>
              <a:ext uri="{FF2B5EF4-FFF2-40B4-BE49-F238E27FC236}">
                <a16:creationId xmlns:a16="http://schemas.microsoft.com/office/drawing/2014/main" id="{FEF6990A-FD55-6302-9F42-A323774AEB79}"/>
              </a:ext>
            </a:extLst>
          </p:cNvPr>
          <p:cNvCxnSpPr/>
          <p:nvPr/>
        </p:nvCxnSpPr>
        <p:spPr>
          <a:xfrm flipV="1">
            <a:off x="-12968" y="1484784"/>
            <a:ext cx="9163830" cy="36004"/>
          </a:xfrm>
          <a:prstGeom prst="line">
            <a:avLst/>
          </a:prstGeom>
          <a:ln w="571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Connettore 1 6">
            <a:extLst>
              <a:ext uri="{FF2B5EF4-FFF2-40B4-BE49-F238E27FC236}">
                <a16:creationId xmlns:a16="http://schemas.microsoft.com/office/drawing/2014/main" id="{73B9D425-1015-BF3E-3B49-AC1989B1D35C}"/>
              </a:ext>
            </a:extLst>
          </p:cNvPr>
          <p:cNvCxnSpPr/>
          <p:nvPr/>
        </p:nvCxnSpPr>
        <p:spPr>
          <a:xfrm flipV="1">
            <a:off x="-19830" y="1655186"/>
            <a:ext cx="9163830" cy="36004"/>
          </a:xfrm>
          <a:prstGeom prst="line">
            <a:avLst/>
          </a:prstGeom>
          <a:ln w="571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Connettore 1 7">
            <a:extLst>
              <a:ext uri="{FF2B5EF4-FFF2-40B4-BE49-F238E27FC236}">
                <a16:creationId xmlns:a16="http://schemas.microsoft.com/office/drawing/2014/main" id="{1F64BD97-1D6B-1D76-78EB-4133103E1E32}"/>
              </a:ext>
            </a:extLst>
          </p:cNvPr>
          <p:cNvCxnSpPr/>
          <p:nvPr/>
        </p:nvCxnSpPr>
        <p:spPr>
          <a:xfrm flipV="1">
            <a:off x="-19830" y="1844824"/>
            <a:ext cx="9163830" cy="36004"/>
          </a:xfrm>
          <a:prstGeom prst="line">
            <a:avLst/>
          </a:prstGeom>
          <a:ln w="571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Rettangolo 1">
            <a:extLst>
              <a:ext uri="{FF2B5EF4-FFF2-40B4-BE49-F238E27FC236}">
                <a16:creationId xmlns:a16="http://schemas.microsoft.com/office/drawing/2014/main" id="{817F2EC4-CF03-F3EC-CA31-AD545C8EF871}"/>
              </a:ext>
            </a:extLst>
          </p:cNvPr>
          <p:cNvSpPr/>
          <p:nvPr/>
        </p:nvSpPr>
        <p:spPr>
          <a:xfrm>
            <a:off x="179512" y="2018588"/>
            <a:ext cx="8784976" cy="461664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it-IT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Punto 2 - </a:t>
            </a:r>
            <a:r>
              <a:rPr lang="it-IT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Definizione dello Schema Mediato</a:t>
            </a:r>
          </a:p>
          <a:p>
            <a:pPr algn="ctr"/>
            <a:endParaRPr lang="it-IT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it-IT" dirty="0">
                <a:latin typeface="Times New Roman" panose="02020603050405020304" pitchFamily="18" charset="0"/>
                <a:cs typeface="Times New Roman" panose="02020603050405020304" pitchFamily="18" charset="0"/>
              </a:rPr>
              <a:t>E’ stato definito uno schema logico comune:</a:t>
            </a:r>
          </a:p>
          <a:p>
            <a:endParaRPr lang="it-IT" sz="1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it-IT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MEDIATED_SCHEMA = ["vin", "make", "model", "</a:t>
            </a:r>
            <a:r>
              <a:rPr lang="it-IT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year</a:t>
            </a:r>
            <a:r>
              <a:rPr lang="it-IT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", "price", "</a:t>
            </a:r>
            <a:r>
              <a:rPr lang="it-IT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mileage</a:t>
            </a:r>
            <a:r>
              <a:rPr lang="it-IT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", "</a:t>
            </a:r>
            <a:r>
              <a:rPr lang="it-IT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fuel</a:t>
            </a:r>
            <a:r>
              <a:rPr lang="it-IT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", "transmission", "</a:t>
            </a:r>
            <a:r>
              <a:rPr lang="it-IT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description</a:t>
            </a:r>
            <a:r>
              <a:rPr lang="it-IT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", "state", "region"]</a:t>
            </a:r>
          </a:p>
          <a:p>
            <a:endParaRPr lang="it-IT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it-IT" dirty="0">
                <a:latin typeface="Times New Roman" panose="02020603050405020304" pitchFamily="18" charset="0"/>
                <a:cs typeface="Times New Roman" panose="02020603050405020304" pitchFamily="18" charset="0"/>
              </a:rPr>
              <a:t>Mentre il software farebbe </a:t>
            </a:r>
            <a:r>
              <a:rPr lang="it-IT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Automatic</a:t>
            </a:r>
            <a:r>
              <a:rPr lang="it-IT" dirty="0">
                <a:latin typeface="Times New Roman" panose="02020603050405020304" pitchFamily="18" charset="0"/>
                <a:cs typeface="Times New Roman" panose="02020603050405020304" pitchFamily="18" charset="0"/>
              </a:rPr>
              <a:t> Schema Matching, l'essere umano esegue</a:t>
            </a:r>
          </a:p>
          <a:p>
            <a:r>
              <a:rPr lang="it-IT" dirty="0">
                <a:latin typeface="Times New Roman" panose="02020603050405020304" pitchFamily="18" charset="0"/>
                <a:cs typeface="Times New Roman" panose="02020603050405020304" pitchFamily="18" charset="0"/>
              </a:rPr>
              <a:t>un matching manuale. Questo processo si divide in due approcci teorici a</a:t>
            </a:r>
          </a:p>
          <a:p>
            <a:r>
              <a:rPr lang="it-IT" dirty="0">
                <a:latin typeface="Times New Roman" panose="02020603050405020304" pitchFamily="18" charset="0"/>
                <a:cs typeface="Times New Roman" panose="02020603050405020304" pitchFamily="18" charset="0"/>
              </a:rPr>
              <a:t>seconda di come viene costruito lo schema: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Bottom-up: </a:t>
            </a:r>
            <a:r>
              <a:rPr lang="it-IT" dirty="0">
                <a:latin typeface="Times New Roman" panose="02020603050405020304" pitchFamily="18" charset="0"/>
                <a:cs typeface="Times New Roman" panose="02020603050405020304" pitchFamily="18" charset="0"/>
              </a:rPr>
              <a:t>Parti dalle sorgenti e costruisci lo schema mediato che le comprenda tutte.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Top-down: </a:t>
            </a:r>
            <a:r>
              <a:rPr lang="it-IT" dirty="0">
                <a:latin typeface="Times New Roman" panose="02020603050405020304" pitchFamily="18" charset="0"/>
                <a:cs typeface="Times New Roman" panose="02020603050405020304" pitchFamily="18" charset="0"/>
              </a:rPr>
              <a:t>Definisci prima lo schema ideale (mediato) e poi cerchi di capire come "incastrare" le sorgenti esistenti al suo interno.</a:t>
            </a:r>
          </a:p>
          <a:p>
            <a:endParaRPr lang="it-IT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it-IT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Nel</a:t>
            </a:r>
            <a:r>
              <a:rPr lang="it-IT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it-IT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nostro caso </a:t>
            </a:r>
            <a:r>
              <a:rPr lang="it-IT" dirty="0">
                <a:latin typeface="Times New Roman" panose="02020603050405020304" pitchFamily="18" charset="0"/>
                <a:cs typeface="Times New Roman" panose="02020603050405020304" pitchFamily="18" charset="0"/>
              </a:rPr>
              <a:t>la strategia adottata è stata </a:t>
            </a:r>
            <a:r>
              <a:rPr lang="it-IT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Top-down</a:t>
            </a:r>
            <a:r>
              <a:rPr lang="it-IT" dirty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04317951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CCC564C-D337-894C-A4F0-454958DA16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olo 1">
            <a:extLst>
              <a:ext uri="{FF2B5EF4-FFF2-40B4-BE49-F238E27FC236}">
                <a16:creationId xmlns:a16="http://schemas.microsoft.com/office/drawing/2014/main" id="{F2EB2338-8C72-1144-FA14-9E5141C12F43}"/>
              </a:ext>
            </a:extLst>
          </p:cNvPr>
          <p:cNvSpPr txBox="1">
            <a:spLocks/>
          </p:cNvSpPr>
          <p:nvPr/>
        </p:nvSpPr>
        <p:spPr>
          <a:xfrm>
            <a:off x="-3053" y="-9671"/>
            <a:ext cx="9144000" cy="1417638"/>
          </a:xfrm>
          <a:prstGeom prst="rect">
            <a:avLst/>
          </a:prstGeom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vert="horz" lIns="91440" tIns="45720" rIns="91440" bIns="45720" rtlCol="0" anchor="ctr">
            <a:normAutofit fontScale="97500"/>
          </a:bodyPr>
          <a:lstStyle>
            <a:lvl1pPr algn="ctr" defTabSz="9144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it-IT" sz="1800" dirty="0" err="1"/>
              <a:t>HomeWork</a:t>
            </a:r>
            <a:r>
              <a:rPr lang="it-IT" sz="1800" dirty="0"/>
              <a:t> 6</a:t>
            </a:r>
            <a:br>
              <a:rPr lang="it-IT" sz="1800" dirty="0"/>
            </a:br>
            <a:r>
              <a:rPr lang="it-IT" sz="1800" dirty="0"/>
              <a:t>Ingegneria dei Dati</a:t>
            </a:r>
            <a:endParaRPr lang="it-IT" sz="3000" dirty="0"/>
          </a:p>
        </p:txBody>
      </p:sp>
      <p:pic>
        <p:nvPicPr>
          <p:cNvPr id="5" name="Immagine 4">
            <a:extLst>
              <a:ext uri="{FF2B5EF4-FFF2-40B4-BE49-F238E27FC236}">
                <a16:creationId xmlns:a16="http://schemas.microsoft.com/office/drawing/2014/main" id="{B5D0F8F8-23C0-654A-250C-B119B7328C86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9512" y="188640"/>
            <a:ext cx="1645469" cy="1031045"/>
          </a:xfrm>
          <a:prstGeom prst="rect">
            <a:avLst/>
          </a:prstGeom>
        </p:spPr>
      </p:pic>
      <p:cxnSp>
        <p:nvCxnSpPr>
          <p:cNvPr id="6" name="Connettore 1 5">
            <a:extLst>
              <a:ext uri="{FF2B5EF4-FFF2-40B4-BE49-F238E27FC236}">
                <a16:creationId xmlns:a16="http://schemas.microsoft.com/office/drawing/2014/main" id="{2F477E37-2898-CB59-3A91-6CAA4A71D456}"/>
              </a:ext>
            </a:extLst>
          </p:cNvPr>
          <p:cNvCxnSpPr/>
          <p:nvPr/>
        </p:nvCxnSpPr>
        <p:spPr>
          <a:xfrm flipV="1">
            <a:off x="-12968" y="1484784"/>
            <a:ext cx="9163830" cy="36004"/>
          </a:xfrm>
          <a:prstGeom prst="line">
            <a:avLst/>
          </a:prstGeom>
          <a:ln w="571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Connettore 1 6">
            <a:extLst>
              <a:ext uri="{FF2B5EF4-FFF2-40B4-BE49-F238E27FC236}">
                <a16:creationId xmlns:a16="http://schemas.microsoft.com/office/drawing/2014/main" id="{53679BB9-C78E-BEE5-C77F-07747BC401DA}"/>
              </a:ext>
            </a:extLst>
          </p:cNvPr>
          <p:cNvCxnSpPr/>
          <p:nvPr/>
        </p:nvCxnSpPr>
        <p:spPr>
          <a:xfrm flipV="1">
            <a:off x="-19830" y="1655186"/>
            <a:ext cx="9163830" cy="36004"/>
          </a:xfrm>
          <a:prstGeom prst="line">
            <a:avLst/>
          </a:prstGeom>
          <a:ln w="571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Connettore 1 7">
            <a:extLst>
              <a:ext uri="{FF2B5EF4-FFF2-40B4-BE49-F238E27FC236}">
                <a16:creationId xmlns:a16="http://schemas.microsoft.com/office/drawing/2014/main" id="{A02BCD97-DE74-8D3D-6B14-294B847FF678}"/>
              </a:ext>
            </a:extLst>
          </p:cNvPr>
          <p:cNvCxnSpPr/>
          <p:nvPr/>
        </p:nvCxnSpPr>
        <p:spPr>
          <a:xfrm flipV="1">
            <a:off x="-19830" y="1844824"/>
            <a:ext cx="9163830" cy="36004"/>
          </a:xfrm>
          <a:prstGeom prst="line">
            <a:avLst/>
          </a:prstGeom>
          <a:ln w="571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Rettangolo 1">
            <a:extLst>
              <a:ext uri="{FF2B5EF4-FFF2-40B4-BE49-F238E27FC236}">
                <a16:creationId xmlns:a16="http://schemas.microsoft.com/office/drawing/2014/main" id="{C74BABFF-E3AD-81B1-5DBD-779190D8CDFA}"/>
              </a:ext>
            </a:extLst>
          </p:cNvPr>
          <p:cNvSpPr/>
          <p:nvPr/>
        </p:nvSpPr>
        <p:spPr>
          <a:xfrm>
            <a:off x="179512" y="1880828"/>
            <a:ext cx="8509124" cy="98488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it-IT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Punto 3 - Allineamento delle sorgenti </a:t>
            </a:r>
          </a:p>
          <a:p>
            <a:pPr algn="ctr"/>
            <a:endParaRPr lang="it-IT" sz="20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endParaRPr lang="it-IT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aphicFrame>
        <p:nvGraphicFramePr>
          <p:cNvPr id="9" name="Tabella 8">
            <a:extLst>
              <a:ext uri="{FF2B5EF4-FFF2-40B4-BE49-F238E27FC236}">
                <a16:creationId xmlns:a16="http://schemas.microsoft.com/office/drawing/2014/main" id="{B472E7EE-2696-2327-3A7B-0B7C3B0D07C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98970169"/>
              </p:ext>
            </p:extLst>
          </p:nvPr>
        </p:nvGraphicFramePr>
        <p:xfrm>
          <a:off x="179512" y="2408112"/>
          <a:ext cx="4548684" cy="4261248"/>
        </p:xfrm>
        <a:graphic>
          <a:graphicData uri="http://schemas.openxmlformats.org/drawingml/2006/table">
            <a:tbl>
              <a:tblPr firstRow="1" bandRow="1">
                <a:tableStyleId>{3B4B98B0-60AC-42C2-AFA5-B58CD77FA1E5}</a:tableStyleId>
              </a:tblPr>
              <a:tblGrid>
                <a:gridCol w="1516228">
                  <a:extLst>
                    <a:ext uri="{9D8B030D-6E8A-4147-A177-3AD203B41FA5}">
                      <a16:colId xmlns:a16="http://schemas.microsoft.com/office/drawing/2014/main" val="279284539"/>
                    </a:ext>
                  </a:extLst>
                </a:gridCol>
                <a:gridCol w="1516228">
                  <a:extLst>
                    <a:ext uri="{9D8B030D-6E8A-4147-A177-3AD203B41FA5}">
                      <a16:colId xmlns:a16="http://schemas.microsoft.com/office/drawing/2014/main" val="2851994808"/>
                    </a:ext>
                  </a:extLst>
                </a:gridCol>
                <a:gridCol w="1516228">
                  <a:extLst>
                    <a:ext uri="{9D8B030D-6E8A-4147-A177-3AD203B41FA5}">
                      <a16:colId xmlns:a16="http://schemas.microsoft.com/office/drawing/2014/main" val="3943259735"/>
                    </a:ext>
                  </a:extLst>
                </a:gridCol>
              </a:tblGrid>
              <a:tr h="355104">
                <a:tc>
                  <a:txBody>
                    <a:bodyPr/>
                    <a:lstStyle/>
                    <a:p>
                      <a:r>
                        <a:rPr lang="it-IT" sz="1600" dirty="0"/>
                        <a:t>Craigslist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sz="1600" dirty="0" err="1"/>
                        <a:t>UsedCars</a:t>
                      </a:r>
                      <a:endParaRPr lang="it-IT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sz="1600" dirty="0"/>
                        <a:t>Mediato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36256290"/>
                  </a:ext>
                </a:extLst>
              </a:tr>
              <a:tr h="355104">
                <a:tc>
                  <a:txBody>
                    <a:bodyPr/>
                    <a:lstStyle/>
                    <a:p>
                      <a:r>
                        <a:rPr lang="it-IT" sz="1600" dirty="0"/>
                        <a:t>vin</a:t>
                      </a:r>
                      <a:endParaRPr lang="it-IT" sz="16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>
                    <a:solidFill>
                      <a:schemeClr val="accent6">
                        <a:alpha val="2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it-IT" sz="1600" dirty="0"/>
                        <a:t>vin</a:t>
                      </a:r>
                      <a:endParaRPr lang="it-IT" sz="16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>
                    <a:solidFill>
                      <a:schemeClr val="accent6">
                        <a:alpha val="2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it-IT" sz="1600" b="1" dirty="0"/>
                        <a:t>vin</a:t>
                      </a:r>
                      <a:endParaRPr lang="it-IT" sz="1600" b="1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>
                    <a:solidFill>
                      <a:schemeClr val="accent6">
                        <a:alpha val="2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91281454"/>
                  </a:ext>
                </a:extLst>
              </a:tr>
              <a:tr h="355104">
                <a:tc>
                  <a:txBody>
                    <a:bodyPr/>
                    <a:lstStyle/>
                    <a:p>
                      <a:r>
                        <a:rPr lang="it-IT" sz="1600" dirty="0" err="1"/>
                        <a:t>manufacturer</a:t>
                      </a:r>
                      <a:endParaRPr lang="it-IT" sz="16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>
                    <a:solidFill>
                      <a:schemeClr val="accent1">
                        <a:alpha val="2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it-IT" sz="1600" dirty="0" err="1"/>
                        <a:t>make_name</a:t>
                      </a:r>
                      <a:endParaRPr lang="it-IT" sz="16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>
                    <a:solidFill>
                      <a:schemeClr val="accent1">
                        <a:alpha val="2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it-IT" sz="1600" b="1" dirty="0"/>
                        <a:t>make</a:t>
                      </a:r>
                      <a:endParaRPr lang="it-IT" sz="1600" b="1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>
                    <a:solidFill>
                      <a:schemeClr val="accent1">
                        <a:alpha val="2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67472653"/>
                  </a:ext>
                </a:extLst>
              </a:tr>
              <a:tr h="355104">
                <a:tc>
                  <a:txBody>
                    <a:bodyPr/>
                    <a:lstStyle/>
                    <a:p>
                      <a:r>
                        <a:rPr lang="it-IT" sz="1600" dirty="0"/>
                        <a:t>model</a:t>
                      </a:r>
                      <a:endParaRPr lang="it-IT" sz="16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sz="1600" dirty="0" err="1"/>
                        <a:t>model_name</a:t>
                      </a:r>
                      <a:endParaRPr lang="it-IT" sz="16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sz="1600" b="1" dirty="0"/>
                        <a:t>model</a:t>
                      </a:r>
                      <a:endParaRPr lang="it-IT" sz="1600" b="1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13593460"/>
                  </a:ext>
                </a:extLst>
              </a:tr>
              <a:tr h="355104">
                <a:tc>
                  <a:txBody>
                    <a:bodyPr/>
                    <a:lstStyle/>
                    <a:p>
                      <a:r>
                        <a:rPr lang="it-IT" sz="1600" dirty="0" err="1"/>
                        <a:t>year</a:t>
                      </a:r>
                      <a:endParaRPr lang="it-IT" sz="16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>
                    <a:solidFill>
                      <a:schemeClr val="accent6">
                        <a:alpha val="2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it-IT" sz="1600" dirty="0" err="1"/>
                        <a:t>year</a:t>
                      </a:r>
                      <a:endParaRPr lang="it-IT" sz="16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>
                    <a:solidFill>
                      <a:schemeClr val="accent6">
                        <a:alpha val="2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it-IT" sz="1600" b="1" dirty="0" err="1"/>
                        <a:t>year</a:t>
                      </a:r>
                      <a:endParaRPr lang="it-IT" sz="1600" b="1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>
                    <a:solidFill>
                      <a:schemeClr val="accent6">
                        <a:alpha val="2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38432438"/>
                  </a:ext>
                </a:extLst>
              </a:tr>
              <a:tr h="355104">
                <a:tc>
                  <a:txBody>
                    <a:bodyPr/>
                    <a:lstStyle/>
                    <a:p>
                      <a:r>
                        <a:rPr lang="it-IT" sz="1600" dirty="0"/>
                        <a:t>price</a:t>
                      </a:r>
                      <a:endParaRPr lang="it-IT" sz="16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>
                    <a:solidFill>
                      <a:schemeClr val="accent6">
                        <a:alpha val="2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it-IT" sz="1600" dirty="0"/>
                        <a:t>price</a:t>
                      </a:r>
                      <a:endParaRPr lang="it-IT" sz="16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>
                    <a:solidFill>
                      <a:schemeClr val="accent6">
                        <a:alpha val="2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it-IT" sz="1600" b="1" dirty="0"/>
                        <a:t>price</a:t>
                      </a:r>
                      <a:endParaRPr lang="it-IT" sz="1600" b="1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>
                    <a:solidFill>
                      <a:schemeClr val="accent6">
                        <a:alpha val="2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12602527"/>
                  </a:ext>
                </a:extLst>
              </a:tr>
              <a:tr h="355104">
                <a:tc>
                  <a:txBody>
                    <a:bodyPr/>
                    <a:lstStyle/>
                    <a:p>
                      <a:r>
                        <a:rPr lang="it-IT" sz="1600" dirty="0" err="1"/>
                        <a:t>odometer</a:t>
                      </a:r>
                      <a:endParaRPr lang="it-IT" sz="16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>
                    <a:solidFill>
                      <a:schemeClr val="accent1">
                        <a:alpha val="2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it-IT" sz="1600" dirty="0" err="1"/>
                        <a:t>mileage</a:t>
                      </a:r>
                      <a:endParaRPr lang="it-IT" sz="16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>
                    <a:solidFill>
                      <a:schemeClr val="accent1">
                        <a:alpha val="2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it-IT" sz="1600" b="1" dirty="0" err="1"/>
                        <a:t>mileage</a:t>
                      </a:r>
                      <a:endParaRPr lang="it-IT" sz="1600" b="1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>
                    <a:solidFill>
                      <a:schemeClr val="accent1">
                        <a:alpha val="2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37454230"/>
                  </a:ext>
                </a:extLst>
              </a:tr>
              <a:tr h="355104">
                <a:tc>
                  <a:txBody>
                    <a:bodyPr/>
                    <a:lstStyle/>
                    <a:p>
                      <a:r>
                        <a:rPr lang="it-IT" sz="1600" dirty="0" err="1"/>
                        <a:t>fuel</a:t>
                      </a:r>
                      <a:endParaRPr lang="it-IT" sz="16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it-IT" sz="1600" dirty="0" err="1"/>
                        <a:t>fuel_type</a:t>
                      </a:r>
                      <a:endParaRPr lang="it-IT" sz="16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sz="1600" b="1" dirty="0" err="1"/>
                        <a:t>fuel</a:t>
                      </a:r>
                      <a:endParaRPr lang="it-IT" sz="1600" b="1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607010"/>
                  </a:ext>
                </a:extLst>
              </a:tr>
              <a:tr h="355104">
                <a:tc>
                  <a:txBody>
                    <a:bodyPr/>
                    <a:lstStyle/>
                    <a:p>
                      <a:r>
                        <a:rPr lang="it-IT" sz="1600" dirty="0"/>
                        <a:t>transmission</a:t>
                      </a:r>
                      <a:endParaRPr lang="it-IT" sz="16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>
                    <a:solidFill>
                      <a:schemeClr val="accent6">
                        <a:alpha val="2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it-IT" sz="1600" dirty="0"/>
                        <a:t>transmission</a:t>
                      </a:r>
                      <a:endParaRPr lang="it-IT" sz="16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>
                    <a:solidFill>
                      <a:schemeClr val="accent6">
                        <a:alpha val="2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it-IT" sz="1600" b="1" dirty="0"/>
                        <a:t>transmission</a:t>
                      </a:r>
                      <a:endParaRPr lang="it-IT" sz="1600" b="1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>
                    <a:solidFill>
                      <a:schemeClr val="accent6">
                        <a:alpha val="2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79085676"/>
                  </a:ext>
                </a:extLst>
              </a:tr>
              <a:tr h="355104">
                <a:tc>
                  <a:txBody>
                    <a:bodyPr/>
                    <a:lstStyle/>
                    <a:p>
                      <a:r>
                        <a:rPr lang="it-IT" sz="1600" dirty="0"/>
                        <a:t>state</a:t>
                      </a:r>
                      <a:endParaRPr lang="it-IT" sz="16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>
                    <a:solidFill>
                      <a:schemeClr val="accent3">
                        <a:alpha val="2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it-IT" sz="1600" dirty="0"/>
                        <a:t>-</a:t>
                      </a:r>
                      <a:endParaRPr lang="it-IT" sz="16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>
                    <a:solidFill>
                      <a:schemeClr val="accent3">
                        <a:alpha val="2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it-IT" sz="1600" b="1" dirty="0"/>
                        <a:t>state</a:t>
                      </a:r>
                      <a:endParaRPr lang="it-IT" sz="1600" b="1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>
                    <a:solidFill>
                      <a:schemeClr val="accent3">
                        <a:alpha val="2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16957469"/>
                  </a:ext>
                </a:extLst>
              </a:tr>
              <a:tr h="355104">
                <a:tc>
                  <a:txBody>
                    <a:bodyPr/>
                    <a:lstStyle/>
                    <a:p>
                      <a:r>
                        <a:rPr lang="it-IT" sz="1600" dirty="0" err="1"/>
                        <a:t>region</a:t>
                      </a:r>
                      <a:endParaRPr lang="it-IT" sz="16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>
                    <a:solidFill>
                      <a:schemeClr val="accent3">
                        <a:alpha val="2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it-IT" sz="1600" dirty="0"/>
                        <a:t>-</a:t>
                      </a:r>
                      <a:endParaRPr lang="it-IT" sz="16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>
                    <a:solidFill>
                      <a:schemeClr val="accent3">
                        <a:alpha val="2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it-IT" sz="1600" b="1" dirty="0" err="1"/>
                        <a:t>region</a:t>
                      </a:r>
                      <a:endParaRPr lang="it-IT" sz="1600" b="1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>
                    <a:solidFill>
                      <a:schemeClr val="accent3">
                        <a:alpha val="2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0271663"/>
                  </a:ext>
                </a:extLst>
              </a:tr>
              <a:tr h="355104">
                <a:tc>
                  <a:txBody>
                    <a:bodyPr/>
                    <a:lstStyle/>
                    <a:p>
                      <a:r>
                        <a:rPr lang="it-IT" sz="1600" dirty="0" err="1"/>
                        <a:t>description</a:t>
                      </a:r>
                      <a:endParaRPr lang="it-IT" sz="16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sz="1600" dirty="0" err="1"/>
                        <a:t>description</a:t>
                      </a:r>
                      <a:endParaRPr lang="it-IT" sz="16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sz="1600" b="1" dirty="0" err="1"/>
                        <a:t>description</a:t>
                      </a:r>
                      <a:endParaRPr lang="it-IT" sz="1600" b="1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5991419"/>
                  </a:ext>
                </a:extLst>
              </a:tr>
            </a:tbl>
          </a:graphicData>
        </a:graphic>
      </p:graphicFrame>
      <p:sp>
        <p:nvSpPr>
          <p:cNvPr id="10" name="CasellaDiTesto 9">
            <a:extLst>
              <a:ext uri="{FF2B5EF4-FFF2-40B4-BE49-F238E27FC236}">
                <a16:creationId xmlns:a16="http://schemas.microsoft.com/office/drawing/2014/main" id="{60AC0272-534C-9B2C-AC7E-D881AB6DF01E}"/>
              </a:ext>
            </a:extLst>
          </p:cNvPr>
          <p:cNvSpPr txBox="1">
            <a:spLocks/>
          </p:cNvSpPr>
          <p:nvPr/>
        </p:nvSpPr>
        <p:spPr>
          <a:xfrm>
            <a:off x="4790515" y="2299517"/>
            <a:ext cx="4353485" cy="535531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Implementazione</a:t>
            </a:r>
          </a:p>
          <a:p>
            <a:r>
              <a:rPr lang="it-IT"/>
              <a:t>Riportiamo il risultato </a:t>
            </a:r>
            <a:r>
              <a:rPr lang="it-IT" dirty="0"/>
              <a:t>della fase di allineamento delle sorgenti seguendo un codice cromatico: in </a:t>
            </a:r>
            <a:r>
              <a:rPr lang="it-IT" b="1" dirty="0">
                <a:solidFill>
                  <a:schemeClr val="accent6">
                    <a:lumMod val="75000"/>
                  </a:schemeClr>
                </a:solidFill>
              </a:rPr>
              <a:t>arancione</a:t>
            </a:r>
            <a:r>
              <a:rPr lang="it-IT" b="1" dirty="0"/>
              <a:t> </a:t>
            </a:r>
            <a:r>
              <a:rPr lang="it-IT" dirty="0"/>
              <a:t>sono evidenziati i campi identici in entrambi i dataset, in </a:t>
            </a:r>
            <a:r>
              <a:rPr lang="it-IT" b="1" dirty="0">
                <a:solidFill>
                  <a:schemeClr val="accent3">
                    <a:lumMod val="75000"/>
                  </a:schemeClr>
                </a:solidFill>
              </a:rPr>
              <a:t>verde</a:t>
            </a:r>
            <a:r>
              <a:rPr lang="it-IT" dirty="0"/>
              <a:t> le informazioni aggiuntive estratte da uno dei due dataset, e in </a:t>
            </a:r>
            <a:r>
              <a:rPr lang="it-IT" b="1" dirty="0">
                <a:solidFill>
                  <a:schemeClr val="tx2">
                    <a:lumMod val="75000"/>
                  </a:schemeClr>
                </a:solidFill>
              </a:rPr>
              <a:t>blu</a:t>
            </a:r>
            <a:r>
              <a:rPr lang="it-IT" dirty="0"/>
              <a:t> gli attributi eterogenei che hanno richiesto una ridefinizione dello schema globale. </a:t>
            </a:r>
          </a:p>
          <a:p>
            <a:endParaRPr lang="it-IT" dirty="0"/>
          </a:p>
          <a:p>
            <a:r>
              <a:rPr lang="it-IT" dirty="0"/>
              <a:t>Per uniformare i dati, sono state eseguite diverse operazioni strutturali e di pulizia: </a:t>
            </a:r>
            <a:r>
              <a:rPr lang="it-IT" b="1" dirty="0"/>
              <a:t>rinomina</a:t>
            </a:r>
            <a:r>
              <a:rPr lang="it-IT" dirty="0"/>
              <a:t> delle </a:t>
            </a:r>
            <a:r>
              <a:rPr lang="it-IT" b="1" dirty="0"/>
              <a:t>colonne</a:t>
            </a:r>
            <a:r>
              <a:rPr lang="it-IT" dirty="0"/>
              <a:t>, </a:t>
            </a:r>
            <a:r>
              <a:rPr lang="it-IT" b="1" dirty="0"/>
              <a:t>integrazione</a:t>
            </a:r>
            <a:r>
              <a:rPr lang="it-IT" dirty="0"/>
              <a:t> degli </a:t>
            </a:r>
            <a:r>
              <a:rPr lang="it-IT" b="1" dirty="0"/>
              <a:t>attributi</a:t>
            </a:r>
            <a:r>
              <a:rPr lang="it-IT" dirty="0"/>
              <a:t> </a:t>
            </a:r>
            <a:r>
              <a:rPr lang="it-IT" b="1" dirty="0"/>
              <a:t>mancanti</a:t>
            </a:r>
            <a:r>
              <a:rPr lang="it-IT" dirty="0"/>
              <a:t>, </a:t>
            </a:r>
            <a:r>
              <a:rPr lang="it-IT" b="1" dirty="0"/>
              <a:t>conversioni</a:t>
            </a:r>
            <a:r>
              <a:rPr lang="it-IT" dirty="0"/>
              <a:t> dei </a:t>
            </a:r>
            <a:r>
              <a:rPr lang="it-IT" b="1" dirty="0"/>
              <a:t>tipi</a:t>
            </a:r>
            <a:r>
              <a:rPr lang="it-IT" dirty="0"/>
              <a:t> </a:t>
            </a:r>
            <a:r>
              <a:rPr lang="it-IT" b="1" dirty="0"/>
              <a:t>numerici</a:t>
            </a:r>
            <a:r>
              <a:rPr lang="it-IT" dirty="0"/>
              <a:t>, </a:t>
            </a:r>
            <a:r>
              <a:rPr lang="it-IT" b="1" dirty="0" err="1"/>
              <a:t>pre</a:t>
            </a:r>
            <a:r>
              <a:rPr lang="it-IT" b="1" dirty="0"/>
              <a:t>-processing</a:t>
            </a:r>
            <a:r>
              <a:rPr lang="it-IT" dirty="0"/>
              <a:t> </a:t>
            </a:r>
            <a:r>
              <a:rPr lang="it-IT" b="1" dirty="0"/>
              <a:t>testuale</a:t>
            </a:r>
            <a:r>
              <a:rPr lang="it-IT" dirty="0"/>
              <a:t> e </a:t>
            </a:r>
            <a:r>
              <a:rPr lang="it-IT" b="1" dirty="0"/>
              <a:t>normalizzazione</a:t>
            </a:r>
            <a:r>
              <a:rPr lang="it-IT" dirty="0"/>
              <a:t> del codice </a:t>
            </a:r>
            <a:r>
              <a:rPr lang="it-IT" b="1" dirty="0"/>
              <a:t>VIN</a:t>
            </a:r>
            <a:r>
              <a:rPr lang="it-IT" dirty="0"/>
              <a:t>.</a:t>
            </a:r>
          </a:p>
          <a:p>
            <a:endParaRPr lang="it-IT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endParaRPr lang="it-IT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297532017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FD798BE-E96D-FB9C-13E9-439183B209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olo 1">
            <a:extLst>
              <a:ext uri="{FF2B5EF4-FFF2-40B4-BE49-F238E27FC236}">
                <a16:creationId xmlns:a16="http://schemas.microsoft.com/office/drawing/2014/main" id="{4D383A59-0348-F270-48C6-E646C1148634}"/>
              </a:ext>
            </a:extLst>
          </p:cNvPr>
          <p:cNvSpPr txBox="1">
            <a:spLocks/>
          </p:cNvSpPr>
          <p:nvPr/>
        </p:nvSpPr>
        <p:spPr>
          <a:xfrm>
            <a:off x="0" y="0"/>
            <a:ext cx="9144000" cy="1417638"/>
          </a:xfrm>
          <a:prstGeom prst="rect">
            <a:avLst/>
          </a:prstGeom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vert="horz" lIns="91440" tIns="45720" rIns="91440" bIns="45720" rtlCol="0" anchor="ctr">
            <a:normAutofit fontScale="97500"/>
          </a:bodyPr>
          <a:lstStyle>
            <a:lvl1pPr algn="ctr" defTabSz="9144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it-IT" sz="1800" dirty="0" err="1"/>
              <a:t>HomeWork</a:t>
            </a:r>
            <a:r>
              <a:rPr lang="it-IT" sz="1800" dirty="0"/>
              <a:t> 6</a:t>
            </a:r>
            <a:br>
              <a:rPr lang="it-IT" sz="1800" dirty="0"/>
            </a:br>
            <a:r>
              <a:rPr lang="it-IT" sz="1800" dirty="0"/>
              <a:t>Ingegneria dei Dati</a:t>
            </a:r>
            <a:endParaRPr lang="it-IT" sz="3000" dirty="0"/>
          </a:p>
        </p:txBody>
      </p:sp>
      <p:pic>
        <p:nvPicPr>
          <p:cNvPr id="5" name="Immagine 4">
            <a:extLst>
              <a:ext uri="{FF2B5EF4-FFF2-40B4-BE49-F238E27FC236}">
                <a16:creationId xmlns:a16="http://schemas.microsoft.com/office/drawing/2014/main" id="{91AF5131-FD09-612F-5200-286AA0A8FEFF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9512" y="188640"/>
            <a:ext cx="1645469" cy="1031045"/>
          </a:xfrm>
          <a:prstGeom prst="rect">
            <a:avLst/>
          </a:prstGeom>
        </p:spPr>
      </p:pic>
      <p:cxnSp>
        <p:nvCxnSpPr>
          <p:cNvPr id="6" name="Connettore 1 5">
            <a:extLst>
              <a:ext uri="{FF2B5EF4-FFF2-40B4-BE49-F238E27FC236}">
                <a16:creationId xmlns:a16="http://schemas.microsoft.com/office/drawing/2014/main" id="{F0F97311-C965-D573-F80B-DC37114C200E}"/>
              </a:ext>
            </a:extLst>
          </p:cNvPr>
          <p:cNvCxnSpPr/>
          <p:nvPr/>
        </p:nvCxnSpPr>
        <p:spPr>
          <a:xfrm flipV="1">
            <a:off x="-12968" y="1484784"/>
            <a:ext cx="9163830" cy="36004"/>
          </a:xfrm>
          <a:prstGeom prst="line">
            <a:avLst/>
          </a:prstGeom>
          <a:ln w="571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Connettore 1 6">
            <a:extLst>
              <a:ext uri="{FF2B5EF4-FFF2-40B4-BE49-F238E27FC236}">
                <a16:creationId xmlns:a16="http://schemas.microsoft.com/office/drawing/2014/main" id="{CC031F6A-CB92-0C3C-04C5-4A7ADEF805C3}"/>
              </a:ext>
            </a:extLst>
          </p:cNvPr>
          <p:cNvCxnSpPr/>
          <p:nvPr/>
        </p:nvCxnSpPr>
        <p:spPr>
          <a:xfrm flipV="1">
            <a:off x="-19830" y="1655186"/>
            <a:ext cx="9163830" cy="36004"/>
          </a:xfrm>
          <a:prstGeom prst="line">
            <a:avLst/>
          </a:prstGeom>
          <a:ln w="571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Connettore 1 7">
            <a:extLst>
              <a:ext uri="{FF2B5EF4-FFF2-40B4-BE49-F238E27FC236}">
                <a16:creationId xmlns:a16="http://schemas.microsoft.com/office/drawing/2014/main" id="{0C4030A8-F4BD-4FE7-0E21-0A96E16AA02C}"/>
              </a:ext>
            </a:extLst>
          </p:cNvPr>
          <p:cNvCxnSpPr/>
          <p:nvPr/>
        </p:nvCxnSpPr>
        <p:spPr>
          <a:xfrm flipV="1">
            <a:off x="-19830" y="1844824"/>
            <a:ext cx="9163830" cy="36004"/>
          </a:xfrm>
          <a:prstGeom prst="line">
            <a:avLst/>
          </a:prstGeom>
          <a:ln w="571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Rettangolo 1">
            <a:extLst>
              <a:ext uri="{FF2B5EF4-FFF2-40B4-BE49-F238E27FC236}">
                <a16:creationId xmlns:a16="http://schemas.microsoft.com/office/drawing/2014/main" id="{A7AF307C-06C2-E166-19E2-04BB0595C872}"/>
              </a:ext>
            </a:extLst>
          </p:cNvPr>
          <p:cNvSpPr/>
          <p:nvPr/>
        </p:nvSpPr>
        <p:spPr>
          <a:xfrm>
            <a:off x="107504" y="1998458"/>
            <a:ext cx="8928992" cy="483209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it-IT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Punto 4.A - Costruzione della Ground Truth tramite VIN </a:t>
            </a:r>
          </a:p>
          <a:p>
            <a:pPr algn="just"/>
            <a:endParaRPr lang="it-IT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just"/>
            <a:r>
              <a:rPr lang="it-IT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Problema</a:t>
            </a:r>
          </a:p>
          <a:p>
            <a:pPr algn="just"/>
            <a:r>
              <a:rPr lang="it-IT" dirty="0">
                <a:latin typeface="Times New Roman" panose="02020603050405020304" pitchFamily="18" charset="0"/>
                <a:cs typeface="Times New Roman" panose="02020603050405020304" pitchFamily="18" charset="0"/>
              </a:rPr>
              <a:t>Il </a:t>
            </a:r>
            <a:r>
              <a:rPr lang="it-IT" dirty="0">
                <a:latin typeface="Courier New" panose="02070309020205020404" pitchFamily="49" charset="0"/>
                <a:cs typeface="Courier New" panose="02070309020205020404" pitchFamily="49" charset="0"/>
              </a:rPr>
              <a:t>VIN</a:t>
            </a:r>
            <a:r>
              <a:rPr lang="it-IT" dirty="0">
                <a:latin typeface="Times New Roman" panose="02020603050405020304" pitchFamily="18" charset="0"/>
                <a:cs typeface="Times New Roman" panose="02020603050405020304" pitchFamily="18" charset="0"/>
              </a:rPr>
              <a:t> (</a:t>
            </a:r>
            <a:r>
              <a:rPr lang="it-IT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Vehicle</a:t>
            </a:r>
            <a:r>
              <a:rPr lang="it-IT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it-IT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Identification</a:t>
            </a:r>
            <a:r>
              <a:rPr lang="it-IT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it-IT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Number</a:t>
            </a:r>
            <a:r>
              <a:rPr lang="it-IT" dirty="0">
                <a:latin typeface="Times New Roman" panose="02020603050405020304" pitchFamily="18" charset="0"/>
                <a:cs typeface="Times New Roman" panose="02020603050405020304" pitchFamily="18" charset="0"/>
              </a:rPr>
              <a:t>) è un identificatore univoco dell’automobile; nei dataset sono rumorosi (spazi, simboli, errori).</a:t>
            </a:r>
          </a:p>
          <a:p>
            <a:pPr algn="just"/>
            <a:endParaRPr lang="it-IT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just"/>
            <a:r>
              <a:rPr lang="it-IT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Soluzione</a:t>
            </a:r>
          </a:p>
          <a:p>
            <a:pPr algn="just"/>
            <a:r>
              <a:rPr lang="it-IT" dirty="0">
                <a:latin typeface="Times New Roman" panose="02020603050405020304" pitchFamily="18" charset="0"/>
                <a:cs typeface="Times New Roman" panose="02020603050405020304" pitchFamily="18" charset="0"/>
              </a:rPr>
              <a:t>La funzione </a:t>
            </a:r>
            <a:r>
              <a:rPr lang="it-IT" dirty="0" err="1">
                <a:latin typeface="Courier New" panose="02070309020205020404" pitchFamily="49" charset="0"/>
                <a:cs typeface="Courier New" panose="02070309020205020404" pitchFamily="49" charset="0"/>
              </a:rPr>
              <a:t>clean_vin</a:t>
            </a:r>
            <a:r>
              <a:rPr lang="it-IT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  <a:r>
              <a:rPr lang="it-IT" dirty="0">
                <a:latin typeface="Times New Roman" panose="02020603050405020304" pitchFamily="18" charset="0"/>
                <a:cs typeface="Times New Roman" panose="02020603050405020304" pitchFamily="18" charset="0"/>
              </a:rPr>
              <a:t>:</a:t>
            </a:r>
          </a:p>
          <a:p>
            <a:pPr marL="285750" indent="-285750" algn="just">
              <a:buFont typeface="Wingdings" pitchFamily="2" charset="2"/>
              <a:buChar char="ü"/>
            </a:pPr>
            <a:r>
              <a:rPr lang="it-IT" dirty="0">
                <a:latin typeface="Times New Roman" panose="02020603050405020304" pitchFamily="18" charset="0"/>
                <a:cs typeface="Times New Roman" panose="02020603050405020304" pitchFamily="18" charset="0"/>
              </a:rPr>
              <a:t>rimuove caratteri non alfanumerici</a:t>
            </a:r>
          </a:p>
          <a:p>
            <a:pPr marL="285750" indent="-285750" algn="just">
              <a:buFont typeface="Wingdings" pitchFamily="2" charset="2"/>
              <a:buChar char="ü"/>
            </a:pPr>
            <a:r>
              <a:rPr lang="it-IT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converte in maiuscolo</a:t>
            </a:r>
          </a:p>
          <a:p>
            <a:pPr marL="285750" indent="-285750" algn="just">
              <a:buFont typeface="Wingdings" pitchFamily="2" charset="2"/>
              <a:buChar char="ü"/>
            </a:pPr>
            <a:r>
              <a:rPr lang="it-IT" dirty="0">
                <a:latin typeface="Times New Roman" panose="02020603050405020304" pitchFamily="18" charset="0"/>
                <a:cs typeface="Times New Roman" panose="02020603050405020304" pitchFamily="18" charset="0"/>
              </a:rPr>
              <a:t>mantiene solo VIN di 17 caratteri</a:t>
            </a:r>
          </a:p>
          <a:p>
            <a:pPr algn="just"/>
            <a:endParaRPr lang="it-IT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just"/>
            <a:r>
              <a:rPr lang="it-IT" dirty="0">
                <a:latin typeface="Times New Roman" panose="02020603050405020304" pitchFamily="18" charset="0"/>
                <a:cs typeface="Times New Roman" panose="02020603050405020304" pitchFamily="18" charset="0"/>
              </a:rPr>
              <a:t>Viene fatto un merge interno sui </a:t>
            </a:r>
            <a:r>
              <a:rPr lang="it-IT" dirty="0">
                <a:latin typeface="Courier New" panose="02070309020205020404" pitchFamily="49" charset="0"/>
                <a:cs typeface="Courier New" panose="02070309020205020404" pitchFamily="49" charset="0"/>
              </a:rPr>
              <a:t>VIN</a:t>
            </a:r>
            <a:r>
              <a:rPr lang="it-IT" dirty="0">
                <a:latin typeface="Times New Roman" panose="02020603050405020304" pitchFamily="18" charset="0"/>
                <a:cs typeface="Times New Roman" panose="02020603050405020304" pitchFamily="18" charset="0"/>
              </a:rPr>
              <a:t> puliti per ottenere coppie di record che sicuramente si riferiscono alla stessa auto. Questa parte permette di avere una ground truth automatica e affidabile, addestrare modelli ML, e valutare le performance senza annotazione manuale.</a:t>
            </a:r>
          </a:p>
          <a:p>
            <a:pPr algn="just"/>
            <a:endParaRPr lang="it-IT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just"/>
            <a:r>
              <a:rPr lang="it-IT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Intersezione: </a:t>
            </a:r>
            <a:r>
              <a:rPr lang="it-IT" dirty="0">
                <a:latin typeface="Times New Roman" panose="02020603050405020304" pitchFamily="18" charset="0"/>
                <a:cs typeface="Times New Roman" panose="02020603050405020304" pitchFamily="18" charset="0"/>
              </a:rPr>
              <a:t>Sono stati identificati 3.959 VIN comuni tra le due sorgenti.</a:t>
            </a:r>
          </a:p>
        </p:txBody>
      </p:sp>
    </p:spTree>
    <p:extLst>
      <p:ext uri="{BB962C8B-B14F-4D97-AF65-F5344CB8AC3E}">
        <p14:creationId xmlns:p14="http://schemas.microsoft.com/office/powerpoint/2010/main" val="421832798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3549E8-BB80-FBA5-1D20-CB4E1440D4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olo 1">
            <a:extLst>
              <a:ext uri="{FF2B5EF4-FFF2-40B4-BE49-F238E27FC236}">
                <a16:creationId xmlns:a16="http://schemas.microsoft.com/office/drawing/2014/main" id="{AC256CD3-82DD-EE53-FBE7-4A5EFD2B348A}"/>
              </a:ext>
            </a:extLst>
          </p:cNvPr>
          <p:cNvSpPr txBox="1">
            <a:spLocks/>
          </p:cNvSpPr>
          <p:nvPr/>
        </p:nvSpPr>
        <p:spPr>
          <a:xfrm>
            <a:off x="0" y="0"/>
            <a:ext cx="9144000" cy="1417638"/>
          </a:xfrm>
          <a:prstGeom prst="rect">
            <a:avLst/>
          </a:prstGeom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vert="horz" lIns="91440" tIns="45720" rIns="91440" bIns="45720" rtlCol="0" anchor="ctr">
            <a:normAutofit fontScale="97500"/>
          </a:bodyPr>
          <a:lstStyle>
            <a:lvl1pPr algn="ctr" defTabSz="9144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it-IT" sz="1800" dirty="0" err="1"/>
              <a:t>HomeWork</a:t>
            </a:r>
            <a:r>
              <a:rPr lang="it-IT" sz="1800" dirty="0"/>
              <a:t> 6</a:t>
            </a:r>
            <a:br>
              <a:rPr lang="it-IT" sz="1800" dirty="0"/>
            </a:br>
            <a:r>
              <a:rPr lang="it-IT" sz="1800" dirty="0"/>
              <a:t>Ingegneria dei Dati</a:t>
            </a:r>
            <a:endParaRPr lang="it-IT" sz="3000" dirty="0"/>
          </a:p>
        </p:txBody>
      </p:sp>
      <p:pic>
        <p:nvPicPr>
          <p:cNvPr id="5" name="Immagine 4">
            <a:extLst>
              <a:ext uri="{FF2B5EF4-FFF2-40B4-BE49-F238E27FC236}">
                <a16:creationId xmlns:a16="http://schemas.microsoft.com/office/drawing/2014/main" id="{94604BBF-3E93-09EB-C54E-0C021904B609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9512" y="188640"/>
            <a:ext cx="1645469" cy="1031045"/>
          </a:xfrm>
          <a:prstGeom prst="rect">
            <a:avLst/>
          </a:prstGeom>
        </p:spPr>
      </p:pic>
      <p:cxnSp>
        <p:nvCxnSpPr>
          <p:cNvPr id="6" name="Connettore 1 5">
            <a:extLst>
              <a:ext uri="{FF2B5EF4-FFF2-40B4-BE49-F238E27FC236}">
                <a16:creationId xmlns:a16="http://schemas.microsoft.com/office/drawing/2014/main" id="{C12DB6D4-8FEB-1F4C-D7BD-A89DF19C4D9E}"/>
              </a:ext>
            </a:extLst>
          </p:cNvPr>
          <p:cNvCxnSpPr/>
          <p:nvPr/>
        </p:nvCxnSpPr>
        <p:spPr>
          <a:xfrm flipV="1">
            <a:off x="-12968" y="1484784"/>
            <a:ext cx="9163830" cy="36004"/>
          </a:xfrm>
          <a:prstGeom prst="line">
            <a:avLst/>
          </a:prstGeom>
          <a:ln w="571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Connettore 1 6">
            <a:extLst>
              <a:ext uri="{FF2B5EF4-FFF2-40B4-BE49-F238E27FC236}">
                <a16:creationId xmlns:a16="http://schemas.microsoft.com/office/drawing/2014/main" id="{25E525DC-5096-4BD0-F7BD-5A37E830231D}"/>
              </a:ext>
            </a:extLst>
          </p:cNvPr>
          <p:cNvCxnSpPr/>
          <p:nvPr/>
        </p:nvCxnSpPr>
        <p:spPr>
          <a:xfrm flipV="1">
            <a:off x="-19830" y="1655186"/>
            <a:ext cx="9163830" cy="36004"/>
          </a:xfrm>
          <a:prstGeom prst="line">
            <a:avLst/>
          </a:prstGeom>
          <a:ln w="571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Connettore 1 7">
            <a:extLst>
              <a:ext uri="{FF2B5EF4-FFF2-40B4-BE49-F238E27FC236}">
                <a16:creationId xmlns:a16="http://schemas.microsoft.com/office/drawing/2014/main" id="{B0139043-CED0-5316-0EB7-7EAF488359C8}"/>
              </a:ext>
            </a:extLst>
          </p:cNvPr>
          <p:cNvCxnSpPr/>
          <p:nvPr/>
        </p:nvCxnSpPr>
        <p:spPr>
          <a:xfrm flipV="1">
            <a:off x="-19830" y="1844824"/>
            <a:ext cx="9163830" cy="36004"/>
          </a:xfrm>
          <a:prstGeom prst="line">
            <a:avLst/>
          </a:prstGeom>
          <a:ln w="571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Rettangolo 1">
                <a:extLst>
                  <a:ext uri="{FF2B5EF4-FFF2-40B4-BE49-F238E27FC236}">
                    <a16:creationId xmlns:a16="http://schemas.microsoft.com/office/drawing/2014/main" id="{C072863C-38B2-7232-23E8-06F8735A49AE}"/>
                  </a:ext>
                </a:extLst>
              </p:cNvPr>
              <p:cNvSpPr/>
              <p:nvPr/>
            </p:nvSpPr>
            <p:spPr>
              <a:xfrm>
                <a:off x="179512" y="2032061"/>
                <a:ext cx="8856984" cy="3754874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it-IT" sz="2000" b="1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Punto 4.B, 4.C - Preparazione Dataset </a:t>
                </a:r>
              </a:p>
              <a:p>
                <a:pPr algn="ctr"/>
                <a:endParaRPr lang="it-IT" sz="2000" b="1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r>
                  <a:rPr lang="it-IT" b="1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Rimozione Vin: </a:t>
                </a:r>
                <a:r>
                  <a:rPr lang="it-IT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Dopo la costruzione della ground truth il </a:t>
                </a:r>
                <a:r>
                  <a:rPr lang="it-IT" u="sng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VIN viene rimosso</a:t>
                </a:r>
                <a:r>
                  <a:rPr lang="it-IT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dai dati usati per il record linkage. Questo perché se il modello vedesse il VIN, apprenderebbe banalmente l'uguaglianza </a:t>
                </a:r>
                <a14:m>
                  <m:oMath xmlns:m="http://schemas.openxmlformats.org/officeDocument/2006/math">
                    <m:r>
                      <a:rPr lang="it-IT" i="1" dirty="0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𝑉𝐼</m:t>
                    </m:r>
                    <m:sSub>
                      <m:sSubPr>
                        <m:ctrlPr>
                          <a:rPr lang="it-IT" b="0" i="1" dirty="0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it-IT" i="1" dirty="0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𝑁</m:t>
                        </m:r>
                      </m:e>
                      <m:sub>
                        <m:r>
                          <a:rPr lang="it-IT" b="0" i="1" dirty="0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𝐴</m:t>
                        </m:r>
                      </m:sub>
                    </m:sSub>
                    <m:r>
                      <a:rPr lang="it-IT" i="1" dirty="0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 = </m:t>
                    </m:r>
                    <m:r>
                      <a:rPr lang="it-IT" i="1" dirty="0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𝑉𝐼</m:t>
                    </m:r>
                    <m:sSub>
                      <m:sSubPr>
                        <m:ctrlPr>
                          <a:rPr lang="it-IT" b="0" i="1" dirty="0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it-IT" i="1" dirty="0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𝑁</m:t>
                        </m:r>
                      </m:e>
                      <m:sub>
                        <m:r>
                          <a:rPr lang="it-IT" b="0" i="1" dirty="0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𝐵</m:t>
                        </m:r>
                      </m:sub>
                    </m:sSub>
                  </m:oMath>
                </a14:m>
                <a:r>
                  <a:rPr lang="it-IT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, ottenendo prestazioni perfette ma irrealistiche (</a:t>
                </a:r>
                <a:r>
                  <a:rPr lang="it-IT" b="1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over fitting</a:t>
                </a:r>
                <a:r>
                  <a:rPr lang="it-IT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su un attributo identificativo)</a:t>
                </a:r>
              </a:p>
              <a:p>
                <a:endParaRPr lang="it-IT" b="1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r>
                  <a:rPr lang="it-IT" b="1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Split: </a:t>
                </a:r>
                <a:r>
                  <a:rPr lang="it-IT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La Ground Truth totale (9.003 coppie incluse le duplicazioni interne o varianti) è stata divisa in:</a:t>
                </a:r>
              </a:p>
              <a:p>
                <a:endParaRPr lang="it-IT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marL="285750" indent="-285750">
                  <a:buFont typeface="Wingdings" pitchFamily="2" charset="2"/>
                  <a:buChar char="q"/>
                </a:pPr>
                <a:r>
                  <a:rPr lang="it-IT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Train: 60%</a:t>
                </a:r>
              </a:p>
              <a:p>
                <a:pPr marL="285750" indent="-285750">
                  <a:buFont typeface="Wingdings" pitchFamily="2" charset="2"/>
                  <a:buChar char="q"/>
                </a:pPr>
                <a:r>
                  <a:rPr lang="it-IT" dirty="0" err="1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Validation</a:t>
                </a:r>
                <a:r>
                  <a:rPr lang="it-IT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: 20%</a:t>
                </a:r>
              </a:p>
              <a:p>
                <a:pPr marL="285750" indent="-285750">
                  <a:buFont typeface="Wingdings" pitchFamily="2" charset="2"/>
                  <a:buChar char="q"/>
                </a:pPr>
                <a:r>
                  <a:rPr lang="it-IT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Test: 20%</a:t>
                </a:r>
                <a:endParaRPr lang="en-US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2" name="Rettangolo 1">
                <a:extLst>
                  <a:ext uri="{FF2B5EF4-FFF2-40B4-BE49-F238E27FC236}">
                    <a16:creationId xmlns:a16="http://schemas.microsoft.com/office/drawing/2014/main" id="{C072863C-38B2-7232-23E8-06F8735A49AE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79512" y="2032061"/>
                <a:ext cx="8856984" cy="3754874"/>
              </a:xfrm>
              <a:prstGeom prst="rect">
                <a:avLst/>
              </a:prstGeom>
              <a:blipFill>
                <a:blip r:embed="rId3"/>
                <a:stretch>
                  <a:fillRect l="-429" t="-673" r="-1144" b="-1347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90840515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9A763C-6626-C645-5F12-E91F1B84E8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olo 1">
            <a:extLst>
              <a:ext uri="{FF2B5EF4-FFF2-40B4-BE49-F238E27FC236}">
                <a16:creationId xmlns:a16="http://schemas.microsoft.com/office/drawing/2014/main" id="{949EFBED-33E3-D6C2-404A-9D18B7C71CFA}"/>
              </a:ext>
            </a:extLst>
          </p:cNvPr>
          <p:cNvSpPr txBox="1">
            <a:spLocks/>
          </p:cNvSpPr>
          <p:nvPr/>
        </p:nvSpPr>
        <p:spPr>
          <a:xfrm>
            <a:off x="0" y="0"/>
            <a:ext cx="9144000" cy="1417638"/>
          </a:xfrm>
          <a:prstGeom prst="rect">
            <a:avLst/>
          </a:prstGeom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vert="horz" lIns="91440" tIns="45720" rIns="91440" bIns="45720" rtlCol="0" anchor="ctr">
            <a:normAutofit fontScale="97500"/>
          </a:bodyPr>
          <a:lstStyle>
            <a:lvl1pPr algn="ctr" defTabSz="9144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it-IT" sz="1800" dirty="0" err="1"/>
              <a:t>HomeWork</a:t>
            </a:r>
            <a:r>
              <a:rPr lang="it-IT" sz="1800" dirty="0"/>
              <a:t> 6</a:t>
            </a:r>
            <a:br>
              <a:rPr lang="it-IT" sz="1800" dirty="0"/>
            </a:br>
            <a:r>
              <a:rPr lang="it-IT" sz="1800" dirty="0"/>
              <a:t>Ingegneria dei Dati</a:t>
            </a:r>
            <a:endParaRPr lang="it-IT" sz="3000" dirty="0"/>
          </a:p>
        </p:txBody>
      </p:sp>
      <p:pic>
        <p:nvPicPr>
          <p:cNvPr id="5" name="Immagine 4">
            <a:extLst>
              <a:ext uri="{FF2B5EF4-FFF2-40B4-BE49-F238E27FC236}">
                <a16:creationId xmlns:a16="http://schemas.microsoft.com/office/drawing/2014/main" id="{E6574AB7-1D62-531C-B512-0E4698DB56EF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9512" y="188640"/>
            <a:ext cx="1645469" cy="1031045"/>
          </a:xfrm>
          <a:prstGeom prst="rect">
            <a:avLst/>
          </a:prstGeom>
        </p:spPr>
      </p:pic>
      <p:cxnSp>
        <p:nvCxnSpPr>
          <p:cNvPr id="6" name="Connettore 1 5">
            <a:extLst>
              <a:ext uri="{FF2B5EF4-FFF2-40B4-BE49-F238E27FC236}">
                <a16:creationId xmlns:a16="http://schemas.microsoft.com/office/drawing/2014/main" id="{91FBDC4C-87DE-46F3-A27F-92B11509023E}"/>
              </a:ext>
            </a:extLst>
          </p:cNvPr>
          <p:cNvCxnSpPr/>
          <p:nvPr/>
        </p:nvCxnSpPr>
        <p:spPr>
          <a:xfrm flipV="1">
            <a:off x="-12968" y="1484784"/>
            <a:ext cx="9163830" cy="36004"/>
          </a:xfrm>
          <a:prstGeom prst="line">
            <a:avLst/>
          </a:prstGeom>
          <a:ln w="571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Connettore 1 6">
            <a:extLst>
              <a:ext uri="{FF2B5EF4-FFF2-40B4-BE49-F238E27FC236}">
                <a16:creationId xmlns:a16="http://schemas.microsoft.com/office/drawing/2014/main" id="{5F5F346D-1334-0BBD-5BFF-FD4900F27EF5}"/>
              </a:ext>
            </a:extLst>
          </p:cNvPr>
          <p:cNvCxnSpPr/>
          <p:nvPr/>
        </p:nvCxnSpPr>
        <p:spPr>
          <a:xfrm flipV="1">
            <a:off x="-19830" y="1655186"/>
            <a:ext cx="9163830" cy="36004"/>
          </a:xfrm>
          <a:prstGeom prst="line">
            <a:avLst/>
          </a:prstGeom>
          <a:ln w="571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Connettore 1 7">
            <a:extLst>
              <a:ext uri="{FF2B5EF4-FFF2-40B4-BE49-F238E27FC236}">
                <a16:creationId xmlns:a16="http://schemas.microsoft.com/office/drawing/2014/main" id="{597B8447-6C73-A10B-A2DC-DBEA5841CE28}"/>
              </a:ext>
            </a:extLst>
          </p:cNvPr>
          <p:cNvCxnSpPr/>
          <p:nvPr/>
        </p:nvCxnSpPr>
        <p:spPr>
          <a:xfrm flipV="1">
            <a:off x="-19830" y="1844824"/>
            <a:ext cx="9163830" cy="36004"/>
          </a:xfrm>
          <a:prstGeom prst="line">
            <a:avLst/>
          </a:prstGeom>
          <a:ln w="571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Rettangolo 1">
            <a:extLst>
              <a:ext uri="{FF2B5EF4-FFF2-40B4-BE49-F238E27FC236}">
                <a16:creationId xmlns:a16="http://schemas.microsoft.com/office/drawing/2014/main" id="{1E208072-CA5D-BDB8-0CB0-DB0EBC259E11}"/>
              </a:ext>
            </a:extLst>
          </p:cNvPr>
          <p:cNvSpPr/>
          <p:nvPr/>
        </p:nvSpPr>
        <p:spPr>
          <a:xfrm>
            <a:off x="179512" y="2034462"/>
            <a:ext cx="8712968" cy="375487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it-IT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Punto 4.D - Strategie di </a:t>
            </a:r>
            <a:r>
              <a:rPr lang="it-IT" sz="20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Blocking</a:t>
            </a:r>
            <a:r>
              <a:rPr lang="it-IT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</a:p>
          <a:p>
            <a:pPr algn="ctr"/>
            <a:endParaRPr lang="it-IT" sz="20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it-IT" dirty="0">
                <a:latin typeface="Times New Roman" panose="02020603050405020304" pitchFamily="18" charset="0"/>
                <a:cs typeface="Times New Roman" panose="02020603050405020304" pitchFamily="18" charset="0"/>
              </a:rPr>
              <a:t>Per ridurre lo spazio di ricerca poiché il prodotto cartesiano risulta troppo oneroso, sono state definite due strategie: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dirty="0">
                <a:latin typeface="Times New Roman" panose="02020603050405020304" pitchFamily="18" charset="0"/>
                <a:cs typeface="Times New Roman" panose="02020603050405020304" pitchFamily="18" charset="0"/>
              </a:rPr>
              <a:t>B1 (</a:t>
            </a:r>
            <a:r>
              <a:rPr lang="it-IT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Standard</a:t>
            </a:r>
            <a:r>
              <a:rPr lang="it-IT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it-IT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Blocking</a:t>
            </a:r>
            <a:r>
              <a:rPr lang="it-IT" dirty="0">
                <a:latin typeface="Times New Roman" panose="02020603050405020304" pitchFamily="18" charset="0"/>
                <a:cs typeface="Times New Roman" panose="02020603050405020304" pitchFamily="18" charset="0"/>
              </a:rPr>
              <a:t>): Si utilizza il blocco esatto sull'attributo </a:t>
            </a:r>
            <a:r>
              <a:rPr lang="it-IT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MAKE</a:t>
            </a:r>
            <a:r>
              <a:rPr lang="it-IT" dirty="0">
                <a:latin typeface="Times New Roman" panose="02020603050405020304" pitchFamily="18" charset="0"/>
                <a:cs typeface="Times New Roman" panose="02020603050405020304" pitchFamily="18" charset="0"/>
              </a:rPr>
              <a:t>. </a:t>
            </a:r>
          </a:p>
          <a:p>
            <a:r>
              <a:rPr lang="it-IT" dirty="0">
                <a:latin typeface="Times New Roman" panose="02020603050405020304" pitchFamily="18" charset="0"/>
                <a:cs typeface="Times New Roman" panose="02020603050405020304" pitchFamily="18" charset="0"/>
              </a:rPr>
              <a:t>	</a:t>
            </a:r>
            <a:r>
              <a:rPr lang="it-IT" u="sng" dirty="0">
                <a:latin typeface="Times New Roman" panose="02020603050405020304" pitchFamily="18" charset="0"/>
                <a:cs typeface="Times New Roman" panose="02020603050405020304" pitchFamily="18" charset="0"/>
              </a:rPr>
              <a:t>Analisi</a:t>
            </a:r>
            <a:r>
              <a:rPr lang="it-IT" dirty="0">
                <a:latin typeface="Times New Roman" panose="02020603050405020304" pitchFamily="18" charset="0"/>
                <a:cs typeface="Times New Roman" panose="02020603050405020304" pitchFamily="18" charset="0"/>
              </a:rPr>
              <a:t>: Ha generato X coppie candidate. Recall Max: 1.00 (cattura tutte le vere 	corrispondenze).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dirty="0">
                <a:latin typeface="Times New Roman" panose="02020603050405020304" pitchFamily="18" charset="0"/>
                <a:cs typeface="Times New Roman" panose="02020603050405020304" pitchFamily="18" charset="0"/>
              </a:rPr>
              <a:t>B2 (</a:t>
            </a:r>
            <a:r>
              <a:rPr lang="it-IT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Sorted</a:t>
            </a:r>
            <a:r>
              <a:rPr lang="it-IT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it-IT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Neighborhood</a:t>
            </a:r>
            <a:r>
              <a:rPr lang="it-IT" dirty="0">
                <a:latin typeface="Times New Roman" panose="02020603050405020304" pitchFamily="18" charset="0"/>
                <a:cs typeface="Times New Roman" panose="02020603050405020304" pitchFamily="18" charset="0"/>
              </a:rPr>
              <a:t>): Ordinamento e finestra scorrevole (±1 anno) </a:t>
            </a:r>
            <a:r>
              <a:rPr lang="it-IT" dirty="0"/>
              <a:t>sull'attributo </a:t>
            </a:r>
            <a:r>
              <a:rPr lang="it-IT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YEAR</a:t>
            </a:r>
            <a:r>
              <a:rPr lang="it-IT" dirty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  <a:p>
            <a:r>
              <a:rPr lang="it-IT" dirty="0">
                <a:latin typeface="Times New Roman" panose="02020603050405020304" pitchFamily="18" charset="0"/>
                <a:cs typeface="Times New Roman" panose="02020603050405020304" pitchFamily="18" charset="0"/>
              </a:rPr>
              <a:t>	</a:t>
            </a:r>
            <a:r>
              <a:rPr lang="it-IT" u="sng" dirty="0">
                <a:latin typeface="Times New Roman" panose="02020603050405020304" pitchFamily="18" charset="0"/>
                <a:cs typeface="Times New Roman" panose="02020603050405020304" pitchFamily="18" charset="0"/>
              </a:rPr>
              <a:t>Analisi</a:t>
            </a:r>
            <a:r>
              <a:rPr lang="it-IT" dirty="0">
                <a:latin typeface="Times New Roman" panose="02020603050405020304" pitchFamily="18" charset="0"/>
                <a:cs typeface="Times New Roman" panose="02020603050405020304" pitchFamily="18" charset="0"/>
              </a:rPr>
              <a:t>: Ha generato Y coppie candidate. Recall Max: 1.00.</a:t>
            </a:r>
          </a:p>
          <a:p>
            <a:endParaRPr lang="it-IT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it-IT" dirty="0">
                <a:latin typeface="Times New Roman" panose="02020603050405020304" pitchFamily="18" charset="0"/>
                <a:cs typeface="Times New Roman" panose="02020603050405020304" pitchFamily="18" charset="0"/>
              </a:rPr>
              <a:t>Entrambe le strategie sono eccellenti in termini di copertura (Recall), ma lasciano passare molti falsi positivi che il modello di matching deve filtrare.</a:t>
            </a:r>
          </a:p>
        </p:txBody>
      </p:sp>
    </p:spTree>
    <p:extLst>
      <p:ext uri="{BB962C8B-B14F-4D97-AF65-F5344CB8AC3E}">
        <p14:creationId xmlns:p14="http://schemas.microsoft.com/office/powerpoint/2010/main" val="151172585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olo 1"/>
          <p:cNvSpPr txBox="1">
            <a:spLocks/>
          </p:cNvSpPr>
          <p:nvPr/>
        </p:nvSpPr>
        <p:spPr>
          <a:xfrm>
            <a:off x="0" y="0"/>
            <a:ext cx="9144000" cy="1417638"/>
          </a:xfrm>
          <a:prstGeom prst="rect">
            <a:avLst/>
          </a:prstGeom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vert="horz" lIns="91440" tIns="45720" rIns="91440" bIns="45720" rtlCol="0" anchor="ctr">
            <a:normAutofit fontScale="97500"/>
          </a:bodyPr>
          <a:lstStyle>
            <a:lvl1pPr algn="ctr" defTabSz="9144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it-IT" sz="1800" dirty="0" err="1"/>
              <a:t>HomeWork</a:t>
            </a:r>
            <a:r>
              <a:rPr lang="it-IT" sz="1800" dirty="0"/>
              <a:t> 6</a:t>
            </a:r>
            <a:br>
              <a:rPr lang="it-IT" sz="1800" dirty="0"/>
            </a:br>
            <a:r>
              <a:rPr lang="it-IT" sz="1800" dirty="0"/>
              <a:t>Ingegneria dei Dati</a:t>
            </a:r>
            <a:endParaRPr lang="it-IT" sz="3000" dirty="0"/>
          </a:p>
        </p:txBody>
      </p:sp>
      <p:pic>
        <p:nvPicPr>
          <p:cNvPr id="5" name="Immagine 4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9512" y="188640"/>
            <a:ext cx="1645469" cy="1031045"/>
          </a:xfrm>
          <a:prstGeom prst="rect">
            <a:avLst/>
          </a:prstGeom>
        </p:spPr>
      </p:pic>
      <p:cxnSp>
        <p:nvCxnSpPr>
          <p:cNvPr id="6" name="Connettore 1 5"/>
          <p:cNvCxnSpPr/>
          <p:nvPr/>
        </p:nvCxnSpPr>
        <p:spPr>
          <a:xfrm flipV="1">
            <a:off x="-12968" y="1484784"/>
            <a:ext cx="9163830" cy="36004"/>
          </a:xfrm>
          <a:prstGeom prst="line">
            <a:avLst/>
          </a:prstGeom>
          <a:ln w="571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Connettore 1 6"/>
          <p:cNvCxnSpPr/>
          <p:nvPr/>
        </p:nvCxnSpPr>
        <p:spPr>
          <a:xfrm flipV="1">
            <a:off x="-19830" y="1655186"/>
            <a:ext cx="9163830" cy="36004"/>
          </a:xfrm>
          <a:prstGeom prst="line">
            <a:avLst/>
          </a:prstGeom>
          <a:ln w="571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Connettore 1 7"/>
          <p:cNvCxnSpPr/>
          <p:nvPr/>
        </p:nvCxnSpPr>
        <p:spPr>
          <a:xfrm flipV="1">
            <a:off x="-19830" y="1844824"/>
            <a:ext cx="9163830" cy="36004"/>
          </a:xfrm>
          <a:prstGeom prst="line">
            <a:avLst/>
          </a:prstGeom>
          <a:ln w="571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Rettangolo 1"/>
          <p:cNvSpPr/>
          <p:nvPr/>
        </p:nvSpPr>
        <p:spPr>
          <a:xfrm>
            <a:off x="179512" y="2034462"/>
            <a:ext cx="8856984" cy="400109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Punto 4.E - Record Linkage Rule-Based</a:t>
            </a:r>
          </a:p>
          <a:p>
            <a:endParaRPr lang="it-IT" b="1" dirty="0"/>
          </a:p>
          <a:p>
            <a:r>
              <a:rPr lang="it-IT" b="1" dirty="0"/>
              <a:t>Le Regole di Confronto (</a:t>
            </a:r>
            <a:r>
              <a:rPr lang="it-IT" b="1" dirty="0" err="1"/>
              <a:t>Similarity</a:t>
            </a:r>
            <a:r>
              <a:rPr lang="it-IT" b="1" dirty="0"/>
              <a:t>)</a:t>
            </a:r>
            <a:r>
              <a:rPr lang="it-IT" dirty="0"/>
              <a:t> Abbiamo scelto l'algoritmo migliore per ogni tipo di dato:</a:t>
            </a:r>
          </a:p>
          <a:p>
            <a:pPr marL="285750" indent="-285750">
              <a:buFont typeface="Courier New" panose="02070309020205020404" pitchFamily="49" charset="0"/>
              <a:buChar char="o"/>
            </a:pPr>
            <a:r>
              <a:rPr lang="it-IT" b="1" dirty="0"/>
              <a:t>Marca:</a:t>
            </a:r>
            <a:r>
              <a:rPr lang="it-IT" dirty="0"/>
              <a:t> </a:t>
            </a:r>
            <a:r>
              <a:rPr lang="it-IT" i="1" dirty="0" err="1"/>
              <a:t>Jaro</a:t>
            </a:r>
            <a:r>
              <a:rPr lang="it-IT" i="1" dirty="0"/>
              <a:t>-Winkler</a:t>
            </a:r>
            <a:r>
              <a:rPr lang="it-IT" dirty="0"/>
              <a:t> (Soglia: 0.9) - </a:t>
            </a:r>
            <a:r>
              <a:rPr lang="it-IT" i="1" dirty="0"/>
              <a:t>Ottimo per intercettare errori di battitura.</a:t>
            </a:r>
            <a:endParaRPr lang="it-IT" dirty="0"/>
          </a:p>
          <a:p>
            <a:pPr marL="285750" indent="-285750">
              <a:buFont typeface="Courier New" panose="02070309020205020404" pitchFamily="49" charset="0"/>
              <a:buChar char="o"/>
            </a:pPr>
            <a:r>
              <a:rPr lang="it-IT" b="1" dirty="0"/>
              <a:t>Modello:</a:t>
            </a:r>
            <a:r>
              <a:rPr lang="it-IT" dirty="0"/>
              <a:t> </a:t>
            </a:r>
            <a:r>
              <a:rPr lang="it-IT" i="1" dirty="0" err="1"/>
              <a:t>Jaro</a:t>
            </a:r>
            <a:r>
              <a:rPr lang="it-IT" i="1" dirty="0"/>
              <a:t>-Winkler</a:t>
            </a:r>
            <a:r>
              <a:rPr lang="it-IT" dirty="0"/>
              <a:t> (Soglia: 0.8) - </a:t>
            </a:r>
            <a:r>
              <a:rPr lang="it-IT" i="1" dirty="0"/>
              <a:t>Soglia più bassa per tollerare le sigle degli allestimenti.</a:t>
            </a:r>
            <a:endParaRPr lang="it-IT" dirty="0"/>
          </a:p>
          <a:p>
            <a:pPr marL="285750" indent="-285750">
              <a:buFont typeface="Courier New" panose="02070309020205020404" pitchFamily="49" charset="0"/>
              <a:buChar char="o"/>
            </a:pPr>
            <a:r>
              <a:rPr lang="it-IT" b="1" dirty="0"/>
              <a:t>Anno:</a:t>
            </a:r>
            <a:r>
              <a:rPr lang="it-IT" dirty="0"/>
              <a:t> </a:t>
            </a:r>
            <a:r>
              <a:rPr lang="it-IT" i="1" dirty="0" err="1"/>
              <a:t>Levenshtein</a:t>
            </a:r>
            <a:r>
              <a:rPr lang="it-IT" dirty="0"/>
              <a:t> (Soglia: 0.9) - </a:t>
            </a:r>
            <a:r>
              <a:rPr lang="it-IT" i="1" dirty="0"/>
              <a:t>Confronto rigido sui caratteri.</a:t>
            </a:r>
            <a:endParaRPr lang="it-IT" dirty="0"/>
          </a:p>
          <a:p>
            <a:pPr marL="285750" indent="-285750">
              <a:buFont typeface="Courier New" panose="02070309020205020404" pitchFamily="49" charset="0"/>
              <a:buChar char="o"/>
            </a:pPr>
            <a:r>
              <a:rPr lang="it-IT" b="1" dirty="0"/>
              <a:t>Prezzo:</a:t>
            </a:r>
            <a:r>
              <a:rPr lang="it-IT" dirty="0"/>
              <a:t> </a:t>
            </a:r>
            <a:r>
              <a:rPr lang="it-IT" i="1" dirty="0"/>
              <a:t>Gaussiano</a:t>
            </a:r>
            <a:r>
              <a:rPr lang="it-IT" dirty="0"/>
              <a:t> (Tolleranza: 0.2) - </a:t>
            </a:r>
            <a:r>
              <a:rPr lang="it-IT" i="1" dirty="0"/>
              <a:t>Curva a campana per ammettere fluttuazioni di prezzo minime.</a:t>
            </a:r>
            <a:endParaRPr lang="it-IT" dirty="0"/>
          </a:p>
          <a:p>
            <a:endParaRPr lang="it-IT" b="1" dirty="0"/>
          </a:p>
          <a:p>
            <a:r>
              <a:rPr lang="it-IT" b="1" dirty="0"/>
              <a:t>La Decisione Finale (Classificazione)</a:t>
            </a:r>
            <a:endParaRPr lang="it-IT" dirty="0"/>
          </a:p>
          <a:p>
            <a:r>
              <a:rPr lang="it-IT" dirty="0"/>
              <a:t>Una coppia viene promossa a </a:t>
            </a:r>
            <a:r>
              <a:rPr lang="it-IT" b="1" dirty="0"/>
              <a:t>Match Definitivo (1)</a:t>
            </a:r>
            <a:r>
              <a:rPr lang="it-IT" dirty="0"/>
              <a:t> solo se soddisfa almeno 3 di questi 4 criteri.</a:t>
            </a:r>
          </a:p>
          <a:p>
            <a:pPr algn="ctr"/>
            <a:r>
              <a:rPr lang="it-IT" b="1" dirty="0"/>
              <a:t>Condizione di Match:</a:t>
            </a:r>
            <a:r>
              <a:rPr lang="it-IT" dirty="0"/>
              <a:t> </a:t>
            </a:r>
            <a:r>
              <a:rPr lang="el-GR" dirty="0"/>
              <a:t>Σ</a:t>
            </a:r>
            <a:r>
              <a:rPr lang="it-IT" dirty="0"/>
              <a:t> </a:t>
            </a:r>
            <a:r>
              <a:rPr lang="el-GR" dirty="0"/>
              <a:t>≥</a:t>
            </a:r>
            <a:r>
              <a:rPr lang="it-IT" dirty="0"/>
              <a:t> </a:t>
            </a:r>
            <a:r>
              <a:rPr lang="el-GR" dirty="0"/>
              <a:t>3</a:t>
            </a:r>
            <a:endParaRPr lang="en-US" sz="20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3874430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olo 1"/>
          <p:cNvSpPr txBox="1">
            <a:spLocks/>
          </p:cNvSpPr>
          <p:nvPr/>
        </p:nvSpPr>
        <p:spPr>
          <a:xfrm>
            <a:off x="0" y="0"/>
            <a:ext cx="9144000" cy="1417638"/>
          </a:xfrm>
          <a:prstGeom prst="rect">
            <a:avLst/>
          </a:prstGeom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vert="horz" lIns="91440" tIns="45720" rIns="91440" bIns="45720" rtlCol="0" anchor="ctr">
            <a:normAutofit fontScale="97500"/>
          </a:bodyPr>
          <a:lstStyle>
            <a:lvl1pPr algn="ctr" defTabSz="9144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it-IT" sz="1800" dirty="0" err="1"/>
              <a:t>HomeWork</a:t>
            </a:r>
            <a:r>
              <a:rPr lang="it-IT" sz="1800" dirty="0"/>
              <a:t> 6</a:t>
            </a:r>
            <a:br>
              <a:rPr lang="it-IT" sz="1800" dirty="0"/>
            </a:br>
            <a:r>
              <a:rPr lang="it-IT" sz="1800" dirty="0"/>
              <a:t>Ingegneria dei Dati</a:t>
            </a:r>
            <a:endParaRPr lang="it-IT" sz="3000" dirty="0"/>
          </a:p>
        </p:txBody>
      </p:sp>
      <p:pic>
        <p:nvPicPr>
          <p:cNvPr id="5" name="Immagine 4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9512" y="188640"/>
            <a:ext cx="1645469" cy="1031045"/>
          </a:xfrm>
          <a:prstGeom prst="rect">
            <a:avLst/>
          </a:prstGeom>
        </p:spPr>
      </p:pic>
      <p:cxnSp>
        <p:nvCxnSpPr>
          <p:cNvPr id="6" name="Connettore 1 5"/>
          <p:cNvCxnSpPr/>
          <p:nvPr/>
        </p:nvCxnSpPr>
        <p:spPr>
          <a:xfrm flipV="1">
            <a:off x="-12968" y="1484784"/>
            <a:ext cx="9163830" cy="36004"/>
          </a:xfrm>
          <a:prstGeom prst="line">
            <a:avLst/>
          </a:prstGeom>
          <a:ln w="571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Connettore 1 6"/>
          <p:cNvCxnSpPr/>
          <p:nvPr/>
        </p:nvCxnSpPr>
        <p:spPr>
          <a:xfrm flipV="1">
            <a:off x="-19830" y="1655186"/>
            <a:ext cx="9163830" cy="36004"/>
          </a:xfrm>
          <a:prstGeom prst="line">
            <a:avLst/>
          </a:prstGeom>
          <a:ln w="571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Connettore 1 7"/>
          <p:cNvCxnSpPr/>
          <p:nvPr/>
        </p:nvCxnSpPr>
        <p:spPr>
          <a:xfrm flipV="1">
            <a:off x="-19830" y="1844824"/>
            <a:ext cx="9163830" cy="36004"/>
          </a:xfrm>
          <a:prstGeom prst="line">
            <a:avLst/>
          </a:prstGeom>
          <a:ln w="571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Rettangolo 1"/>
          <p:cNvSpPr/>
          <p:nvPr/>
        </p:nvSpPr>
        <p:spPr>
          <a:xfrm>
            <a:off x="107504" y="1973441"/>
            <a:ext cx="8928992" cy="483209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it-IT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Punto 4.F - Record Linkage con Machine Learning - </a:t>
            </a:r>
            <a:r>
              <a:rPr lang="it-IT" sz="20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Dedupe</a:t>
            </a:r>
            <a:endParaRPr lang="it-IT" sz="20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ctr"/>
            <a:endParaRPr lang="it-IT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42900" indent="-342900">
              <a:buFont typeface="+mj-lt"/>
              <a:buAutoNum type="arabicPeriod"/>
            </a:pPr>
            <a:r>
              <a:rPr lang="it-IT" b="1" dirty="0"/>
              <a:t>Automazione tramite Active Learning Simulato:</a:t>
            </a:r>
            <a:r>
              <a:rPr lang="it-IT" dirty="0"/>
              <a:t> Per sfruttare la libreria </a:t>
            </a:r>
            <a:r>
              <a:rPr lang="it-IT" dirty="0" err="1"/>
              <a:t>Dedupe</a:t>
            </a:r>
            <a:r>
              <a:rPr lang="it-IT" dirty="0"/>
              <a:t> il modello è stato addestrato iniettando direttamente un sottoinsieme della </a:t>
            </a:r>
            <a:r>
              <a:rPr lang="it-IT" i="1" dirty="0"/>
              <a:t>Ground Truth</a:t>
            </a:r>
            <a:r>
              <a:rPr lang="it-IT" dirty="0"/>
              <a:t> (~50 coppie). </a:t>
            </a:r>
          </a:p>
          <a:p>
            <a:pPr marL="342900" indent="-342900">
              <a:buFont typeface="+mj-lt"/>
              <a:buAutoNum type="arabicPeriod"/>
            </a:pPr>
            <a:endParaRPr lang="it-IT" dirty="0"/>
          </a:p>
          <a:p>
            <a:pPr marL="342900" indent="-342900">
              <a:buFont typeface="+mj-lt"/>
              <a:buAutoNum type="arabicPeriod"/>
            </a:pPr>
            <a:r>
              <a:rPr lang="it-IT" b="1" dirty="0"/>
              <a:t>Costruzione e Bilanciamento del Training Set: </a:t>
            </a:r>
            <a:r>
              <a:rPr lang="it-IT" dirty="0"/>
              <a:t>Affinché il classificatore potesse apprendere correttamente la frontiera di decisione, la Ground Truth (composta da soli </a:t>
            </a:r>
            <a:r>
              <a:rPr lang="it-IT" b="1" dirty="0"/>
              <a:t>Positivi</a:t>
            </a:r>
            <a:r>
              <a:rPr lang="it-IT" dirty="0"/>
              <a:t> estratti per intersezione esatta) è stata integrata dinamicamente con esempi controfattuali tramite: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it-IT" b="1" dirty="0"/>
              <a:t>Random Negative Sampling:</a:t>
            </a:r>
            <a:r>
              <a:rPr lang="it-IT" dirty="0"/>
              <a:t> Generazione iterativa di coppie casuali cross-dataset per simulare i </a:t>
            </a:r>
            <a:r>
              <a:rPr lang="it-IT" i="1" dirty="0"/>
              <a:t>Non-Match</a:t>
            </a:r>
            <a:r>
              <a:rPr lang="it-IT" dirty="0"/>
              <a:t>.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it-IT" b="1" dirty="0"/>
              <a:t>Validazione Deterministica:</a:t>
            </a:r>
            <a:r>
              <a:rPr lang="it-IT" dirty="0"/>
              <a:t> Applicazione di un controllo rigoroso </a:t>
            </a:r>
            <a:r>
              <a:rPr lang="it-IT" i="1" dirty="0"/>
              <a:t>(vin1 != vin2) </a:t>
            </a:r>
            <a:r>
              <a:rPr lang="it-IT" dirty="0"/>
              <a:t>su ogni coppia negativa generata.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it-IT" b="1" dirty="0"/>
              <a:t>Bilanciamento delle Classi:</a:t>
            </a:r>
            <a:r>
              <a:rPr lang="it-IT" dirty="0"/>
              <a:t> Raggiungimento di un rapporto </a:t>
            </a:r>
            <a:r>
              <a:rPr lang="it-IT" b="1" dirty="0"/>
              <a:t>1:1</a:t>
            </a:r>
            <a:r>
              <a:rPr lang="it-IT" dirty="0"/>
              <a:t> (50% Match, 50% Non-Match) essenziale per prevenire fenomeni di </a:t>
            </a:r>
            <a:r>
              <a:rPr lang="it-IT" i="1" dirty="0" err="1"/>
              <a:t>Bias</a:t>
            </a:r>
            <a:r>
              <a:rPr lang="it-IT" dirty="0"/>
              <a:t> e </a:t>
            </a:r>
            <a:r>
              <a:rPr lang="it-IT" i="1" dirty="0" err="1"/>
              <a:t>Overfitting</a:t>
            </a:r>
            <a:r>
              <a:rPr lang="it-IT" dirty="0"/>
              <a:t> sulla classe maggioritaria.</a:t>
            </a:r>
          </a:p>
        </p:txBody>
      </p:sp>
    </p:spTree>
    <p:extLst>
      <p:ext uri="{BB962C8B-B14F-4D97-AF65-F5344CB8AC3E}">
        <p14:creationId xmlns:p14="http://schemas.microsoft.com/office/powerpoint/2010/main" val="123874430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olo 1"/>
          <p:cNvSpPr txBox="1">
            <a:spLocks/>
          </p:cNvSpPr>
          <p:nvPr/>
        </p:nvSpPr>
        <p:spPr>
          <a:xfrm>
            <a:off x="0" y="0"/>
            <a:ext cx="9144000" cy="1417638"/>
          </a:xfrm>
          <a:prstGeom prst="rect">
            <a:avLst/>
          </a:prstGeom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vert="horz" lIns="91440" tIns="45720" rIns="91440" bIns="45720" rtlCol="0" anchor="ctr">
            <a:normAutofit fontScale="97500"/>
          </a:bodyPr>
          <a:lstStyle>
            <a:lvl1pPr algn="ctr" defTabSz="9144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it-IT" sz="1800" dirty="0" err="1"/>
              <a:t>HomeWork</a:t>
            </a:r>
            <a:r>
              <a:rPr lang="it-IT" sz="1800" dirty="0"/>
              <a:t> 6</a:t>
            </a:r>
            <a:br>
              <a:rPr lang="it-IT" sz="1800" dirty="0"/>
            </a:br>
            <a:r>
              <a:rPr lang="it-IT" sz="1800" dirty="0"/>
              <a:t>Ingegneria dei Dati</a:t>
            </a:r>
            <a:endParaRPr lang="it-IT" sz="3000" dirty="0"/>
          </a:p>
        </p:txBody>
      </p:sp>
      <p:pic>
        <p:nvPicPr>
          <p:cNvPr id="5" name="Immagine 4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9512" y="188640"/>
            <a:ext cx="1645469" cy="1031045"/>
          </a:xfrm>
          <a:prstGeom prst="rect">
            <a:avLst/>
          </a:prstGeom>
        </p:spPr>
      </p:pic>
      <p:cxnSp>
        <p:nvCxnSpPr>
          <p:cNvPr id="6" name="Connettore 1 5"/>
          <p:cNvCxnSpPr/>
          <p:nvPr/>
        </p:nvCxnSpPr>
        <p:spPr>
          <a:xfrm flipV="1">
            <a:off x="-12968" y="1484784"/>
            <a:ext cx="9163830" cy="36004"/>
          </a:xfrm>
          <a:prstGeom prst="line">
            <a:avLst/>
          </a:prstGeom>
          <a:ln w="571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Connettore 1 6"/>
          <p:cNvCxnSpPr/>
          <p:nvPr/>
        </p:nvCxnSpPr>
        <p:spPr>
          <a:xfrm flipV="1">
            <a:off x="-19830" y="1655186"/>
            <a:ext cx="9163830" cy="36004"/>
          </a:xfrm>
          <a:prstGeom prst="line">
            <a:avLst/>
          </a:prstGeom>
          <a:ln w="571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Connettore 1 7"/>
          <p:cNvCxnSpPr/>
          <p:nvPr/>
        </p:nvCxnSpPr>
        <p:spPr>
          <a:xfrm flipV="1">
            <a:off x="-19830" y="1844824"/>
            <a:ext cx="9163830" cy="36004"/>
          </a:xfrm>
          <a:prstGeom prst="line">
            <a:avLst/>
          </a:prstGeom>
          <a:ln w="571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Rettangolo 2"/>
          <p:cNvSpPr/>
          <p:nvPr/>
        </p:nvSpPr>
        <p:spPr>
          <a:xfrm>
            <a:off x="179512" y="2015774"/>
            <a:ext cx="8784976" cy="458587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it-IT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4.G - Record Linkage con Deep Learning - Ditto</a:t>
            </a:r>
          </a:p>
          <a:p>
            <a:pPr algn="ctr"/>
            <a:endParaRPr lang="it-IT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it-IT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1. Architettura e Vantaggio Semantico</a:t>
            </a:r>
            <a:endParaRPr lang="it-IT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it-IT" dirty="0">
                <a:latin typeface="Times New Roman" panose="02020603050405020304" pitchFamily="18" charset="0"/>
                <a:cs typeface="Times New Roman" panose="02020603050405020304" pitchFamily="18" charset="0"/>
              </a:rPr>
              <a:t>Utilizzo di un approccio basato su reti neurali profonde e architettura </a:t>
            </a:r>
            <a:r>
              <a:rPr lang="it-IT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Transformer </a:t>
            </a:r>
            <a:r>
              <a:rPr lang="it-IT" dirty="0">
                <a:latin typeface="Times New Roman" panose="02020603050405020304" pitchFamily="18" charset="0"/>
                <a:cs typeface="Times New Roman" panose="02020603050405020304" pitchFamily="18" charset="0"/>
              </a:rPr>
              <a:t>(BERT): il modello non calcola semplici distanze tra stringhe, ma apprende il </a:t>
            </a:r>
            <a:r>
              <a:rPr lang="it-IT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significato semantico</a:t>
            </a:r>
            <a:r>
              <a:rPr lang="it-IT" dirty="0">
                <a:latin typeface="Times New Roman" panose="02020603050405020304" pitchFamily="18" charset="0"/>
                <a:cs typeface="Times New Roman" panose="02020603050405020304" pitchFamily="18" charset="0"/>
              </a:rPr>
              <a:t> e il contesto, gestendo nativamente sinonimi, acronimi e dati eterogenei.</a:t>
            </a:r>
          </a:p>
          <a:p>
            <a:endParaRPr lang="it-IT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it-IT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2. Serializzazione dei Record</a:t>
            </a:r>
            <a:endParaRPr lang="it-IT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it-IT" dirty="0">
                <a:latin typeface="Times New Roman" panose="02020603050405020304" pitchFamily="18" charset="0"/>
                <a:cs typeface="Times New Roman" panose="02020603050405020304" pitchFamily="18" charset="0"/>
              </a:rPr>
              <a:t>Trasformazione dei dati tabulari in sequenze testuali continue; con l’utilizzo di token speciali (COL e VAL) per preservare la struttura dello schema (es. </a:t>
            </a:r>
            <a:r>
              <a:rPr lang="it-IT" dirty="0">
                <a:latin typeface="Courier New" panose="02070309020205020404" pitchFamily="49" charset="0"/>
                <a:cs typeface="Courier New" panose="02070309020205020404" pitchFamily="49" charset="0"/>
              </a:rPr>
              <a:t>COL make VAL </a:t>
            </a:r>
            <a:r>
              <a:rPr lang="it-IT" dirty="0" err="1">
                <a:latin typeface="Courier New" panose="02070309020205020404" pitchFamily="49" charset="0"/>
                <a:cs typeface="Courier New" panose="02070309020205020404" pitchFamily="49" charset="0"/>
              </a:rPr>
              <a:t>ford</a:t>
            </a:r>
            <a:r>
              <a:rPr lang="it-IT" dirty="0">
                <a:latin typeface="Courier New" panose="02070309020205020404" pitchFamily="49" charset="0"/>
                <a:cs typeface="Courier New" panose="02070309020205020404" pitchFamily="49" charset="0"/>
              </a:rPr>
              <a:t> COL model VAL fiesta</a:t>
            </a:r>
            <a:r>
              <a:rPr lang="it-IT" dirty="0">
                <a:latin typeface="Times New Roman" panose="02020603050405020304" pitchFamily="18" charset="0"/>
                <a:cs typeface="Times New Roman" panose="02020603050405020304" pitchFamily="18" charset="0"/>
              </a:rPr>
              <a:t>).</a:t>
            </a:r>
          </a:p>
          <a:p>
            <a:endParaRPr lang="it-IT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it-IT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3. Classificazione e Fine-Tuning</a:t>
            </a:r>
            <a:endParaRPr lang="it-IT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it-IT" dirty="0">
                <a:latin typeface="Times New Roman" panose="02020603050405020304" pitchFamily="18" charset="0"/>
                <a:cs typeface="Times New Roman" panose="02020603050405020304" pitchFamily="18" charset="0"/>
              </a:rPr>
              <a:t>Il problema è stato trattato come classificazione binaria di sequenze (1:</a:t>
            </a:r>
            <a:r>
              <a:rPr lang="it-IT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Match</a:t>
            </a:r>
            <a:r>
              <a:rPr lang="it-IT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0:</a:t>
            </a:r>
            <a:r>
              <a:rPr lang="it-IT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Non-Match</a:t>
            </a:r>
            <a:r>
              <a:rPr lang="it-IT" dirty="0">
                <a:latin typeface="Times New Roman" panose="02020603050405020304" pitchFamily="18" charset="0"/>
                <a:cs typeface="Times New Roman" panose="02020603050405020304" pitchFamily="18" charset="0"/>
              </a:rPr>
              <a:t>). Il modello è stato poi specializzato tramite </a:t>
            </a:r>
            <a:r>
              <a:rPr lang="it-IT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Fine-Tuning</a:t>
            </a:r>
            <a:r>
              <a:rPr lang="it-IT" dirty="0">
                <a:latin typeface="Times New Roman" panose="02020603050405020304" pitchFamily="18" charset="0"/>
                <a:cs typeface="Times New Roman" panose="02020603050405020304" pitchFamily="18" charset="0"/>
              </a:rPr>
              <a:t> su dataset bilanciati al 50%, garantendo un'ottima generalizzazione e prevenendo l'</a:t>
            </a:r>
            <a:r>
              <a:rPr lang="it-IT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overfitting</a:t>
            </a:r>
            <a:r>
              <a:rPr lang="it-IT" dirty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21087128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Tabella 4">
            <a:extLst>
              <a:ext uri="{FF2B5EF4-FFF2-40B4-BE49-F238E27FC236}">
                <a16:creationId xmlns:a16="http://schemas.microsoft.com/office/drawing/2014/main" id="{EFF5ECFB-7658-C894-57ED-E39A5C9621B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81859357"/>
              </p:ext>
            </p:extLst>
          </p:nvPr>
        </p:nvGraphicFramePr>
        <p:xfrm>
          <a:off x="104452" y="2933199"/>
          <a:ext cx="8928990" cy="1097280"/>
        </p:xfrm>
        <a:graphic>
          <a:graphicData uri="http://schemas.openxmlformats.org/drawingml/2006/table">
            <a:tbl>
              <a:tblPr firstRow="1" bandRow="1">
                <a:tableStyleId>{3B4B98B0-60AC-42C2-AFA5-B58CD77FA1E5}</a:tableStyleId>
              </a:tblPr>
              <a:tblGrid>
                <a:gridCol w="1785798">
                  <a:extLst>
                    <a:ext uri="{9D8B030D-6E8A-4147-A177-3AD203B41FA5}">
                      <a16:colId xmlns:a16="http://schemas.microsoft.com/office/drawing/2014/main" val="1434868847"/>
                    </a:ext>
                  </a:extLst>
                </a:gridCol>
                <a:gridCol w="1785798">
                  <a:extLst>
                    <a:ext uri="{9D8B030D-6E8A-4147-A177-3AD203B41FA5}">
                      <a16:colId xmlns:a16="http://schemas.microsoft.com/office/drawing/2014/main" val="4012280520"/>
                    </a:ext>
                  </a:extLst>
                </a:gridCol>
                <a:gridCol w="1785798">
                  <a:extLst>
                    <a:ext uri="{9D8B030D-6E8A-4147-A177-3AD203B41FA5}">
                      <a16:colId xmlns:a16="http://schemas.microsoft.com/office/drawing/2014/main" val="4096111359"/>
                    </a:ext>
                  </a:extLst>
                </a:gridCol>
                <a:gridCol w="1785798">
                  <a:extLst>
                    <a:ext uri="{9D8B030D-6E8A-4147-A177-3AD203B41FA5}">
                      <a16:colId xmlns:a16="http://schemas.microsoft.com/office/drawing/2014/main" val="2008952369"/>
                    </a:ext>
                  </a:extLst>
                </a:gridCol>
                <a:gridCol w="1785798">
                  <a:extLst>
                    <a:ext uri="{9D8B030D-6E8A-4147-A177-3AD203B41FA5}">
                      <a16:colId xmlns:a16="http://schemas.microsoft.com/office/drawing/2014/main" val="90177759"/>
                    </a:ext>
                  </a:extLst>
                </a:gridCol>
              </a:tblGrid>
              <a:tr h="144016">
                <a:tc>
                  <a:txBody>
                    <a:bodyPr/>
                    <a:lstStyle/>
                    <a:p>
                      <a:r>
                        <a:rPr lang="it-IT" dirty="0"/>
                        <a:t>Record Linkage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Precision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Recall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F1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Time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2646263"/>
                  </a:ext>
                </a:extLst>
              </a:tr>
              <a:tr h="144016">
                <a:tc>
                  <a:txBody>
                    <a:bodyPr/>
                    <a:lstStyle/>
                    <a:p>
                      <a:r>
                        <a:rPr lang="it-IT" dirty="0" err="1"/>
                        <a:t>Blocking</a:t>
                      </a:r>
                      <a:r>
                        <a:rPr lang="it-IT" dirty="0"/>
                        <a:t>[Make]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0.06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0.95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0.11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2.765s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36650602"/>
                  </a:ext>
                </a:extLst>
              </a:tr>
              <a:tr h="144016">
                <a:tc>
                  <a:txBody>
                    <a:bodyPr/>
                    <a:lstStyle/>
                    <a:p>
                      <a:r>
                        <a:rPr lang="it-IT" dirty="0" err="1"/>
                        <a:t>Blocking</a:t>
                      </a:r>
                      <a:r>
                        <a:rPr lang="it-IT" dirty="0"/>
                        <a:t>[</a:t>
                      </a:r>
                      <a:r>
                        <a:rPr lang="it-IT" dirty="0" err="1"/>
                        <a:t>Year</a:t>
                      </a:r>
                      <a:r>
                        <a:rPr lang="it-IT" dirty="0"/>
                        <a:t>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0.06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0.95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0.12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2.390s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66640319"/>
                  </a:ext>
                </a:extLst>
              </a:tr>
            </a:tbl>
          </a:graphicData>
        </a:graphic>
      </p:graphicFrame>
      <p:sp>
        <p:nvSpPr>
          <p:cNvPr id="6" name="Titolo 1">
            <a:extLst>
              <a:ext uri="{FF2B5EF4-FFF2-40B4-BE49-F238E27FC236}">
                <a16:creationId xmlns:a16="http://schemas.microsoft.com/office/drawing/2014/main" id="{A86F142A-A333-F487-0A99-CD80CD545634}"/>
              </a:ext>
            </a:extLst>
          </p:cNvPr>
          <p:cNvSpPr txBox="1">
            <a:spLocks/>
          </p:cNvSpPr>
          <p:nvPr/>
        </p:nvSpPr>
        <p:spPr>
          <a:xfrm>
            <a:off x="0" y="0"/>
            <a:ext cx="9144000" cy="1417638"/>
          </a:xfrm>
          <a:prstGeom prst="rect">
            <a:avLst/>
          </a:prstGeom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vert="horz" lIns="91440" tIns="45720" rIns="91440" bIns="45720" rtlCol="0" anchor="ctr">
            <a:normAutofit fontScale="97500"/>
          </a:bodyPr>
          <a:lstStyle>
            <a:lvl1pPr algn="ctr" defTabSz="9144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it-IT" sz="1800" dirty="0" err="1"/>
              <a:t>HomeWork</a:t>
            </a:r>
            <a:r>
              <a:rPr lang="it-IT" sz="1800" dirty="0"/>
              <a:t> 6</a:t>
            </a:r>
            <a:br>
              <a:rPr lang="it-IT" sz="1800" dirty="0"/>
            </a:br>
            <a:r>
              <a:rPr lang="it-IT" sz="1800" dirty="0"/>
              <a:t>Ingegneria dei Dati</a:t>
            </a:r>
            <a:endParaRPr lang="it-IT" sz="3000" dirty="0"/>
          </a:p>
        </p:txBody>
      </p:sp>
      <p:cxnSp>
        <p:nvCxnSpPr>
          <p:cNvPr id="7" name="Connettore 1 5">
            <a:extLst>
              <a:ext uri="{FF2B5EF4-FFF2-40B4-BE49-F238E27FC236}">
                <a16:creationId xmlns:a16="http://schemas.microsoft.com/office/drawing/2014/main" id="{DCEA2033-8AC4-4D89-F89C-97592AC7D286}"/>
              </a:ext>
            </a:extLst>
          </p:cNvPr>
          <p:cNvCxnSpPr/>
          <p:nvPr/>
        </p:nvCxnSpPr>
        <p:spPr>
          <a:xfrm flipV="1">
            <a:off x="-12968" y="1484784"/>
            <a:ext cx="9163830" cy="36004"/>
          </a:xfrm>
          <a:prstGeom prst="line">
            <a:avLst/>
          </a:prstGeom>
          <a:ln w="571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Connettore 1 6">
            <a:extLst>
              <a:ext uri="{FF2B5EF4-FFF2-40B4-BE49-F238E27FC236}">
                <a16:creationId xmlns:a16="http://schemas.microsoft.com/office/drawing/2014/main" id="{C82C7216-2DBE-E5DA-63B9-0523DC3C0993}"/>
              </a:ext>
            </a:extLst>
          </p:cNvPr>
          <p:cNvCxnSpPr/>
          <p:nvPr/>
        </p:nvCxnSpPr>
        <p:spPr>
          <a:xfrm flipV="1">
            <a:off x="-19830" y="1655186"/>
            <a:ext cx="9163830" cy="36004"/>
          </a:xfrm>
          <a:prstGeom prst="line">
            <a:avLst/>
          </a:prstGeom>
          <a:ln w="571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Connettore 1 7">
            <a:extLst>
              <a:ext uri="{FF2B5EF4-FFF2-40B4-BE49-F238E27FC236}">
                <a16:creationId xmlns:a16="http://schemas.microsoft.com/office/drawing/2014/main" id="{E1996EB9-DA29-A07D-3073-1221CAF8229D}"/>
              </a:ext>
            </a:extLst>
          </p:cNvPr>
          <p:cNvCxnSpPr/>
          <p:nvPr/>
        </p:nvCxnSpPr>
        <p:spPr>
          <a:xfrm flipV="1">
            <a:off x="-19830" y="1844824"/>
            <a:ext cx="9163830" cy="36004"/>
          </a:xfrm>
          <a:prstGeom prst="line">
            <a:avLst/>
          </a:prstGeom>
          <a:ln w="571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CasellaDiTesto 9">
            <a:extLst>
              <a:ext uri="{FF2B5EF4-FFF2-40B4-BE49-F238E27FC236}">
                <a16:creationId xmlns:a16="http://schemas.microsoft.com/office/drawing/2014/main" id="{01481559-BF9D-3842-CE25-06D84AEA8FF4}"/>
              </a:ext>
            </a:extLst>
          </p:cNvPr>
          <p:cNvSpPr txBox="1"/>
          <p:nvPr/>
        </p:nvSpPr>
        <p:spPr>
          <a:xfrm>
            <a:off x="97589" y="2021176"/>
            <a:ext cx="8928992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it-IT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Punto 4.H - Valutazione prestazioni Record Linkage, </a:t>
            </a:r>
            <a:r>
              <a:rPr lang="it-IT" sz="20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Dedupe</a:t>
            </a:r>
            <a:r>
              <a:rPr lang="it-IT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e Ditto [Campionato]</a:t>
            </a:r>
          </a:p>
        </p:txBody>
      </p:sp>
      <p:graphicFrame>
        <p:nvGraphicFramePr>
          <p:cNvPr id="11" name="Tabella 10">
            <a:extLst>
              <a:ext uri="{FF2B5EF4-FFF2-40B4-BE49-F238E27FC236}">
                <a16:creationId xmlns:a16="http://schemas.microsoft.com/office/drawing/2014/main" id="{B5C16A16-0FF5-FE7C-CAF6-8382CB6787C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65519327"/>
              </p:ext>
            </p:extLst>
          </p:nvPr>
        </p:nvGraphicFramePr>
        <p:xfrm>
          <a:off x="97589" y="4223949"/>
          <a:ext cx="8928990" cy="1097280"/>
        </p:xfrm>
        <a:graphic>
          <a:graphicData uri="http://schemas.openxmlformats.org/drawingml/2006/table">
            <a:tbl>
              <a:tblPr firstRow="1" bandRow="1">
                <a:tableStyleId>{3B4B98B0-60AC-42C2-AFA5-B58CD77FA1E5}</a:tableStyleId>
              </a:tblPr>
              <a:tblGrid>
                <a:gridCol w="1810115">
                  <a:extLst>
                    <a:ext uri="{9D8B030D-6E8A-4147-A177-3AD203B41FA5}">
                      <a16:colId xmlns:a16="http://schemas.microsoft.com/office/drawing/2014/main" val="1434868847"/>
                    </a:ext>
                  </a:extLst>
                </a:gridCol>
                <a:gridCol w="1166215">
                  <a:extLst>
                    <a:ext uri="{9D8B030D-6E8A-4147-A177-3AD203B41FA5}">
                      <a16:colId xmlns:a16="http://schemas.microsoft.com/office/drawing/2014/main" val="4012280520"/>
                    </a:ext>
                  </a:extLst>
                </a:gridCol>
                <a:gridCol w="1488165">
                  <a:extLst>
                    <a:ext uri="{9D8B030D-6E8A-4147-A177-3AD203B41FA5}">
                      <a16:colId xmlns:a16="http://schemas.microsoft.com/office/drawing/2014/main" val="4096111359"/>
                    </a:ext>
                  </a:extLst>
                </a:gridCol>
                <a:gridCol w="1488165">
                  <a:extLst>
                    <a:ext uri="{9D8B030D-6E8A-4147-A177-3AD203B41FA5}">
                      <a16:colId xmlns:a16="http://schemas.microsoft.com/office/drawing/2014/main" val="2008952369"/>
                    </a:ext>
                  </a:extLst>
                </a:gridCol>
                <a:gridCol w="1488165">
                  <a:extLst>
                    <a:ext uri="{9D8B030D-6E8A-4147-A177-3AD203B41FA5}">
                      <a16:colId xmlns:a16="http://schemas.microsoft.com/office/drawing/2014/main" val="90177759"/>
                    </a:ext>
                  </a:extLst>
                </a:gridCol>
                <a:gridCol w="1488165">
                  <a:extLst>
                    <a:ext uri="{9D8B030D-6E8A-4147-A177-3AD203B41FA5}">
                      <a16:colId xmlns:a16="http://schemas.microsoft.com/office/drawing/2014/main" val="2154672777"/>
                    </a:ext>
                  </a:extLst>
                </a:gridCol>
              </a:tblGrid>
              <a:tr h="144016">
                <a:tc>
                  <a:txBody>
                    <a:bodyPr/>
                    <a:lstStyle/>
                    <a:p>
                      <a:r>
                        <a:rPr lang="it-IT" dirty="0" err="1"/>
                        <a:t>Dedupe</a:t>
                      </a:r>
                      <a:endParaRPr lang="it-IT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Precision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Recall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F1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Training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 err="1"/>
                        <a:t>Inference</a:t>
                      </a:r>
                      <a:endParaRPr lang="it-IT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2646263"/>
                  </a:ext>
                </a:extLst>
              </a:tr>
              <a:tr h="144016">
                <a:tc>
                  <a:txBody>
                    <a:bodyPr/>
                    <a:lstStyle/>
                    <a:p>
                      <a:r>
                        <a:rPr lang="it-IT" dirty="0" err="1"/>
                        <a:t>Blocking</a:t>
                      </a:r>
                      <a:r>
                        <a:rPr lang="it-IT" dirty="0"/>
                        <a:t>[Make]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0.15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0.70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0.24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2.765s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234.584s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36650602"/>
                  </a:ext>
                </a:extLst>
              </a:tr>
              <a:tr h="144016">
                <a:tc>
                  <a:txBody>
                    <a:bodyPr/>
                    <a:lstStyle/>
                    <a:p>
                      <a:r>
                        <a:rPr lang="it-IT" dirty="0" err="1"/>
                        <a:t>Blocking</a:t>
                      </a:r>
                      <a:r>
                        <a:rPr lang="it-IT" dirty="0"/>
                        <a:t>[</a:t>
                      </a:r>
                      <a:r>
                        <a:rPr lang="it-IT" dirty="0" err="1"/>
                        <a:t>Year</a:t>
                      </a:r>
                      <a:r>
                        <a:rPr lang="it-IT" dirty="0"/>
                        <a:t>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0.15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0.71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0.24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2.390s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206.089s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66640319"/>
                  </a:ext>
                </a:extLst>
              </a:tr>
            </a:tbl>
          </a:graphicData>
        </a:graphic>
      </p:graphicFrame>
      <p:graphicFrame>
        <p:nvGraphicFramePr>
          <p:cNvPr id="13" name="Tabella 12">
            <a:extLst>
              <a:ext uri="{FF2B5EF4-FFF2-40B4-BE49-F238E27FC236}">
                <a16:creationId xmlns:a16="http://schemas.microsoft.com/office/drawing/2014/main" id="{35FD29DC-E100-FDA5-65DA-4AB2B24471E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73715234"/>
              </p:ext>
            </p:extLst>
          </p:nvPr>
        </p:nvGraphicFramePr>
        <p:xfrm>
          <a:off x="84178" y="5535373"/>
          <a:ext cx="8928990" cy="1097280"/>
        </p:xfrm>
        <a:graphic>
          <a:graphicData uri="http://schemas.openxmlformats.org/drawingml/2006/table">
            <a:tbl>
              <a:tblPr firstRow="1" bandRow="1">
                <a:tableStyleId>{3B4B98B0-60AC-42C2-AFA5-B58CD77FA1E5}</a:tableStyleId>
              </a:tblPr>
              <a:tblGrid>
                <a:gridCol w="1810115">
                  <a:extLst>
                    <a:ext uri="{9D8B030D-6E8A-4147-A177-3AD203B41FA5}">
                      <a16:colId xmlns:a16="http://schemas.microsoft.com/office/drawing/2014/main" val="1434868847"/>
                    </a:ext>
                  </a:extLst>
                </a:gridCol>
                <a:gridCol w="1166215">
                  <a:extLst>
                    <a:ext uri="{9D8B030D-6E8A-4147-A177-3AD203B41FA5}">
                      <a16:colId xmlns:a16="http://schemas.microsoft.com/office/drawing/2014/main" val="4012280520"/>
                    </a:ext>
                  </a:extLst>
                </a:gridCol>
                <a:gridCol w="1488165">
                  <a:extLst>
                    <a:ext uri="{9D8B030D-6E8A-4147-A177-3AD203B41FA5}">
                      <a16:colId xmlns:a16="http://schemas.microsoft.com/office/drawing/2014/main" val="4096111359"/>
                    </a:ext>
                  </a:extLst>
                </a:gridCol>
                <a:gridCol w="1488165">
                  <a:extLst>
                    <a:ext uri="{9D8B030D-6E8A-4147-A177-3AD203B41FA5}">
                      <a16:colId xmlns:a16="http://schemas.microsoft.com/office/drawing/2014/main" val="2008952369"/>
                    </a:ext>
                  </a:extLst>
                </a:gridCol>
                <a:gridCol w="1488165">
                  <a:extLst>
                    <a:ext uri="{9D8B030D-6E8A-4147-A177-3AD203B41FA5}">
                      <a16:colId xmlns:a16="http://schemas.microsoft.com/office/drawing/2014/main" val="90177759"/>
                    </a:ext>
                  </a:extLst>
                </a:gridCol>
                <a:gridCol w="1488165">
                  <a:extLst>
                    <a:ext uri="{9D8B030D-6E8A-4147-A177-3AD203B41FA5}">
                      <a16:colId xmlns:a16="http://schemas.microsoft.com/office/drawing/2014/main" val="2154672777"/>
                    </a:ext>
                  </a:extLst>
                </a:gridCol>
              </a:tblGrid>
              <a:tr h="144016">
                <a:tc>
                  <a:txBody>
                    <a:bodyPr/>
                    <a:lstStyle/>
                    <a:p>
                      <a:r>
                        <a:rPr lang="it-IT" dirty="0"/>
                        <a:t>Ditto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Precision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Recall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F1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Training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 err="1"/>
                        <a:t>Inference</a:t>
                      </a:r>
                      <a:endParaRPr lang="it-IT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2646263"/>
                  </a:ext>
                </a:extLst>
              </a:tr>
              <a:tr h="144016">
                <a:tc>
                  <a:txBody>
                    <a:bodyPr/>
                    <a:lstStyle/>
                    <a:p>
                      <a:r>
                        <a:rPr lang="it-IT" dirty="0" err="1"/>
                        <a:t>Blocking</a:t>
                      </a:r>
                      <a:r>
                        <a:rPr lang="it-IT" dirty="0"/>
                        <a:t>[Make]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0.973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0.881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0.9251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10m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94.0s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36650602"/>
                  </a:ext>
                </a:extLst>
              </a:tr>
              <a:tr h="144016">
                <a:tc>
                  <a:txBody>
                    <a:bodyPr/>
                    <a:lstStyle/>
                    <a:p>
                      <a:r>
                        <a:rPr lang="it-IT" dirty="0" err="1"/>
                        <a:t>Blocking</a:t>
                      </a:r>
                      <a:r>
                        <a:rPr lang="it-IT" dirty="0"/>
                        <a:t>[</a:t>
                      </a:r>
                      <a:r>
                        <a:rPr lang="it-IT" dirty="0" err="1"/>
                        <a:t>Year</a:t>
                      </a:r>
                      <a:r>
                        <a:rPr lang="it-IT" dirty="0"/>
                        <a:t>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0.973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0.881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0.9251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10m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94.0s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66640319"/>
                  </a:ext>
                </a:extLst>
              </a:tr>
            </a:tbl>
          </a:graphicData>
        </a:graphic>
      </p:graphicFrame>
      <p:pic>
        <p:nvPicPr>
          <p:cNvPr id="15" name="Immagine 14">
            <a:extLst>
              <a:ext uri="{FF2B5EF4-FFF2-40B4-BE49-F238E27FC236}">
                <a16:creationId xmlns:a16="http://schemas.microsoft.com/office/drawing/2014/main" id="{46366528-4579-AD8C-5102-4E2BEA89014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9512" y="188640"/>
            <a:ext cx="1645469" cy="1031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5046474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1095D5-1B30-121B-6E54-890E24B248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Tabella 4">
            <a:extLst>
              <a:ext uri="{FF2B5EF4-FFF2-40B4-BE49-F238E27FC236}">
                <a16:creationId xmlns:a16="http://schemas.microsoft.com/office/drawing/2014/main" id="{B268A30E-32E2-EDDC-BAE3-6298AB445EB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38159859"/>
              </p:ext>
            </p:extLst>
          </p:nvPr>
        </p:nvGraphicFramePr>
        <p:xfrm>
          <a:off x="104452" y="2933199"/>
          <a:ext cx="8928990" cy="1097280"/>
        </p:xfrm>
        <a:graphic>
          <a:graphicData uri="http://schemas.openxmlformats.org/drawingml/2006/table">
            <a:tbl>
              <a:tblPr firstRow="1" bandRow="1">
                <a:tableStyleId>{3B4B98B0-60AC-42C2-AFA5-B58CD77FA1E5}</a:tableStyleId>
              </a:tblPr>
              <a:tblGrid>
                <a:gridCol w="1785798">
                  <a:extLst>
                    <a:ext uri="{9D8B030D-6E8A-4147-A177-3AD203B41FA5}">
                      <a16:colId xmlns:a16="http://schemas.microsoft.com/office/drawing/2014/main" val="1434868847"/>
                    </a:ext>
                  </a:extLst>
                </a:gridCol>
                <a:gridCol w="1785798">
                  <a:extLst>
                    <a:ext uri="{9D8B030D-6E8A-4147-A177-3AD203B41FA5}">
                      <a16:colId xmlns:a16="http://schemas.microsoft.com/office/drawing/2014/main" val="4012280520"/>
                    </a:ext>
                  </a:extLst>
                </a:gridCol>
                <a:gridCol w="1785798">
                  <a:extLst>
                    <a:ext uri="{9D8B030D-6E8A-4147-A177-3AD203B41FA5}">
                      <a16:colId xmlns:a16="http://schemas.microsoft.com/office/drawing/2014/main" val="4096111359"/>
                    </a:ext>
                  </a:extLst>
                </a:gridCol>
                <a:gridCol w="1785798">
                  <a:extLst>
                    <a:ext uri="{9D8B030D-6E8A-4147-A177-3AD203B41FA5}">
                      <a16:colId xmlns:a16="http://schemas.microsoft.com/office/drawing/2014/main" val="2008952369"/>
                    </a:ext>
                  </a:extLst>
                </a:gridCol>
                <a:gridCol w="1785798">
                  <a:extLst>
                    <a:ext uri="{9D8B030D-6E8A-4147-A177-3AD203B41FA5}">
                      <a16:colId xmlns:a16="http://schemas.microsoft.com/office/drawing/2014/main" val="90177759"/>
                    </a:ext>
                  </a:extLst>
                </a:gridCol>
              </a:tblGrid>
              <a:tr h="144016">
                <a:tc>
                  <a:txBody>
                    <a:bodyPr/>
                    <a:lstStyle/>
                    <a:p>
                      <a:r>
                        <a:rPr lang="it-IT" dirty="0"/>
                        <a:t>Record Linkage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Precision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Recall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F1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Time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2646263"/>
                  </a:ext>
                </a:extLst>
              </a:tr>
              <a:tr h="144016">
                <a:tc>
                  <a:txBody>
                    <a:bodyPr/>
                    <a:lstStyle/>
                    <a:p>
                      <a:r>
                        <a:rPr lang="it-IT" dirty="0" err="1"/>
                        <a:t>Blocking</a:t>
                      </a:r>
                      <a:r>
                        <a:rPr lang="it-IT" dirty="0"/>
                        <a:t>[Make]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0.04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0.94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0.07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9.204s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36650602"/>
                  </a:ext>
                </a:extLst>
              </a:tr>
              <a:tr h="144016">
                <a:tc>
                  <a:txBody>
                    <a:bodyPr/>
                    <a:lstStyle/>
                    <a:p>
                      <a:r>
                        <a:rPr lang="it-IT" dirty="0" err="1"/>
                        <a:t>Blocking</a:t>
                      </a:r>
                      <a:r>
                        <a:rPr lang="it-IT" dirty="0"/>
                        <a:t>[</a:t>
                      </a:r>
                      <a:r>
                        <a:rPr lang="it-IT" dirty="0" err="1"/>
                        <a:t>Year</a:t>
                      </a:r>
                      <a:r>
                        <a:rPr lang="it-IT" dirty="0"/>
                        <a:t>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0.04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0.94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0.07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9.084s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66640319"/>
                  </a:ext>
                </a:extLst>
              </a:tr>
            </a:tbl>
          </a:graphicData>
        </a:graphic>
      </p:graphicFrame>
      <p:sp>
        <p:nvSpPr>
          <p:cNvPr id="6" name="Titolo 1">
            <a:extLst>
              <a:ext uri="{FF2B5EF4-FFF2-40B4-BE49-F238E27FC236}">
                <a16:creationId xmlns:a16="http://schemas.microsoft.com/office/drawing/2014/main" id="{1768EABF-29EC-8DFF-77F6-19CEE409D9AA}"/>
              </a:ext>
            </a:extLst>
          </p:cNvPr>
          <p:cNvSpPr txBox="1">
            <a:spLocks/>
          </p:cNvSpPr>
          <p:nvPr/>
        </p:nvSpPr>
        <p:spPr>
          <a:xfrm>
            <a:off x="0" y="0"/>
            <a:ext cx="9144000" cy="1417638"/>
          </a:xfrm>
          <a:prstGeom prst="rect">
            <a:avLst/>
          </a:prstGeom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vert="horz" lIns="91440" tIns="45720" rIns="91440" bIns="45720" rtlCol="0" anchor="ctr">
            <a:normAutofit fontScale="97500"/>
          </a:bodyPr>
          <a:lstStyle>
            <a:lvl1pPr algn="ctr" defTabSz="9144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it-IT" sz="1800" dirty="0" err="1"/>
              <a:t>HomeWork</a:t>
            </a:r>
            <a:r>
              <a:rPr lang="it-IT" sz="1800" dirty="0"/>
              <a:t> 6</a:t>
            </a:r>
            <a:br>
              <a:rPr lang="it-IT" sz="1800" dirty="0"/>
            </a:br>
            <a:r>
              <a:rPr lang="it-IT" sz="1800" dirty="0"/>
              <a:t>Ingegneria dei Dati</a:t>
            </a:r>
            <a:endParaRPr lang="it-IT" sz="3000" dirty="0"/>
          </a:p>
        </p:txBody>
      </p:sp>
      <p:cxnSp>
        <p:nvCxnSpPr>
          <p:cNvPr id="7" name="Connettore 1 5">
            <a:extLst>
              <a:ext uri="{FF2B5EF4-FFF2-40B4-BE49-F238E27FC236}">
                <a16:creationId xmlns:a16="http://schemas.microsoft.com/office/drawing/2014/main" id="{B8345DE8-E923-FB1D-99AF-71D834C11E30}"/>
              </a:ext>
            </a:extLst>
          </p:cNvPr>
          <p:cNvCxnSpPr/>
          <p:nvPr/>
        </p:nvCxnSpPr>
        <p:spPr>
          <a:xfrm flipV="1">
            <a:off x="-12968" y="1484784"/>
            <a:ext cx="9163830" cy="36004"/>
          </a:xfrm>
          <a:prstGeom prst="line">
            <a:avLst/>
          </a:prstGeom>
          <a:ln w="571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Connettore 1 6">
            <a:extLst>
              <a:ext uri="{FF2B5EF4-FFF2-40B4-BE49-F238E27FC236}">
                <a16:creationId xmlns:a16="http://schemas.microsoft.com/office/drawing/2014/main" id="{DE6D47A1-5AB5-C96D-ECEB-DF427E830C5D}"/>
              </a:ext>
            </a:extLst>
          </p:cNvPr>
          <p:cNvCxnSpPr/>
          <p:nvPr/>
        </p:nvCxnSpPr>
        <p:spPr>
          <a:xfrm flipV="1">
            <a:off x="-19830" y="1655186"/>
            <a:ext cx="9163830" cy="36004"/>
          </a:xfrm>
          <a:prstGeom prst="line">
            <a:avLst/>
          </a:prstGeom>
          <a:ln w="571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Connettore 1 7">
            <a:extLst>
              <a:ext uri="{FF2B5EF4-FFF2-40B4-BE49-F238E27FC236}">
                <a16:creationId xmlns:a16="http://schemas.microsoft.com/office/drawing/2014/main" id="{72F79D4A-1850-1750-C4BF-648F04D3484E}"/>
              </a:ext>
            </a:extLst>
          </p:cNvPr>
          <p:cNvCxnSpPr/>
          <p:nvPr/>
        </p:nvCxnSpPr>
        <p:spPr>
          <a:xfrm flipV="1">
            <a:off x="-19830" y="1844824"/>
            <a:ext cx="9163830" cy="36004"/>
          </a:xfrm>
          <a:prstGeom prst="line">
            <a:avLst/>
          </a:prstGeom>
          <a:ln w="571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CasellaDiTesto 9">
            <a:extLst>
              <a:ext uri="{FF2B5EF4-FFF2-40B4-BE49-F238E27FC236}">
                <a16:creationId xmlns:a16="http://schemas.microsoft.com/office/drawing/2014/main" id="{FEBCA68E-2356-8685-8CE4-8EEB5D3EE6DA}"/>
              </a:ext>
            </a:extLst>
          </p:cNvPr>
          <p:cNvSpPr txBox="1"/>
          <p:nvPr/>
        </p:nvSpPr>
        <p:spPr>
          <a:xfrm>
            <a:off x="97589" y="2021176"/>
            <a:ext cx="8928992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it-IT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Punto 4.H - Valutazione prestazioni Record Linkage, </a:t>
            </a:r>
            <a:r>
              <a:rPr lang="it-IT" sz="20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Dedupe</a:t>
            </a:r>
            <a:r>
              <a:rPr lang="it-IT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e Ditto</a:t>
            </a:r>
          </a:p>
          <a:p>
            <a:pPr algn="ctr"/>
            <a:r>
              <a:rPr lang="it-IT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[Non Campionato]</a:t>
            </a:r>
          </a:p>
        </p:txBody>
      </p:sp>
      <p:graphicFrame>
        <p:nvGraphicFramePr>
          <p:cNvPr id="11" name="Tabella 10">
            <a:extLst>
              <a:ext uri="{FF2B5EF4-FFF2-40B4-BE49-F238E27FC236}">
                <a16:creationId xmlns:a16="http://schemas.microsoft.com/office/drawing/2014/main" id="{A28743AC-661A-FDF5-887E-C87A92F2B0C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41874130"/>
              </p:ext>
            </p:extLst>
          </p:nvPr>
        </p:nvGraphicFramePr>
        <p:xfrm>
          <a:off x="97589" y="4223949"/>
          <a:ext cx="8928990" cy="1097280"/>
        </p:xfrm>
        <a:graphic>
          <a:graphicData uri="http://schemas.openxmlformats.org/drawingml/2006/table">
            <a:tbl>
              <a:tblPr firstRow="1" bandRow="1">
                <a:tableStyleId>{3B4B98B0-60AC-42C2-AFA5-B58CD77FA1E5}</a:tableStyleId>
              </a:tblPr>
              <a:tblGrid>
                <a:gridCol w="1810115">
                  <a:extLst>
                    <a:ext uri="{9D8B030D-6E8A-4147-A177-3AD203B41FA5}">
                      <a16:colId xmlns:a16="http://schemas.microsoft.com/office/drawing/2014/main" val="1434868847"/>
                    </a:ext>
                  </a:extLst>
                </a:gridCol>
                <a:gridCol w="1166215">
                  <a:extLst>
                    <a:ext uri="{9D8B030D-6E8A-4147-A177-3AD203B41FA5}">
                      <a16:colId xmlns:a16="http://schemas.microsoft.com/office/drawing/2014/main" val="4012280520"/>
                    </a:ext>
                  </a:extLst>
                </a:gridCol>
                <a:gridCol w="1488165">
                  <a:extLst>
                    <a:ext uri="{9D8B030D-6E8A-4147-A177-3AD203B41FA5}">
                      <a16:colId xmlns:a16="http://schemas.microsoft.com/office/drawing/2014/main" val="4096111359"/>
                    </a:ext>
                  </a:extLst>
                </a:gridCol>
                <a:gridCol w="1488165">
                  <a:extLst>
                    <a:ext uri="{9D8B030D-6E8A-4147-A177-3AD203B41FA5}">
                      <a16:colId xmlns:a16="http://schemas.microsoft.com/office/drawing/2014/main" val="2008952369"/>
                    </a:ext>
                  </a:extLst>
                </a:gridCol>
                <a:gridCol w="1488165">
                  <a:extLst>
                    <a:ext uri="{9D8B030D-6E8A-4147-A177-3AD203B41FA5}">
                      <a16:colId xmlns:a16="http://schemas.microsoft.com/office/drawing/2014/main" val="90177759"/>
                    </a:ext>
                  </a:extLst>
                </a:gridCol>
                <a:gridCol w="1488165">
                  <a:extLst>
                    <a:ext uri="{9D8B030D-6E8A-4147-A177-3AD203B41FA5}">
                      <a16:colId xmlns:a16="http://schemas.microsoft.com/office/drawing/2014/main" val="2154672777"/>
                    </a:ext>
                  </a:extLst>
                </a:gridCol>
              </a:tblGrid>
              <a:tr h="144016">
                <a:tc>
                  <a:txBody>
                    <a:bodyPr/>
                    <a:lstStyle/>
                    <a:p>
                      <a:r>
                        <a:rPr lang="it-IT" dirty="0" err="1"/>
                        <a:t>Dedupe</a:t>
                      </a:r>
                      <a:endParaRPr lang="it-IT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Precision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Recall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F1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Training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 err="1"/>
                        <a:t>Inference</a:t>
                      </a:r>
                      <a:endParaRPr lang="it-IT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2646263"/>
                  </a:ext>
                </a:extLst>
              </a:tr>
              <a:tr h="144016">
                <a:tc>
                  <a:txBody>
                    <a:bodyPr/>
                    <a:lstStyle/>
                    <a:p>
                      <a:r>
                        <a:rPr lang="it-IT" dirty="0" err="1"/>
                        <a:t>Blocking</a:t>
                      </a:r>
                      <a:r>
                        <a:rPr lang="it-IT" dirty="0"/>
                        <a:t>[Make]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0.12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0.57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0.20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8.80s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134.556s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36650602"/>
                  </a:ext>
                </a:extLst>
              </a:tr>
              <a:tr h="144016">
                <a:tc>
                  <a:txBody>
                    <a:bodyPr/>
                    <a:lstStyle/>
                    <a:p>
                      <a:r>
                        <a:rPr lang="it-IT" dirty="0" err="1"/>
                        <a:t>Blocking</a:t>
                      </a:r>
                      <a:r>
                        <a:rPr lang="it-IT" dirty="0"/>
                        <a:t>[</a:t>
                      </a:r>
                      <a:r>
                        <a:rPr lang="it-IT" dirty="0" err="1"/>
                        <a:t>Year</a:t>
                      </a:r>
                      <a:r>
                        <a:rPr lang="it-IT" dirty="0"/>
                        <a:t>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0.12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0.57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0.20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8.80s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151.238s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66640319"/>
                  </a:ext>
                </a:extLst>
              </a:tr>
            </a:tbl>
          </a:graphicData>
        </a:graphic>
      </p:graphicFrame>
      <p:graphicFrame>
        <p:nvGraphicFramePr>
          <p:cNvPr id="2" name="Tabella 1">
            <a:extLst>
              <a:ext uri="{FF2B5EF4-FFF2-40B4-BE49-F238E27FC236}">
                <a16:creationId xmlns:a16="http://schemas.microsoft.com/office/drawing/2014/main" id="{3991EC3A-D696-2689-574C-3715AB3023F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56708174"/>
              </p:ext>
            </p:extLst>
          </p:nvPr>
        </p:nvGraphicFramePr>
        <p:xfrm>
          <a:off x="84178" y="5535373"/>
          <a:ext cx="8928990" cy="1097280"/>
        </p:xfrm>
        <a:graphic>
          <a:graphicData uri="http://schemas.openxmlformats.org/drawingml/2006/table">
            <a:tbl>
              <a:tblPr firstRow="1" bandRow="1">
                <a:tableStyleId>{3B4B98B0-60AC-42C2-AFA5-B58CD77FA1E5}</a:tableStyleId>
              </a:tblPr>
              <a:tblGrid>
                <a:gridCol w="1810115">
                  <a:extLst>
                    <a:ext uri="{9D8B030D-6E8A-4147-A177-3AD203B41FA5}">
                      <a16:colId xmlns:a16="http://schemas.microsoft.com/office/drawing/2014/main" val="1434868847"/>
                    </a:ext>
                  </a:extLst>
                </a:gridCol>
                <a:gridCol w="1166215">
                  <a:extLst>
                    <a:ext uri="{9D8B030D-6E8A-4147-A177-3AD203B41FA5}">
                      <a16:colId xmlns:a16="http://schemas.microsoft.com/office/drawing/2014/main" val="4012280520"/>
                    </a:ext>
                  </a:extLst>
                </a:gridCol>
                <a:gridCol w="1488165">
                  <a:extLst>
                    <a:ext uri="{9D8B030D-6E8A-4147-A177-3AD203B41FA5}">
                      <a16:colId xmlns:a16="http://schemas.microsoft.com/office/drawing/2014/main" val="4096111359"/>
                    </a:ext>
                  </a:extLst>
                </a:gridCol>
                <a:gridCol w="1488165">
                  <a:extLst>
                    <a:ext uri="{9D8B030D-6E8A-4147-A177-3AD203B41FA5}">
                      <a16:colId xmlns:a16="http://schemas.microsoft.com/office/drawing/2014/main" val="2008952369"/>
                    </a:ext>
                  </a:extLst>
                </a:gridCol>
                <a:gridCol w="1488165">
                  <a:extLst>
                    <a:ext uri="{9D8B030D-6E8A-4147-A177-3AD203B41FA5}">
                      <a16:colId xmlns:a16="http://schemas.microsoft.com/office/drawing/2014/main" val="90177759"/>
                    </a:ext>
                  </a:extLst>
                </a:gridCol>
                <a:gridCol w="1488165">
                  <a:extLst>
                    <a:ext uri="{9D8B030D-6E8A-4147-A177-3AD203B41FA5}">
                      <a16:colId xmlns:a16="http://schemas.microsoft.com/office/drawing/2014/main" val="2154672777"/>
                    </a:ext>
                  </a:extLst>
                </a:gridCol>
              </a:tblGrid>
              <a:tr h="144016">
                <a:tc>
                  <a:txBody>
                    <a:bodyPr/>
                    <a:lstStyle/>
                    <a:p>
                      <a:r>
                        <a:rPr lang="it-IT" dirty="0"/>
                        <a:t>Ditto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Precision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Recall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F1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Training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 err="1"/>
                        <a:t>Inference</a:t>
                      </a:r>
                      <a:endParaRPr lang="it-IT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2646263"/>
                  </a:ext>
                </a:extLst>
              </a:tr>
              <a:tr h="144016">
                <a:tc>
                  <a:txBody>
                    <a:bodyPr/>
                    <a:lstStyle/>
                    <a:p>
                      <a:r>
                        <a:rPr lang="it-IT" dirty="0" err="1"/>
                        <a:t>Blocking</a:t>
                      </a:r>
                      <a:r>
                        <a:rPr lang="it-IT" dirty="0"/>
                        <a:t>[Make]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0.973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0.881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0.9251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10m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94.0s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36650602"/>
                  </a:ext>
                </a:extLst>
              </a:tr>
              <a:tr h="144016">
                <a:tc>
                  <a:txBody>
                    <a:bodyPr/>
                    <a:lstStyle/>
                    <a:p>
                      <a:r>
                        <a:rPr lang="it-IT" dirty="0" err="1"/>
                        <a:t>Blocking</a:t>
                      </a:r>
                      <a:r>
                        <a:rPr lang="it-IT" dirty="0"/>
                        <a:t>[</a:t>
                      </a:r>
                      <a:r>
                        <a:rPr lang="it-IT" dirty="0" err="1"/>
                        <a:t>Year</a:t>
                      </a:r>
                      <a:r>
                        <a:rPr lang="it-IT" dirty="0"/>
                        <a:t>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0.973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0.881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0.9251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10m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94.0s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66640319"/>
                  </a:ext>
                </a:extLst>
              </a:tr>
            </a:tbl>
          </a:graphicData>
        </a:graphic>
      </p:graphicFrame>
      <p:pic>
        <p:nvPicPr>
          <p:cNvPr id="3" name="Immagine 2">
            <a:extLst>
              <a:ext uri="{FF2B5EF4-FFF2-40B4-BE49-F238E27FC236}">
                <a16:creationId xmlns:a16="http://schemas.microsoft.com/office/drawing/2014/main" id="{D50804CF-4BC8-A7B0-2790-ACB434F3AE42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9512" y="188640"/>
            <a:ext cx="1645469" cy="1031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4693723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olo 1"/>
          <p:cNvSpPr txBox="1">
            <a:spLocks/>
          </p:cNvSpPr>
          <p:nvPr/>
        </p:nvSpPr>
        <p:spPr>
          <a:xfrm>
            <a:off x="0" y="0"/>
            <a:ext cx="9144000" cy="1417638"/>
          </a:xfrm>
          <a:prstGeom prst="rect">
            <a:avLst/>
          </a:prstGeom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vert="horz" lIns="91440" tIns="45720" rIns="91440" bIns="45720" rtlCol="0" anchor="ctr">
            <a:normAutofit fontScale="97500"/>
          </a:bodyPr>
          <a:lstStyle>
            <a:lvl1pPr algn="ctr" defTabSz="9144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it-IT" sz="1800" dirty="0" err="1"/>
              <a:t>HomeWork</a:t>
            </a:r>
            <a:r>
              <a:rPr lang="it-IT" sz="1800" dirty="0"/>
              <a:t> 6</a:t>
            </a:r>
            <a:br>
              <a:rPr lang="it-IT" sz="1800" dirty="0"/>
            </a:br>
            <a:r>
              <a:rPr lang="it-IT" sz="1800" dirty="0"/>
              <a:t>Ingegneria dei Dati</a:t>
            </a:r>
            <a:endParaRPr lang="it-IT" sz="3000" dirty="0"/>
          </a:p>
        </p:txBody>
      </p:sp>
      <p:pic>
        <p:nvPicPr>
          <p:cNvPr id="5" name="Immagine 4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9512" y="188640"/>
            <a:ext cx="1645469" cy="1031045"/>
          </a:xfrm>
          <a:prstGeom prst="rect">
            <a:avLst/>
          </a:prstGeom>
        </p:spPr>
      </p:pic>
      <p:cxnSp>
        <p:nvCxnSpPr>
          <p:cNvPr id="6" name="Connettore 1 5"/>
          <p:cNvCxnSpPr/>
          <p:nvPr/>
        </p:nvCxnSpPr>
        <p:spPr>
          <a:xfrm flipV="1">
            <a:off x="-12968" y="1484784"/>
            <a:ext cx="9163830" cy="36004"/>
          </a:xfrm>
          <a:prstGeom prst="line">
            <a:avLst/>
          </a:prstGeom>
          <a:ln w="571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Connettore 1 6"/>
          <p:cNvCxnSpPr/>
          <p:nvPr/>
        </p:nvCxnSpPr>
        <p:spPr>
          <a:xfrm flipV="1">
            <a:off x="-19830" y="1655186"/>
            <a:ext cx="9163830" cy="36004"/>
          </a:xfrm>
          <a:prstGeom prst="line">
            <a:avLst/>
          </a:prstGeom>
          <a:ln w="571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Connettore 1 7"/>
          <p:cNvCxnSpPr/>
          <p:nvPr/>
        </p:nvCxnSpPr>
        <p:spPr>
          <a:xfrm flipV="1">
            <a:off x="-19830" y="1844824"/>
            <a:ext cx="9163830" cy="36004"/>
          </a:xfrm>
          <a:prstGeom prst="line">
            <a:avLst/>
          </a:prstGeom>
          <a:ln w="571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Rettangolo 2"/>
          <p:cNvSpPr/>
          <p:nvPr/>
        </p:nvSpPr>
        <p:spPr>
          <a:xfrm>
            <a:off x="179512" y="2132856"/>
            <a:ext cx="8856984" cy="458587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it-IT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Conclusioni: L'Efficacia di Ditto nel Record Linkage</a:t>
            </a:r>
          </a:p>
          <a:p>
            <a:pPr algn="ctr"/>
            <a:endParaRPr lang="it-IT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it-IT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Il Vantaggio Semantico (Deep Learning vs. Regole Classiche)</a:t>
            </a:r>
          </a:p>
          <a:p>
            <a:r>
              <a:rPr lang="it-IT" dirty="0">
                <a:latin typeface="Times New Roman" panose="02020603050405020304" pitchFamily="18" charset="0"/>
                <a:cs typeface="Times New Roman" panose="02020603050405020304" pitchFamily="18" charset="0"/>
              </a:rPr>
              <a:t>Sfruttando un Language Model, Ditto comprende il contesto e la semantica dei dati (es. acronimi, varianti negli allestimenti), superando i limiti strutturali delle metriche di distanza classiche come </a:t>
            </a:r>
            <a:r>
              <a:rPr lang="it-IT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Jaro</a:t>
            </a:r>
            <a:r>
              <a:rPr lang="it-IT" dirty="0">
                <a:latin typeface="Times New Roman" panose="02020603050405020304" pitchFamily="18" charset="0"/>
                <a:cs typeface="Times New Roman" panose="02020603050405020304" pitchFamily="18" charset="0"/>
              </a:rPr>
              <a:t>-Winkler.</a:t>
            </a:r>
          </a:p>
          <a:p>
            <a:endParaRPr lang="it-IT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it-IT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Sinergia tra Modello e Qualità del Dato</a:t>
            </a:r>
            <a:r>
              <a:rPr lang="it-IT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</a:p>
          <a:p>
            <a:r>
              <a:rPr lang="it-IT" dirty="0">
                <a:latin typeface="Times New Roman" panose="02020603050405020304" pitchFamily="18" charset="0"/>
                <a:cs typeface="Times New Roman" panose="02020603050405020304" pitchFamily="18" charset="0"/>
              </a:rPr>
              <a:t>Le prestazioni del modello sono supportate da una rigorosa pipeline di data </a:t>
            </a:r>
            <a:r>
              <a:rPr lang="it-IT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preparation</a:t>
            </a:r>
            <a:r>
              <a:rPr lang="it-IT" dirty="0">
                <a:latin typeface="Times New Roman" panose="02020603050405020304" pitchFamily="18" charset="0"/>
                <a:cs typeface="Times New Roman" panose="02020603050405020304" pitchFamily="18" charset="0"/>
              </a:rPr>
              <a:t>: applicazione di </a:t>
            </a:r>
            <a:r>
              <a:rPr lang="it-IT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Smart Filtering</a:t>
            </a:r>
            <a:r>
              <a:rPr lang="it-IT" dirty="0">
                <a:latin typeface="Times New Roman" panose="02020603050405020304" pitchFamily="18" charset="0"/>
                <a:cs typeface="Times New Roman" panose="02020603050405020304" pitchFamily="18" charset="0"/>
              </a:rPr>
              <a:t> (rimozione rumore e nulli) e </a:t>
            </a:r>
            <a:r>
              <a:rPr lang="it-IT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Random Negative Sampling </a:t>
            </a:r>
            <a:r>
              <a:rPr lang="it-IT" dirty="0">
                <a:latin typeface="Times New Roman" panose="02020603050405020304" pitchFamily="18" charset="0"/>
                <a:cs typeface="Times New Roman" panose="02020603050405020304" pitchFamily="18" charset="0"/>
              </a:rPr>
              <a:t>bilanciato per un addestramento privo di </a:t>
            </a:r>
            <a:r>
              <a:rPr lang="it-IT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bias</a:t>
            </a:r>
            <a:r>
              <a:rPr lang="it-IT" dirty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  <a:p>
            <a:endParaRPr lang="it-IT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it-IT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Valutazione Finale</a:t>
            </a:r>
            <a:r>
              <a:rPr lang="it-IT" dirty="0">
                <a:latin typeface="Times New Roman" panose="02020603050405020304" pitchFamily="18" charset="0"/>
                <a:cs typeface="Times New Roman" panose="02020603050405020304" pitchFamily="18" charset="0"/>
              </a:rPr>
              <a:t> In scenari complessi caratterizzati da dati eterogenei (User </a:t>
            </a:r>
            <a:r>
              <a:rPr lang="it-IT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Generated</a:t>
            </a:r>
            <a:r>
              <a:rPr lang="it-IT" dirty="0">
                <a:latin typeface="Times New Roman" panose="02020603050405020304" pitchFamily="18" charset="0"/>
                <a:cs typeface="Times New Roman" panose="02020603050405020304" pitchFamily="18" charset="0"/>
              </a:rPr>
              <a:t> Content di Craigslist vs. dati strutturati), Ditto garantisce metriche di livello industriale (F1 &gt; 0.94), confermandosi la soluzione più robusta per l'integrazione dati in ambito automotive.</a:t>
            </a:r>
          </a:p>
          <a:p>
            <a:endParaRPr lang="it-IT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812069043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i Offic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Tema di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2116</TotalTime>
  <Words>2272</Words>
  <Application>Microsoft Office PowerPoint</Application>
  <PresentationFormat>Presentazione su schermo (4:3)</PresentationFormat>
  <Paragraphs>358</Paragraphs>
  <Slides>15</Slides>
  <Notes>1</Notes>
  <HiddenSlides>0</HiddenSlides>
  <MMClips>0</MMClips>
  <ScaleCrop>false</ScaleCrop>
  <HeadingPairs>
    <vt:vector size="6" baseType="variant">
      <vt:variant>
        <vt:lpstr>Caratteri utilizzati</vt:lpstr>
      </vt:variant>
      <vt:variant>
        <vt:i4>7</vt:i4>
      </vt:variant>
      <vt:variant>
        <vt:lpstr>Tema</vt:lpstr>
      </vt:variant>
      <vt:variant>
        <vt:i4>1</vt:i4>
      </vt:variant>
      <vt:variant>
        <vt:lpstr>Titoli diapositive</vt:lpstr>
      </vt:variant>
      <vt:variant>
        <vt:i4>15</vt:i4>
      </vt:variant>
    </vt:vector>
  </HeadingPairs>
  <TitlesOfParts>
    <vt:vector size="23" baseType="lpstr">
      <vt:lpstr>Aptos</vt:lpstr>
      <vt:lpstr>Arial</vt:lpstr>
      <vt:lpstr>Calibri</vt:lpstr>
      <vt:lpstr>Cambria Math</vt:lpstr>
      <vt:lpstr>Courier New</vt:lpstr>
      <vt:lpstr>Times New Roman</vt:lpstr>
      <vt:lpstr>Wingdings</vt:lpstr>
      <vt:lpstr>Tema di Office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Presentazione standard di PowerPoint</dc:title>
  <dc:creator>DOUGLAS RUFFINI</dc:creator>
  <cp:lastModifiedBy>ALESSANDRO DI MARIO</cp:lastModifiedBy>
  <cp:revision>29</cp:revision>
  <cp:lastPrinted>2026-02-05T20:58:37Z</cp:lastPrinted>
  <dcterms:created xsi:type="dcterms:W3CDTF">2026-02-05T18:31:57Z</dcterms:created>
  <dcterms:modified xsi:type="dcterms:W3CDTF">2026-02-21T13:19:47Z</dcterms:modified>
</cp:coreProperties>
</file>