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80" r:id="rId9"/>
    <p:sldId id="265" r:id="rId10"/>
    <p:sldId id="266" r:id="rId11"/>
    <p:sldId id="271" r:id="rId12"/>
    <p:sldId id="272" r:id="rId13"/>
    <p:sldId id="273" r:id="rId14"/>
    <p:sldId id="274" r:id="rId15"/>
  </p:sldIdLst>
  <p:sldSz cx="9144000" cy="6858000" type="screen4x3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16/02/2026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9"/>
          <p:cNvSpPr/>
          <p:nvPr/>
        </p:nvSpPr>
        <p:spPr>
          <a:xfrm>
            <a:off x="467544" y="2204864"/>
            <a:ext cx="806489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Titolo:</a:t>
            </a:r>
          </a:p>
          <a:p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Integrazione di Dati Automobilistici da Sorgenti Eterogenee tramite Record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Linkage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Blocking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Modelli di Machine Learning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Corso: 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Ingegneria dei Dati 2025/2026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Homework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Alessandro di Mario 547297, Pietro Barone 579635, Guido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Petrolito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629688, Douglas Ruffini 482379.</a:t>
            </a:r>
          </a:p>
        </p:txBody>
      </p:sp>
    </p:spTree>
    <p:extLst>
      <p:ext uri="{BB962C8B-B14F-4D97-AF65-F5344CB8AC3E}">
        <p14:creationId xmlns:p14="http://schemas.microsoft.com/office/powerpoint/2010/main" val="1611209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/>
          <p:cNvSpPr/>
          <p:nvPr/>
        </p:nvSpPr>
        <p:spPr>
          <a:xfrm>
            <a:off x="179512" y="1880828"/>
            <a:ext cx="85091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Introduzione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Quando più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descrivono entità reali simili (in questo caso automobili usate), ma con schemi differenti, dati rumorosi e rappresentazioni inconsistenti, diventa necessario progettare una pipeline che permetta: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caratterizzazione delle sorgenti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definizione di uno schema mediato 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L’allineamento delle sorgenti allo schema mediato 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L’identificazione dei record che si riferiscono alla stessa entità reale (record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linkage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questo progetto sono state utilizzate due grandi sorgenti pubbliche:</a:t>
            </a:r>
          </a:p>
          <a:p>
            <a:pPr algn="just"/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Craigslist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Trucks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DatasetUS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L’obiettivo è stato costruire una pipeline sperimentale completa per confrontare diverse strategie di record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linkage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valutandole in termini di Precision,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F1-measure, tempi di training e tempi di inferenza.</a:t>
            </a:r>
          </a:p>
        </p:txBody>
      </p:sp>
    </p:spTree>
    <p:extLst>
      <p:ext uri="{BB962C8B-B14F-4D97-AF65-F5344CB8AC3E}">
        <p14:creationId xmlns:p14="http://schemas.microsoft.com/office/powerpoint/2010/main" val="123874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8F29-F792-BAED-46DF-3B7CFE70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1F0E0D1B-DC7F-80D6-28E6-FA5AEFE8112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43782A5-1D2E-C348-A8FC-838B60CAF3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E99763BE-86F0-8C80-0143-891A728D6DB4}"/>
              </a:ext>
            </a:extLst>
          </p:cNvPr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79658F85-98AA-BFFB-CE5D-EF51C1E0CE99}"/>
              </a:ext>
            </a:extLst>
          </p:cNvPr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ACE540BC-CF63-DBE2-CAC2-5FA01C29D353}"/>
              </a:ext>
            </a:extLst>
          </p:cNvPr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B39D1EF0-5B9E-E49B-619B-0F2F0DF5A258}"/>
              </a:ext>
            </a:extLst>
          </p:cNvPr>
          <p:cNvSpPr/>
          <p:nvPr/>
        </p:nvSpPr>
        <p:spPr>
          <a:xfrm>
            <a:off x="179512" y="1880828"/>
            <a:ext cx="850912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Caratterizzazione delle sorgenti (Punto 1 Homework)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prima fase consiste nell’analisi statistica degli attributi delle due sorgenti. 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Obiettivo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Capire: 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percentuale di valori nulli e stima del numero di valori unici per attributo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L'analisi ha evidenziato che attributi come VIN,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manufacturer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/brand 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hanno una densità informativa elevata (bassa percentuale di nulli).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Attributi descrittivi come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cylinders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presentano in Craigslist un'elevata percentuale di valori mancanti (&gt;30%), suggerendo cautela nel loro utilizzo per il blocco o il confronto rigido.</a:t>
            </a:r>
          </a:p>
        </p:txBody>
      </p:sp>
    </p:spTree>
    <p:extLst>
      <p:ext uri="{BB962C8B-B14F-4D97-AF65-F5344CB8AC3E}">
        <p14:creationId xmlns:p14="http://schemas.microsoft.com/office/powerpoint/2010/main" val="3328190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59838-D724-59D5-4C9B-EB57925DF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1DC847E-F568-B55A-E40D-B2985B2A67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7C7B7E3-E6CE-36FD-85EA-3D9ADC53E9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FEF6990A-FD55-6302-9F42-A323774AEB79}"/>
              </a:ext>
            </a:extLst>
          </p:cNvPr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73B9D425-1015-BF3E-3B49-AC1989B1D35C}"/>
              </a:ext>
            </a:extLst>
          </p:cNvPr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F64BD97-1D6B-1D76-78EB-4133103E1E32}"/>
              </a:ext>
            </a:extLst>
          </p:cNvPr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817F2EC4-CF03-F3EC-CA31-AD545C8EF871}"/>
              </a:ext>
            </a:extLst>
          </p:cNvPr>
          <p:cNvSpPr/>
          <p:nvPr/>
        </p:nvSpPr>
        <p:spPr>
          <a:xfrm>
            <a:off x="179512" y="1880828"/>
            <a:ext cx="850912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Definizione dello Schema Mediato (Punto 2 Homework) 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Dopo l’analisi, è stato definito uno schema logico comune: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MEDIATED_SCHEMA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["vin", "make", "model", "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"price", "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mileage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fuel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"transmission", "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"state", "region"]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Mentre il software farebbe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Automatic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 Matching, l'essere umano esegue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matching manuale. Questo processo si divide in due approcci teorici a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 di come viene costruito lo schema: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Bottom-up: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 dalle sorgenti e costruisci lo schema mediato che le comprenda tutte.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Definisci prima lo schema ideale (mediato) e poi cerchi di capire come "incastrare" le sorgenti esistenti al suo interno.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Nel nostro caso la strategia adottata è stata Top-down.</a:t>
            </a:r>
          </a:p>
        </p:txBody>
      </p:sp>
    </p:spTree>
    <p:extLst>
      <p:ext uri="{BB962C8B-B14F-4D97-AF65-F5344CB8AC3E}">
        <p14:creationId xmlns:p14="http://schemas.microsoft.com/office/powerpoint/2010/main" val="304317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C564C-D337-894C-A4F0-454958DA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F2EB2338-8C72-1144-FA14-9E5141C12F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5D0F8F8-23C0-654A-250C-B119B7328C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2F477E37-2898-CB59-3A91-6CAA4A71D456}"/>
              </a:ext>
            </a:extLst>
          </p:cNvPr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53679BB9-C78E-BEE5-C77F-07747BC401DA}"/>
              </a:ext>
            </a:extLst>
          </p:cNvPr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A02BCD97-DE74-8D3D-6B14-294B847FF678}"/>
              </a:ext>
            </a:extLst>
          </p:cNvPr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C74BABFF-E3AD-81B1-5DBD-779190D8CDFA}"/>
              </a:ext>
            </a:extLst>
          </p:cNvPr>
          <p:cNvSpPr/>
          <p:nvPr/>
        </p:nvSpPr>
        <p:spPr>
          <a:xfrm>
            <a:off x="179512" y="1880828"/>
            <a:ext cx="85091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Allineamento delle sorgenti (Punto 3 Homework)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due sorgenti usano nomi diversi per gli stessi concetti.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Esempio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Questa fase è implementata: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rinomina colonne, aggiunta colonne mancanti, conversioni numeriche,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testuale, pulizia del VIN</a:t>
            </a:r>
          </a:p>
        </p:txBody>
      </p:sp>
      <p:graphicFrame>
        <p:nvGraphicFramePr>
          <p:cNvPr id="3" name="Tabel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195156"/>
              </p:ext>
            </p:extLst>
          </p:nvPr>
        </p:nvGraphicFramePr>
        <p:xfrm>
          <a:off x="1373733" y="2999985"/>
          <a:ext cx="612068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0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0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914"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Craigslist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UsedCars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Mediato</a:t>
                      </a: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4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manufacturer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914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odometer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mileage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mileage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665"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fuel_type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fuel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fuel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320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798BE-E96D-FB9C-13E9-439183B20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4D383A59-0348-F270-48C6-E646C114863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1AF5131-FD09-612F-5200-286AA0A8FE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F0F97311-C965-D573-F80B-DC37114C200E}"/>
              </a:ext>
            </a:extLst>
          </p:cNvPr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CC031F6A-CB92-0C3C-04C5-4A7ADEF805C3}"/>
              </a:ext>
            </a:extLst>
          </p:cNvPr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0C4030A8-F4BD-4FE7-0E21-0A96E16AA02C}"/>
              </a:ext>
            </a:extLst>
          </p:cNvPr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A7AF307C-06C2-E166-19E2-04BB0595C872}"/>
              </a:ext>
            </a:extLst>
          </p:cNvPr>
          <p:cNvSpPr/>
          <p:nvPr/>
        </p:nvSpPr>
        <p:spPr>
          <a:xfrm>
            <a:off x="179512" y="1880828"/>
            <a:ext cx="85091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Costruzione della Ground Truth tramite VIN (Punto 4.A)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VIN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è un identificatore univoco dell’automobile.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 nei dataset sono rumorosi (spazi, simboli, errori).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Soluzione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funzione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clean_vin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rimuove caratteri non alfanumerici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 in maiuscolo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mantiene solo VIN di 17 caratteri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Viene fatto un merge interno sui VIN puliti per ottenere coppie di record che sicuramente si riferiscono alla stessa auto. Questa parte permette di avere una ground truth automatica e affidabile, addestrare modelli ML, e valutare le performance senza annotazione manuale.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Intersezione: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Sono stati identificati 3.959 VIN comuni tra le due sorgenti.</a:t>
            </a:r>
          </a:p>
        </p:txBody>
      </p:sp>
    </p:spTree>
    <p:extLst>
      <p:ext uri="{BB962C8B-B14F-4D97-AF65-F5344CB8AC3E}">
        <p14:creationId xmlns:p14="http://schemas.microsoft.com/office/powerpoint/2010/main" val="421832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549E8-BB80-FBA5-1D20-CB4E1440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AC256CD3-82DD-EE53-FBE7-4A5EFD2B348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604BBF-3E93-09EB-C54E-0C021904B6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C12DB6D4-8FEB-1F4C-D7BD-A89DF19C4D9E}"/>
              </a:ext>
            </a:extLst>
          </p:cNvPr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25E525DC-5096-4BD0-F7BD-5A37E830231D}"/>
              </a:ext>
            </a:extLst>
          </p:cNvPr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B0139043-CED0-5316-0EB7-7EAF488359C8}"/>
              </a:ext>
            </a:extLst>
          </p:cNvPr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C072863C-38B2-7232-23E8-06F8735A49AE}"/>
              </a:ext>
            </a:extLst>
          </p:cNvPr>
          <p:cNvSpPr/>
          <p:nvPr/>
        </p:nvSpPr>
        <p:spPr>
          <a:xfrm>
            <a:off x="179512" y="1880828"/>
            <a:ext cx="85091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Preparazione Dataset (Punto 4.B, 4.C)</a:t>
            </a:r>
          </a:p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Rimozione Vin: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Dopo la costruzione della ground truth il VIN viene rimosso dai dati usati per il record linkage. Questo perché se il modello vedesse il VIN, apprenderebbe banalmente l'uguaglianza VIN_A = VIN_B, ottenendo prestazioni perfette ma irrealistiche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 un attributo identificativo)</a:t>
            </a:r>
          </a:p>
          <a:p>
            <a:endParaRPr lang="it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Ground Truth totale (9.003 coppie incluse le duplicazioni interne o varianti) è stata divisa in: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Train: 60%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Test: 20%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405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763C-6626-C645-5F12-E91F1B84E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949EFBED-33E3-D6C2-404A-9D18B7C71CF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6574AB7-1D62-531C-B512-0E4698DB56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91FBDC4C-87DE-46F3-A27F-92B11509023E}"/>
              </a:ext>
            </a:extLst>
          </p:cNvPr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5F5F346D-1334-0BBD-5BFF-FD4900F27EF5}"/>
              </a:ext>
            </a:extLst>
          </p:cNvPr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597B8447-6C73-A10B-A2DC-DBEA5841CE28}"/>
              </a:ext>
            </a:extLst>
          </p:cNvPr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1E208072-CA5D-BDB8-0CB0-DB0EBC259E11}"/>
              </a:ext>
            </a:extLst>
          </p:cNvPr>
          <p:cNvSpPr/>
          <p:nvPr/>
        </p:nvSpPr>
        <p:spPr>
          <a:xfrm>
            <a:off x="179512" y="1880828"/>
            <a:ext cx="85091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 di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Blocking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(Punto 4.D)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ridurre lo spazio di ricerca (prodotto cartesiano troppo oneroso), sono state definite due strategie: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 (Standard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Blocco esatto sull'attributo make.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Analisi: Ha generato X coppie candidate. Recall Max: 1.00 (cattura tutte le vere corrispondenze).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Finestra di dimensione 1 sull'attributo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Analisi: Ha generato Y coppie candidate. Recall Max: 1.00.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Entrambe le strategie sono eccellenti in termini di copertura (Recall), ma lasciano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passare molti falsi positivi che il modello di matching deve filtrare.</a:t>
            </a:r>
          </a:p>
        </p:txBody>
      </p:sp>
    </p:spTree>
    <p:extLst>
      <p:ext uri="{BB962C8B-B14F-4D97-AF65-F5344CB8AC3E}">
        <p14:creationId xmlns:p14="http://schemas.microsoft.com/office/powerpoint/2010/main" val="1511725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/>
          <p:cNvSpPr/>
          <p:nvPr/>
        </p:nvSpPr>
        <p:spPr>
          <a:xfrm>
            <a:off x="179512" y="2132856"/>
            <a:ext cx="84249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Linkage Rule-Based (Punto 4.E)</a:t>
            </a:r>
          </a:p>
          <a:p>
            <a:r>
              <a:rPr lang="it-IT" dirty="0"/>
              <a:t>Sono state implementate e confrontate due strategie mediante una regola deterministica basata su:</a:t>
            </a:r>
          </a:p>
          <a:p>
            <a:r>
              <a:rPr lang="it-IT" dirty="0"/>
              <a:t> </a:t>
            </a:r>
          </a:p>
          <a:p>
            <a:pPr algn="ctr"/>
            <a:r>
              <a:rPr lang="it-IT" i="1" u="sng" dirty="0"/>
              <a:t>Strategie di Campionamento e Hard </a:t>
            </a:r>
            <a:r>
              <a:rPr lang="it-IT" i="1" u="sng" dirty="0" err="1"/>
              <a:t>Negatives</a:t>
            </a:r>
            <a:endParaRPr lang="it-IT" dirty="0"/>
          </a:p>
          <a:p>
            <a:pPr algn="ctr"/>
            <a:r>
              <a:rPr lang="it-IT" i="1" u="sng" dirty="0"/>
              <a:t>Campionamento Stratificato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i="1" u="sng" dirty="0"/>
              <a:t>Hard </a:t>
            </a:r>
            <a:r>
              <a:rPr lang="it-IT" i="1" u="sng" dirty="0" err="1"/>
              <a:t>Negatives</a:t>
            </a:r>
            <a:r>
              <a:rPr lang="it-IT" i="1" u="sng" dirty="0"/>
              <a:t> (Campionamento Critico)</a:t>
            </a:r>
            <a:endParaRPr lang="en-US" dirty="0"/>
          </a:p>
          <a:p>
            <a:pPr algn="ctr"/>
            <a:r>
              <a:rPr lang="it-IT" i="1" u="sng" dirty="0"/>
              <a:t>Bilanciamento delle Classi</a:t>
            </a:r>
          </a:p>
          <a:p>
            <a:pPr algn="ctr"/>
            <a:endParaRPr lang="it-IT" i="1" u="sng" dirty="0"/>
          </a:p>
          <a:p>
            <a:r>
              <a:rPr lang="it-IT" b="1" dirty="0"/>
              <a:t>Record </a:t>
            </a:r>
            <a:r>
              <a:rPr lang="it-IT" b="1" dirty="0" err="1"/>
              <a:t>Linkage</a:t>
            </a:r>
            <a:r>
              <a:rPr lang="it-IT" b="1" dirty="0"/>
              <a:t> non campionato</a:t>
            </a:r>
          </a:p>
          <a:p>
            <a:r>
              <a:rPr lang="it-IT" b="1" dirty="0"/>
              <a:t>RL-B1 | P=0.04 R=0.94 F1=0.07 Time=9.204s</a:t>
            </a:r>
            <a:endParaRPr lang="it-IT" i="1" u="sng" dirty="0"/>
          </a:p>
          <a:p>
            <a:r>
              <a:rPr lang="it-IT" b="1" dirty="0"/>
              <a:t>RL-B2 | P=0.04 R=0.94 F1=0.07 Time=9.084s</a:t>
            </a:r>
            <a:endParaRPr lang="it-IT" i="1" u="sng" dirty="0"/>
          </a:p>
          <a:p>
            <a:pPr algn="ctr"/>
            <a:endParaRPr lang="it-IT" i="1" u="sng" dirty="0"/>
          </a:p>
          <a:p>
            <a:r>
              <a:rPr lang="it-IT" b="1" dirty="0"/>
              <a:t>Record </a:t>
            </a:r>
            <a:r>
              <a:rPr lang="it-IT" b="1" dirty="0" err="1"/>
              <a:t>Linkage</a:t>
            </a:r>
            <a:r>
              <a:rPr lang="it-IT" b="1" dirty="0"/>
              <a:t> campionato</a:t>
            </a:r>
            <a:endParaRPr lang="it-IT" i="1" u="sng" dirty="0"/>
          </a:p>
          <a:p>
            <a:r>
              <a:rPr lang="it-IT" b="1" dirty="0"/>
              <a:t>RL-B1 | P=0.06 R=0.95 F1=0.11 Time=2.765s</a:t>
            </a:r>
          </a:p>
          <a:p>
            <a:r>
              <a:rPr lang="it-IT" b="1" dirty="0"/>
              <a:t>RL-B2 | P=0.06 R=0.95 F1=0.12 Time=2.390s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8744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/>
          <p:cNvSpPr/>
          <p:nvPr/>
        </p:nvSpPr>
        <p:spPr>
          <a:xfrm>
            <a:off x="205601" y="1887241"/>
            <a:ext cx="871296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Linkage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Machine Learning — </a:t>
            </a:r>
            <a:r>
              <a:rPr lang="it-IT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Dedupe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(Punto 4.F)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 stata utilizzata la libreria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Dedupe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che implementa un apprendimento attivo. Il sistema propone all'utente (o in questo caso, simula tramite la GT) coppie ambigue da etichettare come "match", "non-match" o "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uncertain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Automazione del Training: Invece di etichettare manualmente le coppie (processo lento), il codice utilizza la Ground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Truth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generata al punto 4 per alimentare automaticamente il training set di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Dedupe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Il modello è stato addestrato su un sottoinsieme della Ground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Truth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(circa 50 coppie) per apprendere i pesi relativi dei campi.</a:t>
            </a: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Vantaggio: Il modello apprende autonomamente che, ad esempio, una discrepanza nel campo price è meno grave di una discrepanza nel campo model, assegnando pesi ottimali alle feature.</a:t>
            </a:r>
          </a:p>
          <a:p>
            <a:r>
              <a:rPr lang="it-IT" b="1" dirty="0"/>
              <a:t>Record Linkage non campionato</a:t>
            </a:r>
          </a:p>
          <a:p>
            <a:r>
              <a:rPr lang="pt-BR" b="1" dirty="0"/>
              <a:t>Dedupe-B1 | P=0.12 R=0.57 F1=0.20 Train=8.80s Inf=134.556s</a:t>
            </a:r>
          </a:p>
          <a:p>
            <a:r>
              <a:rPr lang="pt-BR" b="1" dirty="0"/>
              <a:t>Dedupe-B2 | P=0.12 R=0.57 F1=0.20 Train=8.80s Inf=151.238s</a:t>
            </a:r>
            <a:endParaRPr lang="it-IT" i="1" u="sng" dirty="0"/>
          </a:p>
          <a:p>
            <a:r>
              <a:rPr lang="it-IT" b="1" dirty="0"/>
              <a:t>Record Linkage campionato</a:t>
            </a:r>
            <a:endParaRPr lang="it-IT" i="1" u="sng" dirty="0"/>
          </a:p>
          <a:p>
            <a:r>
              <a:rPr lang="pt-BR" b="1" dirty="0"/>
              <a:t>Dedupe-B1 | P=0.15 R=0.70 F1=0.24 Train=14.10s Inf=234.584s</a:t>
            </a:r>
          </a:p>
          <a:p>
            <a:r>
              <a:rPr lang="pt-BR" b="1" dirty="0"/>
              <a:t>Dedupe-B2 | P=0.15 R=0.71 F1=0.24 Train=14.10s Inf=206.089s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8744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/>
          <p:cNvSpPr/>
          <p:nvPr/>
        </p:nvSpPr>
        <p:spPr>
          <a:xfrm>
            <a:off x="277609" y="1914891"/>
            <a:ext cx="8568952" cy="4847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 e Sfide Tecniche (</a:t>
            </a:r>
            <a:r>
              <a:rPr lang="it-I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Ditto</a:t>
            </a: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it-I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it-I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L'implementazione di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Ditto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ambiente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 presentato significative sfide tecniche, risolte come segue:</a:t>
            </a:r>
          </a:p>
          <a:p>
            <a:pPr algn="just"/>
            <a:endParaRPr lang="it-IT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1.Parsing e Formattazione: Il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conteneva tabulazioni extra che corrompevano il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Ditto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È stato necessario applicare una patch al file dataset.py per rendere il caricamento più robusto.</a:t>
            </a:r>
          </a:p>
          <a:p>
            <a:pPr algn="just"/>
            <a:endParaRPr lang="it-IT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2.Incompatibilità Librerie (NVIDIA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Apex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La dipendenza da NVIDIA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Apex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(spesso problematica su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è stata rimossa, adattando il codice per utilizzare l'ottimizzazione nativa di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precisione standard.</a:t>
            </a:r>
          </a:p>
          <a:p>
            <a:pPr algn="just"/>
            <a:endParaRPr lang="it-IT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3.Gestione Memoria GPU (CUDA OOM): Durante il fine-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tuning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 sono verificati errori di Out Of Memory. Il problema è stato risolto riducendo il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batch_size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32 a 16.</a:t>
            </a:r>
          </a:p>
          <a:p>
            <a:pPr algn="just"/>
            <a:endParaRPr lang="it-IT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4.Checkpoint 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Loading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 script di inferenza originale falliva nel caricare i pesi dal checkpoint salvato (che conteneva l'intero stato dell'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È stato modificato lo script matcher.py per estrarre correttamente solo il dizionario dei pesi del modello (</a:t>
            </a:r>
            <a:r>
              <a:rPr lang="it-IT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model.load_state_dict</a:t>
            </a:r>
            <a:r>
              <a:rPr lang="it-IT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0871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8"/>
          <p:cNvSpPr/>
          <p:nvPr/>
        </p:nvSpPr>
        <p:spPr>
          <a:xfrm>
            <a:off x="168290" y="1888591"/>
            <a:ext cx="86409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Valutazione Sperimentale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valutazione è stata condotta su un Test Set separato, garantendo che i modelli non venissero valutati sugli stessi dati usati per il training o la calibrazione.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Esperimento 1: Caricamento campionato Impatto del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(B1 vs B2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Esperimento 2: Caricamento totale Impatto del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(B1 vs B2)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el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367717"/>
              </p:ext>
            </p:extLst>
          </p:nvPr>
        </p:nvGraphicFramePr>
        <p:xfrm>
          <a:off x="370718" y="3501008"/>
          <a:ext cx="4096101" cy="1066800"/>
        </p:xfrm>
        <a:graphic>
          <a:graphicData uri="http://schemas.openxmlformats.org/drawingml/2006/table">
            <a:tbl>
              <a:tblPr firstRow="1" firstCol="1" bandRow="1"/>
              <a:tblGrid>
                <a:gridCol w="68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Pipeline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Precision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Recall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F1-Measure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Training Time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Inference Time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Ditto (B1/B2 indip.)</a:t>
                      </a:r>
                      <a:r>
                        <a:rPr lang="it-IT" sz="10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0.973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0.881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0.9251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~10 min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10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~94.0s</a:t>
                      </a:r>
                      <a:endParaRPr lang="it-IT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el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511723"/>
              </p:ext>
            </p:extLst>
          </p:nvPr>
        </p:nvGraphicFramePr>
        <p:xfrm>
          <a:off x="392669" y="5085184"/>
          <a:ext cx="4096101" cy="914400"/>
        </p:xfrm>
        <a:graphic>
          <a:graphicData uri="http://schemas.openxmlformats.org/drawingml/2006/table">
            <a:tbl>
              <a:tblPr firstRow="1" firstCol="1" bandRow="1"/>
              <a:tblGrid>
                <a:gridCol w="68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Pipeline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Precision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Recall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F1-Measure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Training Time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Inference Time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Ditto (B1/B2 indip.)</a:t>
                      </a:r>
                      <a:r>
                        <a:rPr lang="it-IT" sz="8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0.973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0.881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0.9251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~10 min</a:t>
                      </a:r>
                      <a:endParaRPr lang="it-IT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t-IT" sz="8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~94.0s</a:t>
                      </a:r>
                      <a:endParaRPr lang="it-IT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871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/>
          <p:cNvSpPr/>
          <p:nvPr/>
        </p:nvSpPr>
        <p:spPr>
          <a:xfrm>
            <a:off x="323528" y="2060848"/>
            <a:ext cx="84969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Analisi dei Risultati</a:t>
            </a:r>
          </a:p>
          <a:p>
            <a:endParaRPr lang="it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(FAIR-DA4ER):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Grazie all'uso di un Language Model,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è riuscito a capire il contesto (es. differenze negli allestimenti o nelle descrizioni) che sfuggono alle metriche di distanza classiche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Jaro-Winkler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Sebbene richieda GPU per il training, il tempo di inferenza (~94 secondi) è accettabile considerata l'altissima qualità del risultato.</a:t>
            </a:r>
          </a:p>
          <a:p>
            <a:endParaRPr lang="it-IT" i="1" dirty="0"/>
          </a:p>
          <a:p>
            <a:r>
              <a:rPr lang="it-IT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8428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/>
              <a:t>HomeWork</a:t>
            </a:r>
            <a:r>
              <a:rPr lang="it-IT" sz="1800" dirty="0"/>
              <a:t> 6</a:t>
            </a:r>
            <a:br>
              <a:rPr lang="it-IT" sz="1800" dirty="0"/>
            </a:br>
            <a:r>
              <a:rPr lang="it-IT" sz="1800" dirty="0"/>
              <a:t>Ingegneria dei Dati</a:t>
            </a:r>
            <a:endParaRPr lang="it-IT" sz="3000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6" name="Connettore 1 5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/>
          <p:cNvSpPr/>
          <p:nvPr/>
        </p:nvSpPr>
        <p:spPr>
          <a:xfrm>
            <a:off x="179512" y="2132856"/>
            <a:ext cx="84249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Conclusioni modello campionato</a:t>
            </a:r>
          </a:p>
          <a:p>
            <a:endParaRPr lang="it-I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progetto ha dimostrato che, in scenari di integrazione dati complessi come quello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automotive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dove mancano identificatori forti e i dati sono eterogenei (UGC vs strutturati), l'adozione di modelli basati su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(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supportata da una strategia rigorosa di generazione della Ground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Truth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(Smart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Hard Negative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Mining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ha permesso di raggiungere prestazioni di livello industriale (F1 &gt; 0.94). Nonostante la maggiore complessità implementativa e computazionale,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Ditto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rappresenta l'unica soluzione viabile per garantire l'alta qualità del dato integrato in questo contesto.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0690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1627</Words>
  <Application>Microsoft Office PowerPoint</Application>
  <PresentationFormat>Presentazione su schermo (4:3)</PresentationFormat>
  <Paragraphs>198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DOUGLAS RUFFINI</dc:creator>
  <cp:lastModifiedBy>ALESSANDRO DI MARIO</cp:lastModifiedBy>
  <cp:revision>25</cp:revision>
  <cp:lastPrinted>2026-02-05T20:58:37Z</cp:lastPrinted>
  <dcterms:created xsi:type="dcterms:W3CDTF">2026-02-05T18:31:57Z</dcterms:created>
  <dcterms:modified xsi:type="dcterms:W3CDTF">2026-02-16T18:58:35Z</dcterms:modified>
</cp:coreProperties>
</file>