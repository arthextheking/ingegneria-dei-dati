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88" r:id="rId3"/>
    <p:sldId id="290" r:id="rId4"/>
    <p:sldId id="28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683"/>
    <a:srgbClr val="82B3D9"/>
    <a:srgbClr val="96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166"/>
  </p:normalViewPr>
  <p:slideViewPr>
    <p:cSldViewPr snapToGrid="0" snapToObjects="1">
      <p:cViewPr varScale="1">
        <p:scale>
          <a:sx n="108" d="100"/>
          <a:sy n="108" d="100"/>
        </p:scale>
        <p:origin x="1184" y="192"/>
      </p:cViewPr>
      <p:guideLst/>
    </p:cSldViewPr>
  </p:slideViewPr>
  <p:outlineViewPr>
    <p:cViewPr>
      <p:scale>
        <a:sx n="33" d="100"/>
        <a:sy n="33" d="100"/>
      </p:scale>
      <p:origin x="0" y="-99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FF0F641-D87B-5E4D-A75C-570D466209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3D443D8-5940-014B-8155-E7F4400F32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B6218-4069-6A44-960D-4B7E077799FD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C9FB05-6A95-2642-B534-EDFC6E213B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03B92F-BD03-ED4B-9367-E273E4C257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4A270-FD93-B240-AC91-6016E5C0AD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116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BA147-752D-DB4E-88EB-08B36A378B80}" type="datetimeFigureOut">
              <a:rPr lang="it-IT" smtClean="0"/>
              <a:t>13/11/25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0F04D-5C0F-DA4B-85E2-BF0C9363D6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7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4755F9-81A6-B24A-BA9A-24337A79F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0231F15-836E-0142-A257-8AF75E4AA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venir Next" panose="020B05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Fare clic per modificare lo stile del sottotitolo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1CBDEAE-D954-6746-959D-A4763C94690C}"/>
              </a:ext>
            </a:extLst>
          </p:cNvPr>
          <p:cNvSpPr/>
          <p:nvPr userDrawn="1"/>
        </p:nvSpPr>
        <p:spPr>
          <a:xfrm>
            <a:off x="1524000" y="1127983"/>
            <a:ext cx="9144000" cy="24434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2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8D9EBE-028F-C340-8AFB-A00FDC70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B8559C-52FC-8A4C-A86E-630BA9E4F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venir Next" panose="020B0503020202020204" pitchFamily="34" charset="0"/>
              </a:defRPr>
            </a:lvl1pPr>
            <a:lvl2pPr>
              <a:defRPr>
                <a:latin typeface="Avenir Next" panose="020B0503020202020204" pitchFamily="34" charset="0"/>
              </a:defRPr>
            </a:lvl2pPr>
            <a:lvl3pPr>
              <a:defRPr>
                <a:latin typeface="Avenir Next" panose="020B0503020202020204" pitchFamily="34" charset="0"/>
              </a:defRPr>
            </a:lvl3pPr>
            <a:lvl4pPr>
              <a:defRPr>
                <a:latin typeface="Avenir Next" panose="020B0503020202020204" pitchFamily="34" charset="0"/>
              </a:defRPr>
            </a:lvl4pPr>
            <a:lvl5pPr>
              <a:defRPr>
                <a:latin typeface="Avenir Next" panose="020B0503020202020204" pitchFamily="34" charset="0"/>
              </a:defRPr>
            </a:lvl5pPr>
          </a:lstStyle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A0FED27-284A-5C41-9A03-211ACF13B211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7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6C3F35-E1A2-0B48-9CA1-7F68BC2C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C0070A-762E-2E48-B83C-F4B9A305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3BDF445-D5C7-EA4E-AA88-FE45E1413229}"/>
              </a:ext>
            </a:extLst>
          </p:cNvPr>
          <p:cNvSpPr/>
          <p:nvPr userDrawn="1"/>
        </p:nvSpPr>
        <p:spPr>
          <a:xfrm>
            <a:off x="831850" y="1682750"/>
            <a:ext cx="10515600" cy="440690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8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62DCE8-DE8D-C94E-BC7E-9778D4A3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1E7BDC-0ADF-C144-B510-6B58BC61A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F71F4D-FFC2-2B43-9102-A244D2B6A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146D269-976A-4546-9136-6B5E7C94C37D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23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A31F53-DB22-FA4C-B815-A1AEDC89D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B20BEB-45C3-A44E-8081-A9A03BFF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567D79D-93D9-294C-A79C-249AB41FF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846FD12-9D8F-E24D-9054-3EE403D63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ECBE19B-6C50-A246-B7B5-34238C0F2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AD3AC99-E819-4544-BDF5-FAEF97A95C15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72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AD2EA-9701-8D47-A79A-AD0814DA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CE58A4-1AB2-EE48-B083-29FDF8E26581}"/>
              </a:ext>
            </a:extLst>
          </p:cNvPr>
          <p:cNvSpPr/>
          <p:nvPr userDrawn="1"/>
        </p:nvSpPr>
        <p:spPr>
          <a:xfrm>
            <a:off x="0" y="0"/>
            <a:ext cx="12192000" cy="124968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8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41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BDE83B-CF56-0440-9A06-FF5B65D2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9260E79-F936-8D41-B307-9C5127BFF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1A14CA-2139-3645-BC95-CE0FD2B4C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8DF1B43-C934-D548-9E5D-5870AC2CCD81}"/>
              </a:ext>
            </a:extLst>
          </p:cNvPr>
          <p:cNvSpPr/>
          <p:nvPr userDrawn="1"/>
        </p:nvSpPr>
        <p:spPr>
          <a:xfrm>
            <a:off x="838199" y="457200"/>
            <a:ext cx="3935413" cy="1600200"/>
          </a:xfrm>
          <a:prstGeom prst="rect">
            <a:avLst/>
          </a:prstGeom>
          <a:solidFill>
            <a:schemeClr val="bg1">
              <a:lumMod val="65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9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AFA3FED-15CE-BF48-9AFC-577CC18A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5" y="324980"/>
            <a:ext cx="11323529" cy="71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EDDC49-A0E0-5648-A5A9-17E65FE10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235" y="1465544"/>
            <a:ext cx="11323529" cy="5067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527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venir Next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search/?filter=collections.open_acce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EbqbR7dvK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11BD2A2-3F15-9F44-8219-E0CE813B4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noProof="0" dirty="0" err="1"/>
              <a:t>Ingegneria</a:t>
            </a:r>
            <a:r>
              <a:rPr lang="en-US" sz="4400" noProof="0" dirty="0"/>
              <a:t> </a:t>
            </a:r>
            <a:r>
              <a:rPr lang="en-US" sz="4400" noProof="0" dirty="0" err="1"/>
              <a:t>dei</a:t>
            </a:r>
            <a:r>
              <a:rPr lang="en-US" sz="4400" noProof="0" dirty="0"/>
              <a:t> </a:t>
            </a:r>
            <a:r>
              <a:rPr lang="en-US" sz="4400" noProof="0" dirty="0" err="1"/>
              <a:t>dati</a:t>
            </a:r>
            <a:r>
              <a:rPr lang="en-US" sz="4400" noProof="0" dirty="0"/>
              <a:t> 2025/2026</a:t>
            </a:r>
            <a:br>
              <a:rPr lang="en-US" noProof="0" dirty="0"/>
            </a:br>
            <a:r>
              <a:rPr lang="en-US" dirty="0"/>
              <a:t>Homework 5</a:t>
            </a:r>
            <a:br>
              <a:rPr lang="en-US" dirty="0"/>
            </a:br>
            <a:r>
              <a:rPr lang="en-US" sz="4000" dirty="0"/>
              <a:t>(da </a:t>
            </a:r>
            <a:r>
              <a:rPr lang="en-US" sz="4000" dirty="0" err="1"/>
              <a:t>svolgere</a:t>
            </a:r>
            <a:r>
              <a:rPr lang="en-US" sz="4000" dirty="0"/>
              <a:t> in </a:t>
            </a:r>
            <a:r>
              <a:rPr lang="en-US" sz="4000" dirty="0" err="1"/>
              <a:t>gruppo</a:t>
            </a:r>
            <a:r>
              <a:rPr lang="en-US" sz="4000" dirty="0"/>
              <a:t>)</a:t>
            </a:r>
            <a:endParaRPr lang="en-US" noProof="0" dirty="0"/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E00618CB-BC8E-F445-90EA-C9FBB8381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Paolo </a:t>
            </a:r>
            <a:r>
              <a:rPr lang="en-US" noProof="0" dirty="0" err="1"/>
              <a:t>Merialdo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99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EE80F-CC95-C142-8315-50AF78B4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Homework 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47EB2-20EA-6849-9867-547B3D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35" y="1465544"/>
            <a:ext cx="11583594" cy="506747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it-IT" sz="1600" dirty="0"/>
              <a:t>L’obiettivo del progetto è sviluppare un sistema avanzato di </a:t>
            </a:r>
            <a:r>
              <a:rPr lang="it-IT" sz="1600" i="1" dirty="0" err="1"/>
              <a:t>search</a:t>
            </a:r>
            <a:r>
              <a:rPr lang="it-IT" sz="1600" dirty="0"/>
              <a:t> su articoli scientifici, in cui le tabelle siano trattate come oggetti di prima classe e completamente indicizzabili.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it-IT" sz="1600" b="1" dirty="0"/>
              <a:t>Creazione del corpus di documenti</a:t>
            </a:r>
            <a:r>
              <a:rPr lang="it-IT" sz="1600" dirty="0"/>
              <a:t>. Scrivere uno script per recuperare da </a:t>
            </a:r>
            <a:r>
              <a:rPr lang="it-IT" sz="1600" i="1" dirty="0">
                <a:hlinkClick r:id="rId2"/>
              </a:rPr>
              <a:t>https://arxiv.org</a:t>
            </a:r>
            <a:r>
              <a:rPr lang="it-IT" sz="1600" dirty="0"/>
              <a:t> tutti gli articoli disponibili in formato HTML il cui titolo o abstract contiene la stringa: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it-IT" sz="1200" dirty="0"/>
              <a:t>Gruppi A: </a:t>
            </a:r>
            <a:r>
              <a:rPr lang="it-IT" sz="1200" i="1" dirty="0"/>
              <a:t>“</a:t>
            </a:r>
            <a:r>
              <a:rPr lang="it-IT" sz="1200" i="1" dirty="0" err="1"/>
              <a:t>Entity</a:t>
            </a:r>
            <a:r>
              <a:rPr lang="it-IT" sz="1200" i="1" dirty="0"/>
              <a:t> </a:t>
            </a:r>
            <a:r>
              <a:rPr lang="it-IT" sz="1200" i="1" dirty="0" err="1"/>
              <a:t>resolution</a:t>
            </a:r>
            <a:r>
              <a:rPr lang="it-IT" sz="1200" i="1" dirty="0"/>
              <a:t>” oppure "</a:t>
            </a:r>
            <a:r>
              <a:rPr lang="it-IT" sz="1200" i="1" dirty="0" err="1"/>
              <a:t>Entity</a:t>
            </a:r>
            <a:r>
              <a:rPr lang="it-IT" sz="1200" i="1" dirty="0"/>
              <a:t> matching".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it-IT" sz="1200" dirty="0"/>
              <a:t>Gruppi B: </a:t>
            </a:r>
            <a:r>
              <a:rPr lang="it-IT" sz="1200" i="1" dirty="0"/>
              <a:t>"text-to-</a:t>
            </a:r>
            <a:r>
              <a:rPr lang="it-IT" sz="1200" i="1" dirty="0" err="1"/>
              <a:t>sql</a:t>
            </a:r>
            <a:r>
              <a:rPr lang="it-IT" sz="1200" i="1" dirty="0"/>
              <a:t>"</a:t>
            </a:r>
            <a:r>
              <a:rPr lang="it-IT" sz="1200" dirty="0"/>
              <a:t> oppure "Natural </a:t>
            </a:r>
            <a:r>
              <a:rPr lang="it-IT" sz="1200" dirty="0" err="1"/>
              <a:t>language</a:t>
            </a:r>
            <a:r>
              <a:rPr lang="it-IT" sz="1200" dirty="0"/>
              <a:t> to </a:t>
            </a:r>
            <a:r>
              <a:rPr lang="it-IT" sz="1200" dirty="0" err="1"/>
              <a:t>sql</a:t>
            </a:r>
            <a:r>
              <a:rPr lang="it-IT" sz="1200" dirty="0"/>
              <a:t>" 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it-IT" sz="1200" dirty="0"/>
              <a:t>Gruppi C: "</a:t>
            </a:r>
            <a:r>
              <a:rPr lang="it-IT" sz="1200" i="1" dirty="0" err="1"/>
              <a:t>automatic</a:t>
            </a:r>
            <a:r>
              <a:rPr lang="it-IT" sz="1200" i="1" dirty="0"/>
              <a:t> speech </a:t>
            </a:r>
            <a:r>
              <a:rPr lang="it-IT" sz="1200" i="1" dirty="0" err="1"/>
              <a:t>recognition</a:t>
            </a:r>
            <a:r>
              <a:rPr lang="it-IT" sz="1200" i="1" dirty="0"/>
              <a:t>" oppure "speech to text"</a:t>
            </a:r>
          </a:p>
          <a:p>
            <a:pPr marL="800100" lvl="1" indent="-342900">
              <a:lnSpc>
                <a:spcPct val="120000"/>
              </a:lnSpc>
              <a:buAutoNum type="arabicPeriod"/>
            </a:pPr>
            <a:r>
              <a:rPr lang="it-IT" sz="1200" dirty="0"/>
              <a:t>Gruppi C: </a:t>
            </a:r>
            <a:r>
              <a:rPr lang="it-IT" sz="1200" i="1" dirty="0"/>
              <a:t>"text to speech"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it-IT" sz="1200" i="1" dirty="0"/>
              <a:t>Studenti lavoratori: " Query processing" oppure "Query </a:t>
            </a:r>
            <a:r>
              <a:rPr lang="it-IT" sz="1200" i="1" dirty="0" err="1"/>
              <a:t>optimization</a:t>
            </a:r>
            <a:r>
              <a:rPr lang="it-IT" sz="1200" i="1" dirty="0"/>
              <a:t>"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" panose="020B0503020202020204" pitchFamily="34" charset="0"/>
                <a:ea typeface="+mn-ea"/>
                <a:cs typeface="+mn-cs"/>
              </a:rPr>
              <a:t>Indicizzazione dei documenti</a:t>
            </a:r>
            <a:r>
              <a:rPr lang="it-IT" sz="1600" dirty="0">
                <a:solidFill>
                  <a:prstClr val="black"/>
                </a:solidFill>
              </a:rPr>
              <a:t>. Scrivere il codice per indicizzare gli articoli utilizzando </a:t>
            </a:r>
            <a:r>
              <a:rPr lang="it-IT" sz="1600" dirty="0" err="1">
                <a:solidFill>
                  <a:prstClr val="black"/>
                </a:solidFill>
              </a:rPr>
              <a:t>Elasticsearch</a:t>
            </a:r>
            <a:r>
              <a:rPr lang="it-IT" sz="1600" dirty="0">
                <a:solidFill>
                  <a:prstClr val="black"/>
                </a:solidFill>
              </a:rPr>
              <a:t> (o Lucene), includendo i seguenti campi: titolo, autori, data, abstract, testo completo. 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" panose="020B0503020202020204" pitchFamily="34" charset="0"/>
              <a:ea typeface="+mn-ea"/>
              <a:cs typeface="+mn-cs"/>
            </a:endParaRPr>
          </a:p>
          <a:p>
            <a:pPr marL="342900" lvl="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lang="it-IT" sz="1600" b="1" dirty="0">
                <a:solidFill>
                  <a:prstClr val="black"/>
                </a:solidFill>
              </a:rPr>
              <a:t>Funzionalità di ricerca base</a:t>
            </a:r>
            <a:r>
              <a:rPr lang="it-IT" sz="1600" dirty="0">
                <a:solidFill>
                  <a:prstClr val="black"/>
                </a:solidFill>
              </a:rPr>
              <a:t>. Il sistema deve permettere interrogazioni su uno o più campi, ricerca per parole chiave, combinazioni di query (es. ricerca booleana, full-text). Le funzionalità di ricerca devono essere disponibili tramite una semplice shell su riga di comando e tramite una semplice interfaccia web. 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lang="it-IT" sz="1600" b="1" dirty="0">
                <a:solidFill>
                  <a:prstClr val="black"/>
                </a:solidFill>
              </a:rPr>
              <a:t>Estrazione delle tabelle</a:t>
            </a:r>
            <a:r>
              <a:rPr lang="it-IT" sz="1600" dirty="0">
                <a:solidFill>
                  <a:prstClr val="black"/>
                </a:solidFill>
              </a:rPr>
              <a:t>. </a:t>
            </a:r>
            <a:r>
              <a:rPr lang="en-US" sz="1600" dirty="0" err="1">
                <a:solidFill>
                  <a:prstClr val="black"/>
                </a:solidFill>
              </a:rPr>
              <a:t>Scrivere</a:t>
            </a:r>
            <a:r>
              <a:rPr lang="en-US" sz="1600" dirty="0">
                <a:solidFill>
                  <a:prstClr val="black"/>
                </a:solidFill>
              </a:rPr>
              <a:t> il </a:t>
            </a:r>
            <a:r>
              <a:rPr lang="en-US" sz="1600" dirty="0" err="1">
                <a:solidFill>
                  <a:prstClr val="black"/>
                </a:solidFill>
              </a:rPr>
              <a:t>codice</a:t>
            </a:r>
            <a:r>
              <a:rPr lang="en-US" sz="1600" dirty="0">
                <a:solidFill>
                  <a:prstClr val="black"/>
                </a:solidFill>
              </a:rPr>
              <a:t> per </a:t>
            </a:r>
            <a:r>
              <a:rPr lang="en-US" sz="1600" dirty="0" err="1">
                <a:solidFill>
                  <a:prstClr val="black"/>
                </a:solidFill>
              </a:rPr>
              <a:t>estrarre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dagli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articoli</a:t>
            </a:r>
            <a:r>
              <a:rPr lang="en-US" sz="1600" dirty="0">
                <a:solidFill>
                  <a:prstClr val="black"/>
                </a:solidFill>
              </a:rPr>
              <a:t> del corpus tutte le </a:t>
            </a:r>
            <a:r>
              <a:rPr lang="en-US" sz="1600" dirty="0" err="1">
                <a:solidFill>
                  <a:prstClr val="black"/>
                </a:solidFill>
              </a:rPr>
              <a:t>tabelle</a:t>
            </a:r>
            <a:r>
              <a:rPr lang="en-US" sz="1600" dirty="0">
                <a:solidFill>
                  <a:prstClr val="black"/>
                </a:solidFill>
              </a:rPr>
              <a:t> con </a:t>
            </a:r>
            <a:r>
              <a:rPr lang="en-US" sz="1600" dirty="0" err="1">
                <a:solidFill>
                  <a:prstClr val="black"/>
                </a:solidFill>
              </a:rPr>
              <a:t>associati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dati</a:t>
            </a:r>
            <a:r>
              <a:rPr lang="en-US" sz="1600" dirty="0">
                <a:solidFill>
                  <a:prstClr val="black"/>
                </a:solidFill>
              </a:rPr>
              <a:t> di </a:t>
            </a:r>
            <a:r>
              <a:rPr lang="en-US" sz="1600" dirty="0" err="1">
                <a:solidFill>
                  <a:prstClr val="black"/>
                </a:solidFill>
              </a:rPr>
              <a:t>contesto</a:t>
            </a:r>
            <a:r>
              <a:rPr lang="en-US" sz="1600" dirty="0">
                <a:solidFill>
                  <a:prstClr val="black"/>
                </a:solidFill>
              </a:rPr>
              <a:t>. I</a:t>
            </a:r>
            <a:r>
              <a:rPr lang="en-US" sz="1600" dirty="0"/>
              <a:t>n </a:t>
            </a:r>
            <a:r>
              <a:rPr lang="en-US" sz="1600" dirty="0" err="1"/>
              <a:t>particolare</a:t>
            </a:r>
            <a:r>
              <a:rPr lang="en-US" sz="1600" dirty="0"/>
              <a:t>, per ogni </a:t>
            </a:r>
            <a:r>
              <a:rPr lang="en-US" sz="1600" dirty="0" err="1"/>
              <a:t>tabella</a:t>
            </a:r>
            <a:r>
              <a:rPr lang="en-US" sz="1600" dirty="0"/>
              <a:t>, </a:t>
            </a:r>
            <a:r>
              <a:rPr lang="en-US" sz="1600" dirty="0" err="1"/>
              <a:t>estrare</a:t>
            </a:r>
            <a:r>
              <a:rPr lang="en-US" sz="1600" dirty="0"/>
              <a:t> il </a:t>
            </a:r>
            <a:r>
              <a:rPr lang="en-US" sz="1600" dirty="0" err="1"/>
              <a:t>corpo</a:t>
            </a:r>
            <a:r>
              <a:rPr lang="en-US" sz="1600" dirty="0"/>
              <a:t>, la caption,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paragrafi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la </a:t>
            </a:r>
            <a:r>
              <a:rPr lang="en-US" sz="1600" dirty="0" err="1"/>
              <a:t>citano</a:t>
            </a:r>
            <a:r>
              <a:rPr lang="en-US" sz="1600" dirty="0"/>
              <a:t>,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paragrafi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</a:t>
            </a:r>
            <a:r>
              <a:rPr lang="en-US" sz="1600" dirty="0" err="1"/>
              <a:t>contengono</a:t>
            </a:r>
            <a:r>
              <a:rPr lang="en-US" sz="1600" dirty="0"/>
              <a:t> termini </a:t>
            </a:r>
            <a:r>
              <a:rPr lang="en-US" sz="1600" dirty="0" err="1"/>
              <a:t>presenti</a:t>
            </a:r>
            <a:r>
              <a:rPr lang="en-US" sz="1600" dirty="0"/>
              <a:t> </a:t>
            </a:r>
            <a:r>
              <a:rPr lang="en-US" sz="1600" dirty="0" err="1"/>
              <a:t>nella</a:t>
            </a:r>
            <a:r>
              <a:rPr lang="en-US" sz="1600" dirty="0"/>
              <a:t> </a:t>
            </a:r>
            <a:r>
              <a:rPr lang="en-US" sz="1600" dirty="0" err="1"/>
              <a:t>tabella</a:t>
            </a:r>
            <a:r>
              <a:rPr lang="en-US" sz="1600" dirty="0"/>
              <a:t> o </a:t>
            </a:r>
            <a:r>
              <a:rPr lang="en-US" sz="1600" dirty="0" err="1"/>
              <a:t>nella</a:t>
            </a:r>
            <a:r>
              <a:rPr lang="en-US" sz="1600" dirty="0"/>
              <a:t> caption (</a:t>
            </a:r>
            <a:r>
              <a:rPr lang="en-US" sz="1600" dirty="0" err="1"/>
              <a:t>evitando</a:t>
            </a:r>
            <a:r>
              <a:rPr lang="en-US" sz="1600" dirty="0"/>
              <a:t> di </a:t>
            </a:r>
            <a:r>
              <a:rPr lang="en-US" sz="1600" dirty="0" err="1"/>
              <a:t>considerare</a:t>
            </a:r>
            <a:r>
              <a:rPr lang="en-US" sz="1600" dirty="0"/>
              <a:t> termini non </a:t>
            </a:r>
            <a:r>
              <a:rPr lang="en-US" sz="1600" dirty="0" err="1"/>
              <a:t>informativi</a:t>
            </a:r>
            <a:r>
              <a:rPr lang="en-US" sz="1600" dirty="0"/>
              <a:t>).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lang="it-IT" sz="1600" b="1" dirty="0">
                <a:solidFill>
                  <a:prstClr val="black"/>
                </a:solidFill>
              </a:rPr>
              <a:t>Estrazione delle figure</a:t>
            </a:r>
            <a:r>
              <a:rPr lang="it-IT" sz="1600" dirty="0">
                <a:solidFill>
                  <a:prstClr val="black"/>
                </a:solidFill>
              </a:rPr>
              <a:t>. </a:t>
            </a:r>
            <a:r>
              <a:rPr lang="en-US" sz="1600" dirty="0" err="1">
                <a:solidFill>
                  <a:prstClr val="black"/>
                </a:solidFill>
              </a:rPr>
              <a:t>Scrivere</a:t>
            </a:r>
            <a:r>
              <a:rPr lang="en-US" sz="1600" dirty="0">
                <a:solidFill>
                  <a:prstClr val="black"/>
                </a:solidFill>
              </a:rPr>
              <a:t> il </a:t>
            </a:r>
            <a:r>
              <a:rPr lang="en-US" sz="1600" dirty="0" err="1">
                <a:solidFill>
                  <a:prstClr val="black"/>
                </a:solidFill>
              </a:rPr>
              <a:t>codice</a:t>
            </a:r>
            <a:r>
              <a:rPr lang="en-US" sz="1600" dirty="0">
                <a:solidFill>
                  <a:prstClr val="black"/>
                </a:solidFill>
              </a:rPr>
              <a:t> per </a:t>
            </a:r>
            <a:r>
              <a:rPr lang="en-US" sz="1600" dirty="0" err="1">
                <a:solidFill>
                  <a:prstClr val="black"/>
                </a:solidFill>
              </a:rPr>
              <a:t>estrarre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dagli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articoli</a:t>
            </a:r>
            <a:r>
              <a:rPr lang="en-US" sz="1600" dirty="0">
                <a:solidFill>
                  <a:prstClr val="black"/>
                </a:solidFill>
              </a:rPr>
              <a:t> del corpus tutte le figure con </a:t>
            </a:r>
            <a:r>
              <a:rPr lang="en-US" sz="1600" dirty="0" err="1">
                <a:solidFill>
                  <a:prstClr val="black"/>
                </a:solidFill>
              </a:rPr>
              <a:t>associati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dati</a:t>
            </a:r>
            <a:r>
              <a:rPr lang="en-US" sz="1600" dirty="0">
                <a:solidFill>
                  <a:prstClr val="black"/>
                </a:solidFill>
              </a:rPr>
              <a:t> di </a:t>
            </a:r>
            <a:r>
              <a:rPr lang="en-US" sz="1600" dirty="0" err="1">
                <a:solidFill>
                  <a:prstClr val="black"/>
                </a:solidFill>
              </a:rPr>
              <a:t>contesto</a:t>
            </a:r>
            <a:r>
              <a:rPr lang="en-US" sz="1600" dirty="0">
                <a:solidFill>
                  <a:prstClr val="black"/>
                </a:solidFill>
              </a:rPr>
              <a:t>. I</a:t>
            </a:r>
            <a:r>
              <a:rPr lang="en-US" sz="1600" dirty="0"/>
              <a:t>n </a:t>
            </a:r>
            <a:r>
              <a:rPr lang="en-US" sz="1600" dirty="0" err="1"/>
              <a:t>particolare</a:t>
            </a:r>
            <a:r>
              <a:rPr lang="en-US" sz="1600" dirty="0"/>
              <a:t>, per ogni </a:t>
            </a:r>
            <a:r>
              <a:rPr lang="en-US" sz="1600" dirty="0" err="1"/>
              <a:t>figura</a:t>
            </a:r>
            <a:r>
              <a:rPr lang="en-US" sz="1600" dirty="0"/>
              <a:t>, </a:t>
            </a:r>
            <a:r>
              <a:rPr lang="en-US" sz="1600" dirty="0" err="1"/>
              <a:t>estrare</a:t>
            </a:r>
            <a:r>
              <a:rPr lang="en-US" sz="1600" dirty="0"/>
              <a:t> </a:t>
            </a:r>
            <a:r>
              <a:rPr lang="en-US" sz="1600" dirty="0" err="1"/>
              <a:t>l'url</a:t>
            </a:r>
            <a:r>
              <a:rPr lang="en-US" sz="1600" dirty="0"/>
              <a:t>, la caption,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paragrafi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la </a:t>
            </a:r>
            <a:r>
              <a:rPr lang="en-US" sz="1600" dirty="0" err="1"/>
              <a:t>citano</a:t>
            </a:r>
            <a:r>
              <a:rPr lang="en-US" sz="1600" dirty="0"/>
              <a:t>,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paragrafi</a:t>
            </a:r>
            <a:r>
              <a:rPr lang="en-US" sz="1600" dirty="0"/>
              <a:t> </a:t>
            </a:r>
            <a:r>
              <a:rPr lang="en-US" sz="1600" dirty="0" err="1"/>
              <a:t>che</a:t>
            </a:r>
            <a:r>
              <a:rPr lang="en-US" sz="1600" dirty="0"/>
              <a:t> </a:t>
            </a:r>
            <a:r>
              <a:rPr lang="en-US" sz="1600" dirty="0" err="1"/>
              <a:t>citano</a:t>
            </a:r>
            <a:r>
              <a:rPr lang="en-US" sz="1600" dirty="0"/>
              <a:t> termini </a:t>
            </a:r>
            <a:r>
              <a:rPr lang="en-US" sz="1600" dirty="0" err="1"/>
              <a:t>presenti</a:t>
            </a:r>
            <a:r>
              <a:rPr lang="en-US" sz="1600" dirty="0"/>
              <a:t> </a:t>
            </a:r>
            <a:r>
              <a:rPr lang="en-US" sz="1600" dirty="0" err="1"/>
              <a:t>nella</a:t>
            </a:r>
            <a:r>
              <a:rPr lang="en-US" sz="1600" dirty="0"/>
              <a:t> caption (</a:t>
            </a:r>
            <a:r>
              <a:rPr lang="en-US" sz="1600" dirty="0" err="1"/>
              <a:t>evitando</a:t>
            </a:r>
            <a:r>
              <a:rPr lang="en-US" sz="1600" dirty="0"/>
              <a:t> di </a:t>
            </a:r>
            <a:r>
              <a:rPr lang="en-US" sz="1600" dirty="0" err="1"/>
              <a:t>considerare</a:t>
            </a:r>
            <a:r>
              <a:rPr lang="en-US" sz="1600" dirty="0"/>
              <a:t> termini non </a:t>
            </a:r>
            <a:r>
              <a:rPr lang="en-US" sz="1600" dirty="0" err="1"/>
              <a:t>informativi</a:t>
            </a:r>
            <a:r>
              <a:rPr lang="en-US" sz="1600" dirty="0"/>
              <a:t>).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lang="it-IT" sz="1600" b="1" dirty="0">
                <a:solidFill>
                  <a:prstClr val="black"/>
                </a:solidFill>
              </a:rPr>
              <a:t>Indicizzazione delle tabelle</a:t>
            </a:r>
            <a:r>
              <a:rPr lang="it-IT" sz="1600" dirty="0">
                <a:solidFill>
                  <a:prstClr val="black"/>
                </a:solidFill>
              </a:rPr>
              <a:t>. Scrivere il codice per indicizzare le tabelle utilizzando </a:t>
            </a:r>
            <a:r>
              <a:rPr lang="it-IT" sz="1600" dirty="0" err="1">
                <a:solidFill>
                  <a:prstClr val="black"/>
                </a:solidFill>
              </a:rPr>
              <a:t>Elasticsearch</a:t>
            </a:r>
            <a:r>
              <a:rPr lang="it-IT" sz="1600" dirty="0">
                <a:solidFill>
                  <a:prstClr val="black"/>
                </a:solidFill>
              </a:rPr>
              <a:t> (o Lucene). Ogni tabella viene indicizzata come un documento, con i seguenti campi: </a:t>
            </a:r>
            <a:r>
              <a:rPr lang="it-IT" sz="1600" dirty="0" err="1">
                <a:solidFill>
                  <a:prstClr val="black"/>
                </a:solidFill>
              </a:rPr>
              <a:t>paper_id</a:t>
            </a:r>
            <a:r>
              <a:rPr lang="it-IT" sz="1600" dirty="0">
                <a:solidFill>
                  <a:prstClr val="black"/>
                </a:solidFill>
              </a:rPr>
              <a:t> (ID dell'articolo), </a:t>
            </a:r>
            <a:r>
              <a:rPr lang="it-IT" sz="1600" dirty="0" err="1">
                <a:solidFill>
                  <a:prstClr val="black"/>
                </a:solidFill>
              </a:rPr>
              <a:t>table_id</a:t>
            </a:r>
            <a:r>
              <a:rPr lang="it-IT" sz="1600" dirty="0">
                <a:solidFill>
                  <a:prstClr val="black"/>
                </a:solidFill>
              </a:rPr>
              <a:t> (ID della tabella all’interno dell’articolo),  </a:t>
            </a:r>
            <a:r>
              <a:rPr lang="it-IT" sz="1600" dirty="0" err="1">
                <a:solidFill>
                  <a:prstClr val="black"/>
                </a:solidFill>
              </a:rPr>
              <a:t>caption</a:t>
            </a:r>
            <a:r>
              <a:rPr lang="it-IT" sz="1600" dirty="0">
                <a:solidFill>
                  <a:prstClr val="black"/>
                </a:solidFill>
              </a:rPr>
              <a:t> (testo della </a:t>
            </a:r>
            <a:r>
              <a:rPr lang="it-IT" sz="1600" dirty="0" err="1">
                <a:solidFill>
                  <a:prstClr val="black"/>
                </a:solidFill>
              </a:rPr>
              <a:t>caption</a:t>
            </a:r>
            <a:r>
              <a:rPr lang="it-IT" sz="1600" dirty="0">
                <a:solidFill>
                  <a:prstClr val="black"/>
                </a:solidFill>
              </a:rPr>
              <a:t> della tabella), body (contenuto della tabella come testo), </a:t>
            </a:r>
            <a:r>
              <a:rPr lang="it-IT" sz="1600" dirty="0" err="1">
                <a:solidFill>
                  <a:prstClr val="black"/>
                </a:solidFill>
              </a:rPr>
              <a:t>mentions</a:t>
            </a:r>
            <a:r>
              <a:rPr lang="it-IT" sz="1600" dirty="0">
                <a:solidFill>
                  <a:prstClr val="black"/>
                </a:solidFill>
              </a:rPr>
              <a:t> (lista dei paragrafi del paper che citano la tabella), </a:t>
            </a:r>
            <a:r>
              <a:rPr lang="it-IT" sz="1600" dirty="0" err="1">
                <a:solidFill>
                  <a:prstClr val="black"/>
                </a:solidFill>
              </a:rPr>
              <a:t>context_paragraphs</a:t>
            </a:r>
            <a:r>
              <a:rPr lang="it-IT" sz="1600" dirty="0">
                <a:solidFill>
                  <a:prstClr val="black"/>
                </a:solidFill>
              </a:rPr>
              <a:t> (lista dei paragrafi del paper che contengono termini presenti nella tabella o nella </a:t>
            </a:r>
            <a:r>
              <a:rPr lang="it-IT" sz="1600" dirty="0" err="1">
                <a:solidFill>
                  <a:prstClr val="black"/>
                </a:solidFill>
              </a:rPr>
              <a:t>caption</a:t>
            </a:r>
            <a:r>
              <a:rPr lang="it-IT" sz="1600" dirty="0">
                <a:solidFill>
                  <a:prstClr val="black"/>
                </a:solidFill>
              </a:rPr>
              <a:t>).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lang="it-IT" sz="1600" b="1" dirty="0">
                <a:solidFill>
                  <a:prstClr val="black"/>
                </a:solidFill>
              </a:rPr>
              <a:t>Indicizzazione delle figure</a:t>
            </a:r>
            <a:r>
              <a:rPr lang="it-IT" sz="1600" dirty="0">
                <a:solidFill>
                  <a:prstClr val="black"/>
                </a:solidFill>
              </a:rPr>
              <a:t>. Scrivere il codice per indicizzare le figure utilizzando </a:t>
            </a:r>
            <a:r>
              <a:rPr lang="it-IT" sz="1600" dirty="0" err="1">
                <a:solidFill>
                  <a:prstClr val="black"/>
                </a:solidFill>
              </a:rPr>
              <a:t>Elasticsearch</a:t>
            </a:r>
            <a:r>
              <a:rPr lang="it-IT" sz="1600" dirty="0">
                <a:solidFill>
                  <a:prstClr val="black"/>
                </a:solidFill>
              </a:rPr>
              <a:t> (o Lucene). Ogni figura viene indicizzata come un documento, con i seguenti campi: </a:t>
            </a:r>
            <a:r>
              <a:rPr lang="it-IT" sz="1600" dirty="0" err="1">
                <a:solidFill>
                  <a:prstClr val="black"/>
                </a:solidFill>
              </a:rPr>
              <a:t>url</a:t>
            </a:r>
            <a:r>
              <a:rPr lang="it-IT" sz="1600" dirty="0">
                <a:solidFill>
                  <a:prstClr val="black"/>
                </a:solidFill>
              </a:rPr>
              <a:t> (</a:t>
            </a:r>
            <a:r>
              <a:rPr lang="it-IT" sz="1600" dirty="0" err="1">
                <a:solidFill>
                  <a:prstClr val="black"/>
                </a:solidFill>
              </a:rPr>
              <a:t>url</a:t>
            </a:r>
            <a:r>
              <a:rPr lang="it-IT" sz="1600" dirty="0">
                <a:solidFill>
                  <a:prstClr val="black"/>
                </a:solidFill>
              </a:rPr>
              <a:t> della figura), </a:t>
            </a:r>
            <a:r>
              <a:rPr lang="it-IT" sz="1600" dirty="0" err="1">
                <a:solidFill>
                  <a:prstClr val="black"/>
                </a:solidFill>
              </a:rPr>
              <a:t>paper_id</a:t>
            </a:r>
            <a:r>
              <a:rPr lang="it-IT" sz="1600" dirty="0">
                <a:solidFill>
                  <a:prstClr val="black"/>
                </a:solidFill>
              </a:rPr>
              <a:t> (ID dell'articolo), </a:t>
            </a:r>
            <a:r>
              <a:rPr lang="it-IT" sz="1600" dirty="0" err="1">
                <a:solidFill>
                  <a:prstClr val="black"/>
                </a:solidFill>
              </a:rPr>
              <a:t>table_id</a:t>
            </a:r>
            <a:r>
              <a:rPr lang="it-IT" sz="1600" dirty="0">
                <a:solidFill>
                  <a:prstClr val="black"/>
                </a:solidFill>
              </a:rPr>
              <a:t> (ID della figura all’interno dell’articolo),  </a:t>
            </a:r>
            <a:r>
              <a:rPr lang="it-IT" sz="1600" dirty="0" err="1">
                <a:solidFill>
                  <a:prstClr val="black"/>
                </a:solidFill>
              </a:rPr>
              <a:t>caption</a:t>
            </a:r>
            <a:r>
              <a:rPr lang="it-IT" sz="1600" dirty="0">
                <a:solidFill>
                  <a:prstClr val="black"/>
                </a:solidFill>
              </a:rPr>
              <a:t> (testo della </a:t>
            </a:r>
            <a:r>
              <a:rPr lang="it-IT" sz="1600" dirty="0" err="1">
                <a:solidFill>
                  <a:prstClr val="black"/>
                </a:solidFill>
              </a:rPr>
              <a:t>caption</a:t>
            </a:r>
            <a:r>
              <a:rPr lang="it-IT" sz="1600" dirty="0">
                <a:solidFill>
                  <a:prstClr val="black"/>
                </a:solidFill>
              </a:rPr>
              <a:t> della figura), </a:t>
            </a:r>
            <a:r>
              <a:rPr lang="it-IT" sz="1600" dirty="0" err="1">
                <a:solidFill>
                  <a:prstClr val="black"/>
                </a:solidFill>
              </a:rPr>
              <a:t>mentions</a:t>
            </a:r>
            <a:r>
              <a:rPr lang="it-IT" sz="1600" dirty="0">
                <a:solidFill>
                  <a:prstClr val="black"/>
                </a:solidFill>
              </a:rPr>
              <a:t> (lista dei paragrafi del paper che citano la figura).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 startAt="2"/>
              <a:defRPr/>
            </a:pPr>
            <a:r>
              <a:rPr lang="it-IT" sz="1600" b="1" dirty="0">
                <a:solidFill>
                  <a:prstClr val="black"/>
                </a:solidFill>
              </a:rPr>
              <a:t>Funzionalità di ricerca avanzate</a:t>
            </a:r>
            <a:r>
              <a:rPr lang="it-IT" sz="1600" dirty="0">
                <a:solidFill>
                  <a:prstClr val="black"/>
                </a:solidFill>
              </a:rPr>
              <a:t>. Il sistema deve permettere interrogazioni per tabelle, figure, documenti su uno o più campi, ricerca per parole chiave, combinazioni di query (es. ricerca booleana, full-text). Le funzionalità di ricerca devono essere disponibili tramite una semplice shell su riga di comando e tramite una semplice interfaccia web.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81C988-6959-7CD2-18F6-CA92BA2D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26114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2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92B006-4D57-E6A1-8726-0792774B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79F07B-E8FF-2894-1861-76C49226C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Ripetere</a:t>
            </a:r>
            <a:r>
              <a:rPr lang="en-US" dirty="0"/>
              <a:t> le </a:t>
            </a:r>
            <a:r>
              <a:rPr lang="en-US" dirty="0" err="1"/>
              <a:t>stesse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, per </a:t>
            </a:r>
            <a:r>
              <a:rPr lang="en-US" dirty="0" err="1"/>
              <a:t>almeno</a:t>
            </a:r>
            <a:r>
              <a:rPr lang="en-US" dirty="0"/>
              <a:t> 500 </a:t>
            </a:r>
            <a:r>
              <a:rPr lang="en-US" dirty="0" err="1"/>
              <a:t>articoli</a:t>
            </a:r>
            <a:r>
              <a:rPr lang="en-US" dirty="0"/>
              <a:t> open access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PubMed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contengono</a:t>
            </a:r>
            <a:r>
              <a:rPr lang="en-US" dirty="0"/>
              <a:t> le keyword </a:t>
            </a:r>
          </a:p>
          <a:p>
            <a:pPr lvl="1"/>
            <a:r>
              <a:rPr lang="en-US" dirty="0" err="1"/>
              <a:t>Gruppi</a:t>
            </a:r>
            <a:r>
              <a:rPr lang="en-US" dirty="0"/>
              <a:t> 1: </a:t>
            </a:r>
            <a:r>
              <a:rPr lang="en-US" i="1" dirty="0"/>
              <a:t>"cancer risk AND coffee </a:t>
            </a:r>
            <a:r>
              <a:rPr lang="en-US" i="1" dirty="0" err="1"/>
              <a:t>comsumption</a:t>
            </a:r>
            <a:r>
              <a:rPr lang="en-US" i="1" dirty="0"/>
              <a:t>"</a:t>
            </a:r>
          </a:p>
          <a:p>
            <a:pPr lvl="1"/>
            <a:r>
              <a:rPr lang="en-US" dirty="0" err="1"/>
              <a:t>Gruppi</a:t>
            </a:r>
            <a:r>
              <a:rPr lang="en-US" dirty="0"/>
              <a:t> 2: "glyphosate AND cancer risk"</a:t>
            </a:r>
          </a:p>
          <a:p>
            <a:pPr lvl="1"/>
            <a:r>
              <a:rPr lang="en-US" dirty="0" err="1"/>
              <a:t>Gruppi</a:t>
            </a:r>
            <a:r>
              <a:rPr lang="en-US" dirty="0"/>
              <a:t> 3: "</a:t>
            </a:r>
            <a:r>
              <a:rPr lang="it-IT" i="1" dirty="0"/>
              <a:t>air </a:t>
            </a:r>
            <a:r>
              <a:rPr lang="it-IT" i="1" dirty="0" err="1"/>
              <a:t>pollution</a:t>
            </a:r>
            <a:r>
              <a:rPr lang="it-IT" i="1" dirty="0"/>
              <a:t> AND cognitive </a:t>
            </a:r>
            <a:r>
              <a:rPr lang="it-IT" i="1" dirty="0" err="1"/>
              <a:t>decline</a:t>
            </a:r>
            <a:r>
              <a:rPr lang="it-IT" i="1" dirty="0"/>
              <a:t>"</a:t>
            </a:r>
          </a:p>
          <a:p>
            <a:pPr lvl="1"/>
            <a:r>
              <a:rPr lang="it-IT" dirty="0"/>
              <a:t>Gruppi 4: </a:t>
            </a:r>
            <a:r>
              <a:rPr lang="it-IT" i="1" dirty="0"/>
              <a:t>"ultra-</a:t>
            </a:r>
            <a:r>
              <a:rPr lang="it-IT" i="1" dirty="0" err="1"/>
              <a:t>processed</a:t>
            </a:r>
            <a:r>
              <a:rPr lang="it-IT" i="1" dirty="0"/>
              <a:t> foods AND </a:t>
            </a:r>
            <a:r>
              <a:rPr lang="it-IT" i="1" dirty="0" err="1"/>
              <a:t>cardiovascular</a:t>
            </a:r>
            <a:r>
              <a:rPr lang="it-IT" i="1" dirty="0"/>
              <a:t> risk" </a:t>
            </a:r>
            <a:endParaRPr lang="en-US" i="1" dirty="0"/>
          </a:p>
          <a:p>
            <a:r>
              <a:rPr lang="en-US" dirty="0"/>
              <a:t>Si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ottenee</a:t>
            </a:r>
            <a:r>
              <a:rPr lang="en-US" dirty="0"/>
              <a:t> da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: </a:t>
            </a:r>
            <a:r>
              <a:rPr lang="en-US" sz="2400" dirty="0">
                <a:hlinkClick r:id="rId2"/>
              </a:rPr>
              <a:t>https://pmc.ncbi.nlm.nih.gov/search/?filter=collections.open_access</a:t>
            </a:r>
            <a:r>
              <a:rPr lang="en-US" sz="24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EE80F-CC95-C142-8315-50AF78B4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Homework 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547EB2-20EA-6849-9867-547B3D39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35" y="1465544"/>
            <a:ext cx="11323529" cy="5067475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Preparare una relazione di circa 10 pagine che descrive la soluzione tecnica implementata. Descrivere l'architettura della soluzione, e gli sperimenti per valutare le prestazioni (in termini qualitativi e quantitativi) del sistema</a:t>
            </a:r>
          </a:p>
          <a:p>
            <a:r>
              <a:rPr lang="it-IT" dirty="0"/>
              <a:t>Preparare una presentazione di 15' (che descrive architettura e valutazione sperimentale della soluzione)</a:t>
            </a:r>
          </a:p>
          <a:p>
            <a:pPr marL="0" indent="0">
              <a:lnSpc>
                <a:spcPct val="100000"/>
              </a:lnSpc>
              <a:buNone/>
            </a:pPr>
            <a:endParaRPr lang="it-IT" dirty="0"/>
          </a:p>
          <a:p>
            <a:pPr marL="0" indent="0">
              <a:lnSpc>
                <a:spcPct val="100000"/>
              </a:lnSpc>
              <a:buNone/>
            </a:pPr>
            <a:r>
              <a:rPr lang="it-IT" dirty="0"/>
              <a:t>Termini di consegna: ore 12:00 il giorno dell'esame</a:t>
            </a:r>
          </a:p>
          <a:p>
            <a:pPr marL="0" indent="0">
              <a:lnSpc>
                <a:spcPct val="100000"/>
              </a:lnSpc>
              <a:buNone/>
            </a:pPr>
            <a:endParaRPr lang="it-IT" dirty="0"/>
          </a:p>
          <a:p>
            <a:pPr marL="0" indent="0">
              <a:lnSpc>
                <a:spcPct val="100000"/>
              </a:lnSpc>
              <a:buNone/>
            </a:pPr>
            <a:r>
              <a:rPr lang="it-IT" dirty="0"/>
              <a:t>Caricare la relazione e la presentazione attraverso il seguente modulo:</a:t>
            </a:r>
            <a:br>
              <a:rPr lang="it-IT" dirty="0"/>
            </a:br>
            <a:br>
              <a:rPr lang="it-IT" dirty="0"/>
            </a:br>
            <a:r>
              <a:rPr lang="it-IT" dirty="0"/>
              <a:t>         </a:t>
            </a:r>
            <a:r>
              <a:rPr lang="it-IT" dirty="0">
                <a:hlinkClick r:id="rId2"/>
              </a:rPr>
              <a:t>https://forms.office.com/e/EbqbR7dvK4</a:t>
            </a: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8427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143559</TotalTime>
  <Words>746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Avenir Next</vt:lpstr>
      <vt:lpstr>Calibri</vt:lpstr>
      <vt:lpstr>Tema di Office</vt:lpstr>
      <vt:lpstr>Ingegneria dei dati 2025/2026 Homework 5 (da svolgere in gruppo)</vt:lpstr>
      <vt:lpstr>Homework 5</vt:lpstr>
      <vt:lpstr>Homework 5</vt:lpstr>
      <vt:lpstr>Homework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Ingegneria dei dati</dc:title>
  <dc:creator>Paolo Merialdo</dc:creator>
  <cp:lastModifiedBy>Paolo Merialdo</cp:lastModifiedBy>
  <cp:revision>49</cp:revision>
  <dcterms:created xsi:type="dcterms:W3CDTF">2021-06-16T08:50:58Z</dcterms:created>
  <dcterms:modified xsi:type="dcterms:W3CDTF">2025-11-17T16:06:55Z</dcterms:modified>
</cp:coreProperties>
</file>