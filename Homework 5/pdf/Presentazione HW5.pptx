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</p:sldIdLst>
  <p:sldSz cx="9144000" cy="6858000" type="screen4x3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858" y="-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05/02/2026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/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/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/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CF85F421-134B-9392-87C0-35164E049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2C8555B-AE64-03F0-B10F-046ABD877CDA}"/>
              </a:ext>
            </a:extLst>
          </p:cNvPr>
          <p:cNvSpPr txBox="1"/>
          <p:nvPr/>
        </p:nvSpPr>
        <p:spPr>
          <a:xfrm>
            <a:off x="647564" y="2225473"/>
            <a:ext cx="784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HW5: Sistema di Information </a:t>
            </a:r>
            <a:r>
              <a:rPr lang="it-IT" sz="2400" b="1" dirty="0" err="1"/>
              <a:t>Retrival</a:t>
            </a:r>
            <a:r>
              <a:rPr lang="it-IT" sz="2400" b="1" dirty="0"/>
              <a:t> basato su </a:t>
            </a:r>
            <a:r>
              <a:rPr lang="it-IT" sz="2400" b="1" dirty="0" err="1"/>
              <a:t>ElasticSearch</a:t>
            </a:r>
            <a:r>
              <a:rPr lang="it-IT" sz="2400" b="1" dirty="0"/>
              <a:t> per indicizzare e interrogare documenti scientifici provenienti da ArXiv e </a:t>
            </a:r>
            <a:r>
              <a:rPr lang="it-IT" sz="2400" b="1" dirty="0" err="1"/>
              <a:t>PubMed</a:t>
            </a:r>
            <a:r>
              <a:rPr lang="it-IT" sz="2400" b="1" dirty="0"/>
              <a:t>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F801F7EA-DD68-D878-3228-397D66BEA4FD}"/>
              </a:ext>
            </a:extLst>
          </p:cNvPr>
          <p:cNvSpPr txBox="1"/>
          <p:nvPr/>
        </p:nvSpPr>
        <p:spPr>
          <a:xfrm>
            <a:off x="647564" y="4464150"/>
            <a:ext cx="35643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Progetto e Presentazione a cura di: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Barone Pietro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di Mario Alessandro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Petrolito Guido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Ruffini Douglas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B516631A-4468-FB04-3A47-EA92C3A93030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9AB26F59-F31A-A7B4-0F98-0476602B94CE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FFFCA3BF-73DB-5656-171B-B40E7E45C155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379981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84E87CC-B6A9-6382-2FFF-D83B27BF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1C6E1A1F-D96E-C3C6-16FA-1E3518E57A9D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54309DF8-674A-F114-563F-4DF7C6723475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8396107B-127B-C5C6-5306-07A42E5352A9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F36367AE-F0FB-C1EB-3637-32FC67130C41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5AE74FC4-C3A8-C5B4-7682-430F7724E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F084CA8C-C06E-EE78-34FB-07FABC704AC6}"/>
              </a:ext>
            </a:extLst>
          </p:cNvPr>
          <p:cNvSpPr txBox="1"/>
          <p:nvPr/>
        </p:nvSpPr>
        <p:spPr>
          <a:xfrm>
            <a:off x="647564" y="2225473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Architettura del Sistema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F926B102-16E0-52E4-1768-5B87A0048981}"/>
              </a:ext>
            </a:extLst>
          </p:cNvPr>
          <p:cNvSpPr txBox="1"/>
          <p:nvPr/>
        </p:nvSpPr>
        <p:spPr>
          <a:xfrm>
            <a:off x="647564" y="3060518"/>
            <a:ext cx="78488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Sistema adotta un’architettura modulare suddivisa in quattro macro-componenti, seguendo i principi di ingegneria del software per garantire manutenibilità e scalabilità: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Ingestion</a:t>
            </a:r>
            <a:r>
              <a:rPr lang="it-IT" i="1" dirty="0"/>
              <a:t> Layer</a:t>
            </a:r>
            <a:r>
              <a:rPr lang="it-IT" dirty="0"/>
              <a:t> (</a:t>
            </a:r>
            <a:r>
              <a:rPr lang="it-IT" dirty="0" err="1"/>
              <a:t>src</a:t>
            </a:r>
            <a:r>
              <a:rPr lang="it-IT" dirty="0"/>
              <a:t>/</a:t>
            </a:r>
            <a:r>
              <a:rPr lang="it-IT" dirty="0" err="1"/>
              <a:t>ingestion</a:t>
            </a:r>
            <a:r>
              <a:rPr lang="it-IT" dirty="0"/>
              <a:t>/): Gestisce l’interfacciamento con le API esterne di ArXiv e </a:t>
            </a:r>
            <a:r>
              <a:rPr lang="it-IT" dirty="0" err="1"/>
              <a:t>PubMed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Processing Layer</a:t>
            </a:r>
            <a:r>
              <a:rPr lang="it-IT" dirty="0"/>
              <a:t> (</a:t>
            </a:r>
            <a:r>
              <a:rPr lang="it-IT" dirty="0" err="1"/>
              <a:t>src</a:t>
            </a:r>
            <a:r>
              <a:rPr lang="it-IT" dirty="0"/>
              <a:t>/processing/): Gestisce la logica di </a:t>
            </a:r>
            <a:r>
              <a:rPr lang="it-IT" dirty="0" err="1"/>
              <a:t>parsing</a:t>
            </a:r>
            <a:r>
              <a:rPr lang="it-IT" dirty="0"/>
              <a:t> HTML, estrazione multimediale e analisi semantica.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Storage &amp; </a:t>
            </a:r>
            <a:r>
              <a:rPr lang="it-IT" i="1" dirty="0" err="1"/>
              <a:t>Indexing</a:t>
            </a:r>
            <a:r>
              <a:rPr lang="it-IT" i="1" dirty="0"/>
              <a:t> Layer</a:t>
            </a:r>
            <a:r>
              <a:rPr lang="it-IT" dirty="0"/>
              <a:t> (</a:t>
            </a:r>
            <a:r>
              <a:rPr lang="it-IT" dirty="0" err="1"/>
              <a:t>src</a:t>
            </a:r>
            <a:r>
              <a:rPr lang="it-IT" dirty="0"/>
              <a:t>/core/): Gestisce la connessione con Elasticsearch e la definizione dei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Interface Layer</a:t>
            </a:r>
            <a:r>
              <a:rPr lang="it-IT" dirty="0"/>
              <a:t> (run_shell.py, run_web.py): Fornisce i punti di accesso al sistema in due formati: CLI e Web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C518A7E9-A58F-E62C-FE5D-5437C1FE2BEF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A930EFD5-C146-179F-F4BC-F9D9E72BD6E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774DBCEA-B1DA-52E1-DA9F-007564293623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129933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7753E2-610A-D0ED-0D6D-060BCE323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34D1EC1B-720C-6CEC-2C4C-4348498E9CE7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8025772F-F733-36CC-6D38-19FC5C9DBFCA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D5ECDABC-2F67-F37C-D692-7D47BB955ACB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D12C7090-E859-4531-039D-2F7043BB34C6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0D9B30C9-A3B5-5A63-4056-434CC89C1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EA51A80D-4A66-85E6-9812-0B7C06ACB5F0}"/>
              </a:ext>
            </a:extLst>
          </p:cNvPr>
          <p:cNvSpPr txBox="1"/>
          <p:nvPr/>
        </p:nvSpPr>
        <p:spPr>
          <a:xfrm>
            <a:off x="647564" y="193288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Tecniche di </a:t>
            </a:r>
            <a:r>
              <a:rPr lang="it-IT" sz="2400" b="1" dirty="0" err="1"/>
              <a:t>Ingestion</a:t>
            </a:r>
            <a:r>
              <a:rPr lang="it-IT" sz="2400" b="1" dirty="0"/>
              <a:t> e Recupero Documentale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A06440E5-EAA3-50E5-6083-B4AD26CF8142}"/>
              </a:ext>
            </a:extLst>
          </p:cNvPr>
          <p:cNvSpPr txBox="1"/>
          <p:nvPr/>
        </p:nvSpPr>
        <p:spPr>
          <a:xfrm>
            <a:off x="645308" y="2394546"/>
            <a:ext cx="78488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sfida principale risiede nell’eterogeneità delle sorgenti: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ArXiv</a:t>
            </a:r>
            <a:r>
              <a:rPr lang="it-IT" dirty="0"/>
              <a:t>: Si utilizza la libreria arxiv per i metadati e una tecnica di URL </a:t>
            </a:r>
            <a:r>
              <a:rPr lang="it-IT" dirty="0" err="1"/>
              <a:t>transformation</a:t>
            </a:r>
            <a:r>
              <a:rPr lang="it-IT" dirty="0"/>
              <a:t> per accedere alla versione HTML (sostituendo /</a:t>
            </a:r>
            <a:r>
              <a:rPr lang="it-IT" dirty="0" err="1"/>
              <a:t>abs</a:t>
            </a:r>
            <a:r>
              <a:rPr lang="it-IT" dirty="0"/>
              <a:t>/ con /html/). Questo permette di evitare il </a:t>
            </a:r>
            <a:r>
              <a:rPr lang="it-IT" dirty="0" err="1"/>
              <a:t>parsing</a:t>
            </a:r>
            <a:r>
              <a:rPr lang="it-IT" dirty="0"/>
              <a:t> complesso dei PDF, lavorando su testo strutturato.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PubMed</a:t>
            </a:r>
            <a:r>
              <a:rPr lang="it-IT" i="1" dirty="0"/>
              <a:t> Central</a:t>
            </a:r>
            <a:r>
              <a:rPr lang="it-IT" dirty="0"/>
              <a:t> (PMC): Si implementa una strategia ibrida. I metadati (titolo autori, abstract) vengono estratti via XML (E-</a:t>
            </a:r>
            <a:r>
              <a:rPr lang="it-IT" dirty="0" err="1"/>
              <a:t>utils</a:t>
            </a:r>
            <a:r>
              <a:rPr lang="it-IT" dirty="0"/>
              <a:t> API) per massima precisione, mentre il corpo del testo e gli oggetti multimediali vengono recuperati tramite </a:t>
            </a:r>
            <a:r>
              <a:rPr lang="it-IT" dirty="0" err="1"/>
              <a:t>parsing</a:t>
            </a:r>
            <a:r>
              <a:rPr lang="it-IT" dirty="0"/>
              <a:t> della pagina HTML.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EC5045AA-378F-D610-1D3C-D1D454C8DF21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DC14D8F6-33B8-C326-A06F-12DC11E14D3D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5649E7D8-0C0C-3735-E0CF-31EA2BAC1989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73117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A19244-86CD-47A3-F4E5-F7102D7D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D55B28F9-E0FB-C46B-581E-FC4FE1848C94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741AE474-5471-8C85-9975-F80E269A03FF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FCDDAD0B-D7FB-9553-3CAA-E1FF71798FC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FC8C8FB0-1EA0-02F1-08D0-970688ECCE6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4E35E2A1-7C6D-A812-FF1F-62BAA2482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46DCA49C-EF03-A1D2-8025-DE4303795195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Estrazione dei Dati e Multimedia (</a:t>
            </a:r>
            <a:r>
              <a:rPr lang="it-IT" sz="2400" b="1" dirty="0" err="1"/>
              <a:t>Extraction</a:t>
            </a:r>
            <a:r>
              <a:rPr lang="it-IT" sz="2400" b="1" dirty="0"/>
              <a:t> </a:t>
            </a:r>
            <a:r>
              <a:rPr lang="it-IT" sz="2400" b="1" dirty="0" err="1"/>
              <a:t>Logic</a:t>
            </a:r>
            <a:r>
              <a:rPr lang="it-IT" sz="2400" b="1" dirty="0"/>
              <a:t>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B4B9C26C-A443-3F1B-3712-1D7DCA2D4DE6}"/>
              </a:ext>
            </a:extLst>
          </p:cNvPr>
          <p:cNvSpPr txBox="1"/>
          <p:nvPr/>
        </p:nvSpPr>
        <p:spPr>
          <a:xfrm>
            <a:off x="641876" y="2307662"/>
            <a:ext cx="78488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Come da richiesta, Tabelle e Figure non sono semplici allegati, ma oggetti di prima classe.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Table </a:t>
            </a:r>
            <a:r>
              <a:rPr lang="it-IT" i="1" dirty="0" err="1"/>
              <a:t>Extraction</a:t>
            </a:r>
            <a:r>
              <a:rPr lang="it-IT" dirty="0"/>
              <a:t>: Il codice identifica nodi </a:t>
            </a:r>
            <a:r>
              <a:rPr lang="it-IT" dirty="0" err="1"/>
              <a:t>ltx_table</a:t>
            </a:r>
            <a:r>
              <a:rPr lang="it-IT" dirty="0"/>
              <a:t> (ArXiv) o </a:t>
            </a:r>
            <a:r>
              <a:rPr lang="it-IT" dirty="0" err="1"/>
              <a:t>table-wrap</a:t>
            </a:r>
            <a:r>
              <a:rPr lang="it-IT" dirty="0"/>
              <a:t> (</a:t>
            </a:r>
            <a:r>
              <a:rPr lang="it-IT" dirty="0" err="1"/>
              <a:t>PubMed</a:t>
            </a:r>
            <a:r>
              <a:rPr lang="it-IT" dirty="0"/>
              <a:t>). Viene estratto il body (contenuto testuale della tabella e la </a:t>
            </a:r>
            <a:r>
              <a:rPr lang="it-IT" dirty="0" err="1"/>
              <a:t>caption</a:t>
            </a:r>
            <a:r>
              <a:rPr lang="it-I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Figure </a:t>
            </a:r>
            <a:r>
              <a:rPr lang="it-IT" i="1" dirty="0" err="1"/>
              <a:t>Extraction</a:t>
            </a:r>
            <a:r>
              <a:rPr lang="it-IT" dirty="0"/>
              <a:t>: Vengono estratti gli URL delle immagini e le relative didascalie.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Menzioni esplicite</a:t>
            </a:r>
            <a:r>
              <a:rPr lang="it-IT" dirty="0"/>
              <a:t>: Attraverso il metodo _</a:t>
            </a:r>
            <a:r>
              <a:rPr lang="it-IT" dirty="0" err="1"/>
              <a:t>find_mentions</a:t>
            </a:r>
            <a:r>
              <a:rPr lang="it-IT" dirty="0"/>
              <a:t>, il sistema analizza i tag &lt;a&gt; con riferimenti interni (#tab1, #fig1), catturando i paragrafi che citano direttamente l’oggetto.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BDB72D44-3645-3C72-7329-2763C2CFE083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FECCEDB6-4086-AD11-DF08-2889FA151EE5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53BB58EC-F416-433E-AC66-5F56105E9A9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2034905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D49F476-83EB-77B0-3D04-32BB1381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75C34AE2-4AB2-B1B6-2415-DACB5C8F6A39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6EA9F6CD-E5DB-1A01-A156-598E0E3B36C0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937AF80C-5CD0-99AE-3E01-642B1511E4F1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A143A774-1E2D-4B51-57BB-234EF8912E7F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7CC13817-A6A3-44DC-9B46-1A1DA3DFF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3FFE7B01-9727-3EEC-2387-1694E7955ED9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Analisi Semantica: TF_IDF e Cosine </a:t>
            </a:r>
            <a:r>
              <a:rPr lang="it-IT" sz="2400" b="1" dirty="0" err="1"/>
              <a:t>Similarity</a:t>
            </a:r>
            <a:endParaRPr lang="it-IT" sz="2400" b="1" dirty="0"/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180EC6B3-7947-1ADB-04AA-93CFBF5897C8}"/>
              </a:ext>
            </a:extLst>
          </p:cNvPr>
          <p:cNvSpPr txBox="1"/>
          <p:nvPr/>
        </p:nvSpPr>
        <p:spPr>
          <a:xfrm>
            <a:off x="647564" y="2348586"/>
            <a:ext cx="78488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adempiere alla richiesta di estrarre «i paragrafi che contengono termini presenti nella tabella o nella </a:t>
            </a:r>
            <a:r>
              <a:rPr lang="it-IT" dirty="0" err="1"/>
              <a:t>caption</a:t>
            </a:r>
            <a:r>
              <a:rPr lang="it-IT" dirty="0"/>
              <a:t>», si è evitato un semplice matching testuale (spesso rumoroso) a favore del </a:t>
            </a:r>
            <a:r>
              <a:rPr lang="it-IT" dirty="0" err="1"/>
              <a:t>Vector</a:t>
            </a:r>
            <a:r>
              <a:rPr lang="it-IT" dirty="0"/>
              <a:t> Space Model.</a:t>
            </a:r>
          </a:p>
          <a:p>
            <a:r>
              <a:rPr lang="it-IT" b="1" dirty="0"/>
              <a:t>Il Processo di </a:t>
            </a:r>
            <a:r>
              <a:rPr lang="it-IT" b="1" dirty="0" err="1"/>
              <a:t>Contextualization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Vettorizzazione</a:t>
            </a:r>
            <a:r>
              <a:rPr lang="it-IT" dirty="0"/>
              <a:t>: Ogni paragrafo del paper e la didascalia della tabella/figura vengono trasformati in vettori numerici utilizzando TF-IDF (</a:t>
            </a:r>
            <a:r>
              <a:rPr lang="it-IT" dirty="0" err="1"/>
              <a:t>Term</a:t>
            </a:r>
            <a:r>
              <a:rPr lang="it-IT" dirty="0"/>
              <a:t> Frequency-Inverse </a:t>
            </a:r>
            <a:r>
              <a:rPr lang="it-IT" dirty="0" err="1"/>
              <a:t>Document</a:t>
            </a:r>
            <a:r>
              <a:rPr lang="it-IT" dirty="0"/>
              <a:t> Frequency). Questa tecnica permette di dare maggior peso ai termini «informativi» eliminando le </a:t>
            </a:r>
            <a:r>
              <a:rPr lang="it-IT" dirty="0" err="1"/>
              <a:t>stoopwords</a:t>
            </a:r>
            <a:r>
              <a:rPr lang="it-IT" dirty="0"/>
              <a:t> (termini come «the», «a», «is»).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Cosine </a:t>
            </a:r>
            <a:r>
              <a:rPr lang="it-IT" i="1" dirty="0" err="1"/>
              <a:t>Similarity</a:t>
            </a:r>
            <a:r>
              <a:rPr lang="it-IT" dirty="0"/>
              <a:t>: Viene Calcolata la similarità del coseno tra il vettore della «tabella/figura» e i vettori di tutti i «paragrafi» del documento.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Thresholding</a:t>
            </a:r>
            <a:r>
              <a:rPr lang="it-IT" dirty="0"/>
              <a:t>: Solo i paragrafi con un punteggio di similarità superiore a una soglia configurabile (TFIDF_THRESHOLD = 0.15) vengono selezionati come </a:t>
            </a:r>
            <a:r>
              <a:rPr lang="it-IT" dirty="0" err="1"/>
              <a:t>context_paragraphs</a:t>
            </a:r>
            <a:r>
              <a:rPr lang="it-IT" dirty="0"/>
              <a:t>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57B07070-54D9-8262-F39B-54D76F8CEE25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ED241B4F-26D8-4252-2209-0AB57B9BA4DE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497AA83F-C961-41C3-C4BD-02BC20FF724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26020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F880FC-B06F-99B7-8459-CBF628CB5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F995E77-FCFA-A5B3-8645-C26FA667FDF0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9502E88F-1EB6-9F71-2574-1CAE0BBC95C1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CA748F42-39D7-EA55-C740-BBA735CD33A9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A851BAD3-7D94-CD1C-7039-4FF4096FC608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BC7AE68B-20C9-D5C0-82E2-E321B6696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28F3C3D1-F298-8E08-0C5D-46901D11FC5C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Indicizzazione e Information </a:t>
            </a:r>
            <a:r>
              <a:rPr lang="it-IT" sz="2400" b="1" dirty="0" err="1"/>
              <a:t>Retrival</a:t>
            </a:r>
            <a:r>
              <a:rPr lang="it-IT" sz="2400" b="1" dirty="0"/>
              <a:t> (Elasticsearch)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6DD07445-31BC-539B-980C-DA53051F47D8}"/>
              </a:ext>
            </a:extLst>
          </p:cNvPr>
          <p:cNvSpPr txBox="1"/>
          <p:nvPr/>
        </p:nvSpPr>
        <p:spPr>
          <a:xfrm>
            <a:off x="647564" y="2348586"/>
            <a:ext cx="78488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sistema implementa tre indici separati per gestire l’eterogeneità dei dati: </a:t>
            </a:r>
            <a:r>
              <a:rPr lang="it-IT" dirty="0" err="1"/>
              <a:t>content_index</a:t>
            </a:r>
            <a:r>
              <a:rPr lang="it-IT" dirty="0"/>
              <a:t>, </a:t>
            </a:r>
            <a:r>
              <a:rPr lang="it-IT" dirty="0" err="1"/>
              <a:t>tables_index</a:t>
            </a:r>
            <a:r>
              <a:rPr lang="it-IT" dirty="0"/>
              <a:t>, </a:t>
            </a:r>
            <a:r>
              <a:rPr lang="it-IT" dirty="0" err="1"/>
              <a:t>figures_index</a:t>
            </a:r>
            <a:r>
              <a:rPr lang="it-IT" dirty="0"/>
              <a:t>.</a:t>
            </a:r>
          </a:p>
          <a:p>
            <a:r>
              <a:rPr lang="it-IT" b="1" dirty="0"/>
              <a:t>Strategia di Ricerca Avanzata</a:t>
            </a:r>
            <a:r>
              <a:rPr lang="it-IT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Inverted</a:t>
            </a:r>
            <a:r>
              <a:rPr lang="it-IT" i="1" dirty="0"/>
              <a:t> Index</a:t>
            </a:r>
            <a:r>
              <a:rPr lang="it-IT" dirty="0"/>
              <a:t>: Elasticsearch utilizza questa </a:t>
            </a:r>
            <a:r>
              <a:rPr lang="it-IT" dirty="0" smtClean="0"/>
              <a:t>struttura </a:t>
            </a:r>
            <a:r>
              <a:rPr lang="it-IT" dirty="0"/>
              <a:t>dati per permettere ricerche full-text istantanee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Query String con </a:t>
            </a:r>
            <a:r>
              <a:rPr lang="it-IT" i="1" dirty="0" err="1"/>
              <a:t>Boosting</a:t>
            </a:r>
            <a:r>
              <a:rPr lang="it-IT" dirty="0"/>
              <a:t>: Per migliorare la rilevanza (Ranking), è stata applicata la tecnica del </a:t>
            </a:r>
            <a:r>
              <a:rPr lang="it-IT" dirty="0" err="1"/>
              <a:t>Boosting</a:t>
            </a:r>
            <a:r>
              <a:rPr lang="it-IT" dirty="0"/>
              <a:t>. Ad </a:t>
            </a:r>
            <a:r>
              <a:rPr lang="it-IT" dirty="0" smtClean="0"/>
              <a:t>esempio</a:t>
            </a:r>
            <a:r>
              <a:rPr lang="it-IT" dirty="0"/>
              <a:t>, nella ricerca documenti, il campo </a:t>
            </a:r>
            <a:r>
              <a:rPr lang="it-IT" dirty="0" err="1"/>
              <a:t>title</a:t>
            </a:r>
            <a:r>
              <a:rPr lang="it-IT" dirty="0"/>
              <a:t> ha un peso triplo (^3) rispetto al full-text, poiché un match nel titolo indica solitamente una maggiore pertinenza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Highlighting</a:t>
            </a:r>
            <a:r>
              <a:rPr lang="it-IT" dirty="0"/>
              <a:t>: Per soddisfare i requisiti di una ricerca «avanzata», il sistema restituisce gli </a:t>
            </a:r>
            <a:r>
              <a:rPr lang="it-IT" dirty="0" err="1"/>
              <a:t>snippet</a:t>
            </a:r>
            <a:r>
              <a:rPr lang="it-IT" dirty="0"/>
              <a:t> di testo evidenziati (&lt;</a:t>
            </a:r>
            <a:r>
              <a:rPr lang="it-IT" dirty="0" err="1"/>
              <a:t>mark</a:t>
            </a:r>
            <a:r>
              <a:rPr lang="it-IT" dirty="0"/>
              <a:t>&gt; o codici ANSI in shell), permettendo all’utente di capire immediatamente perché un risultato è stato considerato rilevante.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1E737647-2CDC-A0EF-4326-4DE95EEF7B65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A5D3163B-160D-AC25-2A9D-A6E32D7C7EC9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59BDCE50-4B2B-3A1E-DC05-491E9C2A02A6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92828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0B35D3-0635-F24D-D90B-9C04C50E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1B1AF383-2EC3-8F79-8EA2-A4860598E64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CE0E3C69-2795-D23B-ACA9-C3DD8D4710C5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53F31155-A459-CCA2-91B3-7A4ABD08AA9E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641CC867-18AB-8987-D395-345DC27A092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6D6645B2-81CB-0DF1-8641-4E705EF3D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9EE29149-ADBA-16E2-DB6B-3F37B9588059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Diagramma di Flusso dei Dati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3EE13F9E-F18F-57E7-5103-D252E3CC1115}"/>
              </a:ext>
            </a:extLst>
          </p:cNvPr>
          <p:cNvSpPr txBox="1"/>
          <p:nvPr/>
        </p:nvSpPr>
        <p:spPr>
          <a:xfrm>
            <a:off x="647564" y="2348586"/>
            <a:ext cx="78488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L’architettura segue il pattern Pipeline-as-Code, dove il dato fluisce attraverso </a:t>
            </a:r>
            <a:r>
              <a:rPr lang="it-IT" dirty="0" smtClean="0"/>
              <a:t>stadi </a:t>
            </a:r>
            <a:r>
              <a:rPr lang="it-IT" dirty="0"/>
              <a:t>di trasformazione successivi prima di diventare ricercabile: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Sorgenti Esterne</a:t>
            </a:r>
            <a:r>
              <a:rPr lang="it-IT" dirty="0"/>
              <a:t>: Interfacciamento asincrono con ArXiv (API + Scraping HTML) e </a:t>
            </a:r>
            <a:r>
              <a:rPr lang="it-IT" dirty="0" err="1"/>
              <a:t>PubMed</a:t>
            </a:r>
            <a:r>
              <a:rPr lang="it-IT" dirty="0"/>
              <a:t> (E-</a:t>
            </a:r>
            <a:r>
              <a:rPr lang="it-IT" dirty="0" err="1"/>
              <a:t>utils</a:t>
            </a:r>
            <a:r>
              <a:rPr lang="it-IT" dirty="0"/>
              <a:t> XML + scraping HTML)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Document</a:t>
            </a:r>
            <a:r>
              <a:rPr lang="it-IT" i="1" dirty="0"/>
              <a:t> </a:t>
            </a:r>
            <a:r>
              <a:rPr lang="it-IT" i="1" dirty="0" err="1"/>
              <a:t>Normalization</a:t>
            </a:r>
            <a:r>
              <a:rPr lang="it-IT" dirty="0"/>
              <a:t>: I dati grezzi convertiti in un formato interno standardizzato (</a:t>
            </a:r>
            <a:r>
              <a:rPr lang="it-IT" dirty="0" err="1"/>
              <a:t>Pandas</a:t>
            </a:r>
            <a:r>
              <a:rPr lang="it-IT" dirty="0"/>
              <a:t> </a:t>
            </a:r>
            <a:r>
              <a:rPr lang="it-IT" dirty="0" err="1"/>
              <a:t>Dataframe</a:t>
            </a:r>
            <a:r>
              <a:rPr lang="it-IT" dirty="0"/>
              <a:t>) che uniforma campi come </a:t>
            </a:r>
            <a:r>
              <a:rPr lang="it-IT" dirty="0" err="1"/>
              <a:t>title</a:t>
            </a:r>
            <a:r>
              <a:rPr lang="it-IT" dirty="0"/>
              <a:t>, </a:t>
            </a:r>
            <a:r>
              <a:rPr lang="it-IT" dirty="0" err="1"/>
              <a:t>authors</a:t>
            </a:r>
            <a:r>
              <a:rPr lang="it-IT" dirty="0"/>
              <a:t> e 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/>
              <a:t>Semantic </a:t>
            </a:r>
            <a:r>
              <a:rPr lang="it-IT" i="1" dirty="0" err="1"/>
              <a:t>Enrichment</a:t>
            </a:r>
            <a:r>
              <a:rPr lang="it-IT" i="1" dirty="0"/>
              <a:t> (TD-IDF)</a:t>
            </a:r>
            <a:r>
              <a:rPr lang="it-IT" dirty="0"/>
              <a:t>: Il testo viene segmentato in paragrafi. L’analizzatore calcola i pesi semantici per collegare gli oggetti multimediali al testo circostante.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Indexing</a:t>
            </a:r>
            <a:r>
              <a:rPr lang="it-IT" dirty="0"/>
              <a:t>: I dati arricchiti vengono inviati in modalità bulk a tre indici Elasticsearch ottimizzati.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20FC5382-43E6-62D8-7CAB-F8C7D150D627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537B81EE-E8E3-8F2A-1BF1-21F3A8E0C9A7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92D926F2-CC7B-3170-3D79-9F3B7BA9C3BB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</p:spTree>
    <p:extLst>
      <p:ext uri="{BB962C8B-B14F-4D97-AF65-F5344CB8AC3E}">
        <p14:creationId xmlns:p14="http://schemas.microsoft.com/office/powerpoint/2010/main" val="3088653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B6F67A8-90BB-FCF4-64BF-1C4A89717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4297B58B-F12A-3C8E-0782-D462BCD0E41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08F98C34-77F2-4C88-4691-859341405ECA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679D2A1A-A33E-5110-9043-488CD211DD1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057C9B36-66E1-504A-F19C-026524A26853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AABCD12D-6971-3EA4-FC52-1EE7B7E9F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CB833084-BC90-345B-F843-EB9E83729A5A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Valutazione e Esperimenti delle Prestazioni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="" xmlns:a16="http://schemas.microsoft.com/office/drawing/2014/main" id="{0EC3B28B-7259-A717-3F43-56E14C44C3CC}"/>
              </a:ext>
            </a:extLst>
          </p:cNvPr>
          <p:cNvSpPr txBox="1"/>
          <p:nvPr/>
        </p:nvSpPr>
        <p:spPr>
          <a:xfrm>
            <a:off x="647564" y="2348586"/>
            <a:ext cx="7848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Per garantire che il sistema risponda correttamente ai requisiti scientifici, è stata</a:t>
            </a:r>
          </a:p>
          <a:p>
            <a:r>
              <a:rPr lang="it-IT" dirty="0"/>
              <a:t>condotta una fase di testing divisa in metriche quantitative (numeriche) e</a:t>
            </a:r>
          </a:p>
          <a:p>
            <a:r>
              <a:rPr lang="it-IT" dirty="0"/>
              <a:t>qualitative (di pertinenza). 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A5AE6F2A-7F73-52CF-DFA1-736EBF70D0F2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53C34B32-BBC4-8D85-CF86-162B5039C539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8339AD4A-7DB3-E56F-ADCE-9482D5C71580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="" xmlns:a16="http://schemas.microsoft.com/office/drawing/2014/main" id="{A287B3D7-6AE8-338D-F683-040215BFA5BA}"/>
              </a:ext>
            </a:extLst>
          </p:cNvPr>
          <p:cNvSpPr txBox="1"/>
          <p:nvPr/>
        </p:nvSpPr>
        <p:spPr>
          <a:xfrm>
            <a:off x="647564" y="3308244"/>
            <a:ext cx="39650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A. Valutazione Quantitativa</a:t>
            </a:r>
          </a:p>
          <a:p>
            <a:r>
              <a:rPr lang="it-IT" dirty="0"/>
              <a:t>Questa fase misura l’efficienza tecnica e la capacità di recupero del sistema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Efficienza di </a:t>
            </a:r>
            <a:r>
              <a:rPr lang="it-IT" b="1" dirty="0" err="1"/>
              <a:t>Ingestion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Metrica: Tempo medio di elaborazione per articolo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 err="1"/>
              <a:t>Extraction</a:t>
            </a:r>
            <a:r>
              <a:rPr lang="it-IT" b="1" dirty="0"/>
              <a:t> </a:t>
            </a:r>
            <a:r>
              <a:rPr lang="it-IT" b="1" dirty="0" err="1"/>
              <a:t>Yeld</a:t>
            </a:r>
            <a:r>
              <a:rPr lang="it-IT" b="1" dirty="0"/>
              <a:t> (Resa di Estrazione):</a:t>
            </a:r>
          </a:p>
          <a:p>
            <a:pPr lvl="1"/>
            <a:r>
              <a:rPr lang="it-IT" dirty="0"/>
              <a:t>Metrica: % di tabelle/figure correttamente identificate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Latenza della Query:</a:t>
            </a:r>
          </a:p>
          <a:p>
            <a:pPr lvl="1"/>
            <a:r>
              <a:rPr lang="it-IT" dirty="0" err="1"/>
              <a:t>Metric</a:t>
            </a:r>
            <a:r>
              <a:rPr lang="it-IT" dirty="0"/>
              <a:t>: Millisecondi per restituire i risultati.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9EC122C9-F9AE-CFB8-B8B0-40273A3F8FE5}"/>
              </a:ext>
            </a:extLst>
          </p:cNvPr>
          <p:cNvSpPr txBox="1"/>
          <p:nvPr/>
        </p:nvSpPr>
        <p:spPr>
          <a:xfrm>
            <a:off x="4572000" y="3308244"/>
            <a:ext cx="39650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B. Valutazione Qualitativa</a:t>
            </a:r>
          </a:p>
          <a:p>
            <a:r>
              <a:rPr lang="it-IT" dirty="0"/>
              <a:t>Questa fase valuta se i risultati sono «utili» per un ricercatore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 err="1"/>
              <a:t>Precision@K</a:t>
            </a:r>
            <a:r>
              <a:rPr lang="it-IT" b="1" dirty="0"/>
              <a:t> (precisione ai primi K)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Viene testata la rilevanza dei primi 5 risultati per query specifiche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Efficacia del Contesto Semantico:</a:t>
            </a:r>
          </a:p>
          <a:p>
            <a:pPr lvl="1"/>
            <a:r>
              <a:rPr lang="it-IT" dirty="0"/>
              <a:t>Si è valutata la qualità dei </a:t>
            </a:r>
            <a:r>
              <a:rPr lang="it-IT" dirty="0" err="1"/>
              <a:t>context_paragraphs</a:t>
            </a:r>
            <a:r>
              <a:rPr lang="it-IT" dirty="0"/>
              <a:t> estratti</a:t>
            </a:r>
          </a:p>
          <a:p>
            <a:pPr marL="342900" indent="-342900">
              <a:buFont typeface="+mj-lt"/>
              <a:buAutoNum type="arabicPeriod"/>
            </a:pPr>
            <a:r>
              <a:rPr lang="it-IT" b="1" dirty="0"/>
              <a:t>Robustezza del </a:t>
            </a:r>
            <a:r>
              <a:rPr lang="it-IT" b="1" dirty="0" err="1"/>
              <a:t>Parsing</a:t>
            </a:r>
            <a:r>
              <a:rPr lang="it-IT" b="1" dirty="0"/>
              <a:t>:</a:t>
            </a:r>
          </a:p>
          <a:p>
            <a:pPr lvl="1"/>
            <a:r>
              <a:rPr lang="it-IT" dirty="0"/>
              <a:t>Test su documenti con tabelle complesse (celle unite, simboli)</a:t>
            </a:r>
          </a:p>
        </p:txBody>
      </p:sp>
    </p:spTree>
    <p:extLst>
      <p:ext uri="{BB962C8B-B14F-4D97-AF65-F5344CB8AC3E}">
        <p14:creationId xmlns:p14="http://schemas.microsoft.com/office/powerpoint/2010/main" val="4046399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E1A568A-8C23-716F-104B-06A7393E7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9B6CE4E4-3355-1ADA-C9B0-BC4231D50315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E3D7BAE6-B076-E01B-B26B-E49827583B8F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6A59ACA9-78DB-630B-BB12-682E0015E5AE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55DEFCEB-1AD8-9C78-1A38-A00C3AD85FCB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03574D07-CC9D-592C-11F0-56C77E40B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1C50839C-FAE9-506E-D376-744891B88F36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1 – Efficienza della Pipeline di </a:t>
            </a:r>
            <a:r>
              <a:rPr lang="it-IT" sz="2400" b="1" dirty="0" err="1"/>
              <a:t>Ingestion</a:t>
            </a:r>
            <a:endParaRPr lang="it-IT" sz="2400" b="1" dirty="0"/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3C611FCA-49AE-44BC-7195-1993F172816B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5799187E-1454-0DF2-E1F1-FF45C98CE05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73BE6D5B-CE96-F6E2-FBC6-C9A77B300F2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="" xmlns:a16="http://schemas.microsoft.com/office/drawing/2014/main" id="{F24936B0-0F87-9E90-C2AF-A0EBB8420A7B}"/>
              </a:ext>
            </a:extLst>
          </p:cNvPr>
          <p:cNvSpPr txBox="1"/>
          <p:nvPr/>
        </p:nvSpPr>
        <p:spPr>
          <a:xfrm>
            <a:off x="647564" y="2305374"/>
            <a:ext cx="7848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Obiettivo:</a:t>
            </a:r>
            <a:r>
              <a:rPr lang="it-IT" dirty="0"/>
              <a:t> Misurare l costo computazionale dell’intera pipeline: </a:t>
            </a:r>
            <a:r>
              <a:rPr lang="it-IT" dirty="0" err="1"/>
              <a:t>parsing</a:t>
            </a:r>
            <a:r>
              <a:rPr lang="it-IT" dirty="0"/>
              <a:t> HTML, estrazione multimediale e analisi semantica TF-IDF</a:t>
            </a:r>
          </a:p>
          <a:p>
            <a:r>
              <a:rPr lang="it-IT" b="1" dirty="0"/>
              <a:t>Metriche: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Tempo medio di elaborazione per articolo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Tempo totale di esecuzione della pipeline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303C2CCA-08F4-BDFE-BE6B-5E6927E11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273493"/>
              </p:ext>
            </p:extLst>
          </p:nvPr>
        </p:nvGraphicFramePr>
        <p:xfrm>
          <a:off x="1564625" y="3799557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Parsing</a:t>
                      </a:r>
                      <a:r>
                        <a:rPr lang="it-IT" dirty="0"/>
                        <a:t> 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/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Calcolo 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Estrazione Multimediale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/>
                        <a:t>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7397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b="1" dirty="0"/>
                        <a:t>Totale per Articolo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0361092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344641FB-ECAC-EB72-3481-E62BAC4B97DA}"/>
              </a:ext>
            </a:extLst>
          </p:cNvPr>
          <p:cNvSpPr txBox="1"/>
          <p:nvPr/>
        </p:nvSpPr>
        <p:spPr>
          <a:xfrm>
            <a:off x="647564" y="602128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L’elaborazione completa di 20 articoli usati per il test richiede quindi circa </a:t>
            </a:r>
            <a:r>
              <a:rPr lang="it-IT" dirty="0">
                <a:sym typeface="Symbol" panose="05050102010706020507" pitchFamily="18" charset="2"/>
              </a:rPr>
              <a:t>1s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34704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F57F71B-C662-8A83-688D-3475C5DE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B788970C-BDDE-F8EE-37D7-A0DA68B17C69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1733E9F0-FB29-FB17-A8A5-9A0E65A30A06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D7283A55-79F3-D84A-47AF-164FD24941C5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FE4FB832-CF72-D331-110A-8BDEE69BCECD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34EA85D3-8B93-30FB-C575-CAB3C2A62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43B995F0-07D2-24AC-1F5C-6A10D7E1A317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2 – </a:t>
            </a:r>
            <a:r>
              <a:rPr lang="it-IT" sz="2400" b="1" dirty="0" err="1"/>
              <a:t>Extraction</a:t>
            </a:r>
            <a:r>
              <a:rPr lang="it-IT" sz="2400" b="1" dirty="0"/>
              <a:t> Yield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9DF1827A-6700-25EB-7334-8FE45E773076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7CB59964-5EB6-32B1-35D3-2F08DA9434A1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F65290A4-AFB6-FD85-95C6-148432A9ABC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="" xmlns:a16="http://schemas.microsoft.com/office/drawing/2014/main" id="{22158E45-3953-36B5-86DE-F8D224C94200}"/>
                  </a:ext>
                </a:extLst>
              </p:cNvPr>
              <p:cNvSpPr txBox="1"/>
              <p:nvPr/>
            </p:nvSpPr>
            <p:spPr>
              <a:xfrm>
                <a:off x="647564" y="2305374"/>
                <a:ext cx="7848872" cy="23471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Obiettivo:</a:t>
                </a:r>
                <a:r>
                  <a:rPr lang="it-IT" dirty="0"/>
                  <a:t> Verificare quante tabelle e figure presenti nei documenti HTML vengano effettivamente intercettate dall’algoritmo di </a:t>
                </a:r>
                <a:r>
                  <a:rPr lang="it-IT" dirty="0" err="1"/>
                  <a:t>parsing</a:t>
                </a:r>
                <a:endParaRPr lang="it-IT" dirty="0"/>
              </a:p>
              <a:p>
                <a:r>
                  <a:rPr lang="it-IT" dirty="0"/>
                  <a:t>Metodo: Per un campione di 5 articoli di ArXiv e 5 </a:t>
                </a:r>
                <a:r>
                  <a:rPr lang="it-IT" dirty="0" err="1"/>
                  <a:t>PubMed</a:t>
                </a:r>
                <a:r>
                  <a:rPr lang="it-IT" dirty="0"/>
                  <a:t>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Conteggio manuale degli oggetti multimediali presenti nel documento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dirty="0"/>
                  <a:t>Confronto con quelli estratti dal sistema</a:t>
                </a:r>
              </a:p>
              <a:p>
                <a:r>
                  <a:rPr lang="it-IT" b="1" dirty="0"/>
                  <a:t>Metriche: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1" i="1" smtClean="0">
                          <a:latin typeface="Cambria Math" panose="02040503050406030204" pitchFamily="18" charset="0"/>
                        </a:rPr>
                        <m:t>Extraction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it-IT" b="1" i="1" smtClean="0">
                          <a:latin typeface="Cambria Math" panose="02040503050406030204" pitchFamily="18" charset="0"/>
                        </a:rPr>
                        <m:t>Yield</m:t>
                      </m:r>
                      <m:r>
                        <a:rPr lang="it-IT" b="1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it-IT" b="1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Oggetti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Estratti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Oggetti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1" i="1" smtClean="0">
                              <a:latin typeface="Cambria Math" panose="02040503050406030204" pitchFamily="18" charset="0"/>
                            </a:rPr>
                            <m:t>Presenti</m:t>
                          </m:r>
                        </m:den>
                      </m:f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22158E45-3953-36B5-86DE-F8D224C94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2305374"/>
                <a:ext cx="7848872" cy="2347181"/>
              </a:xfrm>
              <a:prstGeom prst="rect">
                <a:avLst/>
              </a:prstGeom>
              <a:blipFill>
                <a:blip r:embed="rId3"/>
                <a:stretch>
                  <a:fillRect l="-621" t="-1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B4E5552B-FC54-CB1F-2E06-4012B20F21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77141"/>
              </p:ext>
            </p:extLst>
          </p:nvPr>
        </p:nvGraphicFramePr>
        <p:xfrm>
          <a:off x="1564625" y="4761233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PubMed</a:t>
                      </a:r>
                      <a:r>
                        <a:rPr lang="it-IT" dirty="0"/>
                        <a:t> 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ym typeface="Symbol" panose="05050102010706020507" pitchFamily="18" charset="2"/>
                        </a:rPr>
                        <a:t>95-98%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ArXiv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80-88%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66847813-B4ED-4381-068B-3F57E9C9C260}"/>
              </a:ext>
            </a:extLst>
          </p:cNvPr>
          <p:cNvSpPr txBox="1"/>
          <p:nvPr/>
        </p:nvSpPr>
        <p:spPr>
          <a:xfrm>
            <a:off x="647564" y="6021288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differenza è dovuta alla maggiore regolarità strutturale dell’HTML di </a:t>
            </a:r>
            <a:r>
              <a:rPr lang="it-IT" dirty="0" err="1"/>
              <a:t>PubMed</a:t>
            </a:r>
            <a:endParaRPr lang="it-IT" dirty="0"/>
          </a:p>
          <a:p>
            <a:r>
              <a:rPr lang="it-IT" dirty="0"/>
              <a:t>rispetto alla conversione </a:t>
            </a:r>
            <a:r>
              <a:rPr lang="it-IT" dirty="0" err="1"/>
              <a:t>LaTeX→HTML</a:t>
            </a:r>
            <a:r>
              <a:rPr lang="it-IT" dirty="0"/>
              <a:t> di ArXiv</a:t>
            </a:r>
          </a:p>
        </p:txBody>
      </p:sp>
    </p:spTree>
    <p:extLst>
      <p:ext uri="{BB962C8B-B14F-4D97-AF65-F5344CB8AC3E}">
        <p14:creationId xmlns:p14="http://schemas.microsoft.com/office/powerpoint/2010/main" val="3375132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D789405-F2C2-9CAA-BDC6-4F1ACBD0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4DAF0808-A94D-C413-2F42-752346F049CF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1A995BF3-DA75-D647-4975-6B1988C4D151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8001D083-8760-0CB0-6B75-298FF5DAF9F0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472CAA16-8C24-F613-1936-E9095F4969A1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70F726F0-66D1-3A51-C633-E187A9A3D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791B7EF5-CBC4-4F11-0AD8-08F58167045B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3 – Qualità del Contesto Semantico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2D22AB9B-7407-D05D-F598-D6B710931F7E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A92F4CC9-E9E0-CCB0-82D3-A44DC4A54697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AE3DDACD-3F0B-5CF2-83C9-942DF66BF78D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="" xmlns:a16="http://schemas.microsoft.com/office/drawing/2014/main" id="{CB64829D-8CD5-5879-918B-522F1131AEBB}"/>
                  </a:ext>
                </a:extLst>
              </p:cNvPr>
              <p:cNvSpPr txBox="1"/>
              <p:nvPr/>
            </p:nvSpPr>
            <p:spPr>
              <a:xfrm>
                <a:off x="647564" y="2305374"/>
                <a:ext cx="7848872" cy="2296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b="1" dirty="0"/>
                  <a:t>Obiettivo:</a:t>
                </a:r>
                <a:r>
                  <a:rPr lang="it-IT" dirty="0"/>
                  <a:t> Dimostrare che l’uso del </a:t>
                </a:r>
                <a:r>
                  <a:rPr lang="it-IT" dirty="0" err="1"/>
                  <a:t>Vector</a:t>
                </a:r>
                <a:r>
                  <a:rPr lang="it-IT" dirty="0"/>
                  <a:t> Space Model produce un contesto più</a:t>
                </a:r>
              </a:p>
              <a:p>
                <a:r>
                  <a:rPr lang="it-IT" dirty="0"/>
                  <a:t>rilevante rispetto a un semplice matching testuale.</a:t>
                </a:r>
              </a:p>
              <a:p>
                <a:r>
                  <a:rPr lang="it-IT" b="1" dirty="0"/>
                  <a:t>Confronto</a:t>
                </a:r>
                <a:r>
                  <a:rPr lang="it-IT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Baseline: selezione dei paragrafi che contengono le parole «</a:t>
                </a:r>
                <a:r>
                  <a:rPr lang="it-IT" dirty="0" err="1"/>
                  <a:t>table</a:t>
                </a:r>
                <a:r>
                  <a:rPr lang="it-IT" dirty="0"/>
                  <a:t>» o «figure»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Metodo proposto: TF-IDF + Cosine </a:t>
                </a:r>
                <a:r>
                  <a:rPr lang="it-IT" dirty="0" err="1"/>
                  <a:t>Similarity</a:t>
                </a:r>
                <a:r>
                  <a:rPr lang="it-IT" dirty="0"/>
                  <a:t> con soglia 0.15</a:t>
                </a:r>
              </a:p>
              <a:p>
                <a:r>
                  <a:rPr lang="it-IT" b="1" dirty="0"/>
                  <a:t>Metriche: </a:t>
                </a:r>
                <a:r>
                  <a:rPr lang="it-IT" dirty="0"/>
                  <a:t>Precision@3 sui paragrafi restituiti.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b="0" i="1" smtClean="0">
                          <a:latin typeface="Cambria Math" panose="02040503050406030204" pitchFamily="18" charset="0"/>
                        </a:rPr>
                        <m:t>Precision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@3 = </m:t>
                      </m:r>
                      <m:f>
                        <m:fPr>
                          <m:ctrlPr>
                            <a:rPr lang="it-IT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𝑝𝑎𝑟𝑎𝑔𝑟𝑎𝑓𝑖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𝑟𝑒𝑎𝑙𝑚𝑒𝑛𝑡𝑒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𝑝𝑒𝑟𝑡𝑖𝑛𝑒𝑛𝑡𝑖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B64829D-8CD5-5879-918B-522F1131A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64" y="2305374"/>
                <a:ext cx="7848872" cy="2296783"/>
              </a:xfrm>
              <a:prstGeom prst="rect">
                <a:avLst/>
              </a:prstGeom>
              <a:blipFill>
                <a:blip r:embed="rId3"/>
                <a:stretch>
                  <a:fillRect l="-621" t="-1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733625E7-CF30-FDCB-E826-556B0E227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165666"/>
              </p:ext>
            </p:extLst>
          </p:nvPr>
        </p:nvGraphicFramePr>
        <p:xfrm>
          <a:off x="1564625" y="4761233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Keyword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ym typeface="Symbol" panose="05050102010706020507" pitchFamily="18" charset="2"/>
                        </a:rPr>
                        <a:t>0.45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TF-IDF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0.80-0.88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1F029457-5C22-2B99-F8B1-FD9BC54CAB46}"/>
              </a:ext>
            </a:extLst>
          </p:cNvPr>
          <p:cNvSpPr txBox="1"/>
          <p:nvPr/>
        </p:nvSpPr>
        <p:spPr>
          <a:xfrm>
            <a:off x="647564" y="6021288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modello semantico è in grado di recuperare paragrafi che discutono i </a:t>
            </a:r>
            <a:r>
              <a:rPr lang="it-IT" b="1" dirty="0"/>
              <a:t>valori</a:t>
            </a:r>
          </a:p>
          <a:p>
            <a:r>
              <a:rPr lang="it-IT" b="1" dirty="0"/>
              <a:t>numerici</a:t>
            </a:r>
            <a:r>
              <a:rPr lang="it-IT" dirty="0"/>
              <a:t> della tabella senza citarla esplicitamente.</a:t>
            </a:r>
          </a:p>
        </p:txBody>
      </p:sp>
    </p:spTree>
    <p:extLst>
      <p:ext uri="{BB962C8B-B14F-4D97-AF65-F5344CB8AC3E}">
        <p14:creationId xmlns:p14="http://schemas.microsoft.com/office/powerpoint/2010/main" val="2516598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6AA08C6-3D79-FF31-2EE1-79512F00C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8B6240FE-C30F-130E-E113-9CEA94D9C056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DDAC287A-03E5-AF86-3D3C-333517C93616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C6B0C6B2-798A-E6EF-C357-B3F6C4F11593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17FE9782-5B5F-81A0-056A-93955A6DC3C5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D72FB6DD-6025-8129-F5C1-0D78E78FB2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1DCE38FD-2958-204A-B238-68D36CA94007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4 – Qualità del Recupero Informativo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2E38C897-AD61-FA38-07A9-645A0BB8EA9A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85AEFF04-44C0-E470-DE5B-42183875B4E8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38E305F3-87EA-C858-3036-3C088A04CDA8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="" xmlns:a16="http://schemas.microsoft.com/office/drawing/2014/main" id="{DBF45B34-6B92-4F67-BBFE-5D6DFA22915C}"/>
              </a:ext>
            </a:extLst>
          </p:cNvPr>
          <p:cNvSpPr txBox="1"/>
          <p:nvPr/>
        </p:nvSpPr>
        <p:spPr>
          <a:xfrm>
            <a:off x="647564" y="2305374"/>
            <a:ext cx="784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Obiettivo: </a:t>
            </a:r>
            <a:r>
              <a:rPr lang="it-IT" dirty="0"/>
              <a:t>Valutare la rilevanza dei risultati restituiti dal motore di ricerca.</a:t>
            </a:r>
          </a:p>
          <a:p>
            <a:r>
              <a:rPr lang="it-IT" b="1" dirty="0"/>
              <a:t>Query di test:</a:t>
            </a: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ultra processed foods cardiovascular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text to speech neural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risk factors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accuracy</a:t>
            </a:r>
            <a:r>
              <a:rPr lang="it-IT" dirty="0"/>
              <a:t> </a:t>
            </a:r>
            <a:r>
              <a:rPr lang="it-IT" dirty="0" err="1"/>
              <a:t>results</a:t>
            </a:r>
            <a:r>
              <a:rPr lang="it-IT" dirty="0"/>
              <a:t> figure</a:t>
            </a:r>
          </a:p>
          <a:p>
            <a:r>
              <a:rPr lang="it-IT" dirty="0"/>
              <a:t>Per ciascuna query sono stati valutati i primi 5 risultati</a:t>
            </a:r>
          </a:p>
          <a:p>
            <a:r>
              <a:rPr lang="it-IT" b="1" dirty="0"/>
              <a:t>Metrica: </a:t>
            </a:r>
            <a:r>
              <a:rPr lang="it-IT" dirty="0"/>
              <a:t>Precision@5.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4AA99E22-2FD1-9FED-7E67-CFA79D48D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603509"/>
              </p:ext>
            </p:extLst>
          </p:nvPr>
        </p:nvGraphicFramePr>
        <p:xfrm>
          <a:off x="1564625" y="4761233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Operazione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Senza </a:t>
                      </a:r>
                      <a:r>
                        <a:rPr lang="it-IT" dirty="0" err="1"/>
                        <a:t>Boosting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Boosting</a:t>
                      </a:r>
                      <a:r>
                        <a:rPr lang="it-IT" dirty="0"/>
                        <a:t> (title^3)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D18BFA8C-7232-974F-CFB8-C0FF2355785F}"/>
              </a:ext>
            </a:extLst>
          </p:cNvPr>
          <p:cNvSpPr txBox="1"/>
          <p:nvPr/>
        </p:nvSpPr>
        <p:spPr>
          <a:xfrm>
            <a:off x="647564" y="6021288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</a:t>
            </a:r>
            <a:r>
              <a:rPr lang="it-IT" dirty="0" err="1"/>
              <a:t>boosting</a:t>
            </a:r>
            <a:r>
              <a:rPr lang="it-IT" dirty="0"/>
              <a:t> dimostra di ridurre significativamente i falsi positivi.</a:t>
            </a:r>
          </a:p>
        </p:txBody>
      </p:sp>
    </p:spTree>
    <p:extLst>
      <p:ext uri="{BB962C8B-B14F-4D97-AF65-F5344CB8AC3E}">
        <p14:creationId xmlns:p14="http://schemas.microsoft.com/office/powerpoint/2010/main" val="218447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6174ACC-1E36-6E76-5D8D-049FC833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28A5DFC5-4E8A-D3C9-4A7F-F7FB5574B03F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5322F560-E747-E854-35FC-8712F054ADB3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1A725E22-6266-169D-0E2D-8717CE89289C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D0F6EBB4-F9A7-814A-62BA-CFCDBDB496CE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F8B09EDE-2D1C-9C57-695F-E9EC1DCE6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21318474-B839-AB45-2D7A-0EBF36191A71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5 – Latenza delle Query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B39768E1-1F16-4B2B-C17E-3E0D5495FCC1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3754EF30-E812-14D6-EC92-18775878EBD2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747E86ED-2CD9-B51F-C43B-463493168291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="" xmlns:a16="http://schemas.microsoft.com/office/drawing/2014/main" id="{D0A9303A-28A9-AD2F-FFDD-9753320288CC}"/>
              </a:ext>
            </a:extLst>
          </p:cNvPr>
          <p:cNvSpPr txBox="1"/>
          <p:nvPr/>
        </p:nvSpPr>
        <p:spPr>
          <a:xfrm>
            <a:off x="647564" y="2305374"/>
            <a:ext cx="7848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Obiettivo: </a:t>
            </a:r>
            <a:r>
              <a:rPr lang="it-IT" dirty="0"/>
              <a:t>Misurare il tempo di risposta del sistema</a:t>
            </a:r>
          </a:p>
          <a:p>
            <a:r>
              <a:rPr lang="it-IT" b="1" dirty="0"/>
              <a:t>Metrica: </a:t>
            </a:r>
            <a:r>
              <a:rPr lang="it-IT" dirty="0"/>
              <a:t>Tempo medio per Query (in </a:t>
            </a:r>
            <a:r>
              <a:rPr lang="it-IT" dirty="0" err="1"/>
              <a:t>ms</a:t>
            </a:r>
            <a:r>
              <a:rPr lang="it-IT" dirty="0"/>
              <a:t>)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7B68AA3B-269F-4355-B20F-96166D9A6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72422"/>
              </p:ext>
            </p:extLst>
          </p:nvPr>
        </p:nvGraphicFramePr>
        <p:xfrm>
          <a:off x="1564625" y="298886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3048000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Tipo di Ricerca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Tempo Medio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Documenti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ym typeface="Symbol" panose="05050102010706020507" pitchFamily="18" charset="2"/>
                        </a:rPr>
                        <a:t>&lt; 40ms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Tabelle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&lt; 50ms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Figure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&lt; 50ms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7313753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61ED7751-016C-014B-BA30-AA42A315F633}"/>
              </a:ext>
            </a:extLst>
          </p:cNvPr>
          <p:cNvSpPr txBox="1"/>
          <p:nvPr/>
        </p:nvSpPr>
        <p:spPr>
          <a:xfrm>
            <a:off x="647564" y="4843076"/>
            <a:ext cx="7848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 presenza dell’indice invertito garantisce risposte in tempo reale.</a:t>
            </a:r>
          </a:p>
        </p:txBody>
      </p:sp>
    </p:spTree>
    <p:extLst>
      <p:ext uri="{BB962C8B-B14F-4D97-AF65-F5344CB8AC3E}">
        <p14:creationId xmlns:p14="http://schemas.microsoft.com/office/powerpoint/2010/main" val="3081498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9F5BEF8-0214-5840-D0A8-44D8D9D0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FC720B98-50E7-EEEB-860E-0B6D3DE60DC8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0606C98A-5707-60DB-FA79-AF05CB033ED7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E3230061-F0F4-4FF8-2D81-A664CF59ACC8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43F4882B-E4FC-D7D4-FD7C-20417BCCE5AF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A34D5466-F86D-8E37-DA50-C235A2AB4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1E34F032-EA35-454C-6213-0E5E4B0207DC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Esperimento 6 – Robustezza del </a:t>
            </a:r>
            <a:r>
              <a:rPr lang="it-IT" sz="2400" b="1" dirty="0" err="1"/>
              <a:t>Parsing</a:t>
            </a:r>
            <a:r>
              <a:rPr lang="it-IT" sz="2400" b="1" dirty="0"/>
              <a:t> delle Tabelle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7FC3F8AB-F52C-0547-F3CA-60E1C01974F9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8FB955E6-24D2-ECED-FE1E-29CEEAD24336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D5636367-735E-422C-8529-C802A4FA5C9E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="" xmlns:a16="http://schemas.microsoft.com/office/drawing/2014/main" id="{795B731D-D4F5-5DCC-BD5E-8EF8E86DDA2A}"/>
              </a:ext>
            </a:extLst>
          </p:cNvPr>
          <p:cNvSpPr txBox="1"/>
          <p:nvPr/>
        </p:nvSpPr>
        <p:spPr>
          <a:xfrm>
            <a:off x="647564" y="2305374"/>
            <a:ext cx="7848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Obiettivo: </a:t>
            </a:r>
            <a:r>
              <a:rPr lang="it-IT" dirty="0"/>
              <a:t>Verificare che il contenuto testuale delle tabelle rimanga leggibile e</a:t>
            </a:r>
          </a:p>
          <a:p>
            <a:r>
              <a:rPr lang="it-IT" dirty="0"/>
              <a:t>indicizzabile.</a:t>
            </a:r>
          </a:p>
          <a:p>
            <a:r>
              <a:rPr lang="it-IT" dirty="0"/>
              <a:t>L’uso di: </a:t>
            </a:r>
            <a:r>
              <a:rPr lang="it-IT" dirty="0" err="1"/>
              <a:t>real_tbl.get_text</a:t>
            </a:r>
            <a:r>
              <a:rPr lang="it-IT" dirty="0"/>
              <a:t>(separator=" ") evita la fusione delle celle, problema</a:t>
            </a:r>
          </a:p>
          <a:p>
            <a:r>
              <a:rPr lang="it-IT" dirty="0"/>
              <a:t>tipico del </a:t>
            </a:r>
            <a:r>
              <a:rPr lang="it-IT" dirty="0" err="1"/>
              <a:t>parsing</a:t>
            </a:r>
            <a:r>
              <a:rPr lang="it-IT" dirty="0"/>
              <a:t> HTML standard.</a:t>
            </a:r>
          </a:p>
          <a:p>
            <a:r>
              <a:rPr lang="it-IT" b="1" dirty="0"/>
              <a:t>Risultato: </a:t>
            </a:r>
            <a:r>
              <a:rPr lang="it-IT" dirty="0"/>
              <a:t>0 casi di parole fuse nel campione analizzato.</a:t>
            </a:r>
          </a:p>
        </p:txBody>
      </p:sp>
    </p:spTree>
    <p:extLst>
      <p:ext uri="{BB962C8B-B14F-4D97-AF65-F5344CB8AC3E}">
        <p14:creationId xmlns:p14="http://schemas.microsoft.com/office/powerpoint/2010/main" val="3041430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BEFB25A-FF91-B94D-1978-90B780913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421B2299-92D6-072F-E4D6-B00B8E0FA412}"/>
              </a:ext>
            </a:extLst>
          </p:cNvPr>
          <p:cNvSpPr txBox="1">
            <a:spLocks/>
          </p:cNvSpPr>
          <p:nvPr/>
        </p:nvSpPr>
        <p:spPr>
          <a:xfrm>
            <a:off x="1843141" y="0"/>
            <a:ext cx="7308304" cy="141763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3000" dirty="0"/>
          </a:p>
        </p:txBody>
      </p:sp>
      <p:cxnSp>
        <p:nvCxnSpPr>
          <p:cNvPr id="4" name="Connettore 1 3">
            <a:extLst>
              <a:ext uri="{FF2B5EF4-FFF2-40B4-BE49-F238E27FC236}">
                <a16:creationId xmlns="" xmlns:a16="http://schemas.microsoft.com/office/drawing/2014/main" id="{2F8192AD-FA59-7BDA-77FE-FEE8142A65EC}"/>
              </a:ext>
            </a:extLst>
          </p:cNvPr>
          <p:cNvCxnSpPr>
            <a:cxnSpLocks/>
          </p:cNvCxnSpPr>
          <p:nvPr/>
        </p:nvCxnSpPr>
        <p:spPr>
          <a:xfrm flipV="1">
            <a:off x="1835696" y="1484784"/>
            <a:ext cx="7315166" cy="3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>
            <a:extLst>
              <a:ext uri="{FF2B5EF4-FFF2-40B4-BE49-F238E27FC236}">
                <a16:creationId xmlns="" xmlns:a16="http://schemas.microsoft.com/office/drawing/2014/main" id="{97C596F9-2877-3D40-0CF9-6F7CF88EA8D5}"/>
              </a:ext>
            </a:extLst>
          </p:cNvPr>
          <p:cNvCxnSpPr>
            <a:cxnSpLocks/>
          </p:cNvCxnSpPr>
          <p:nvPr/>
        </p:nvCxnSpPr>
        <p:spPr>
          <a:xfrm flipV="1">
            <a:off x="1835696" y="1655186"/>
            <a:ext cx="7308304" cy="175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1 5">
            <a:extLst>
              <a:ext uri="{FF2B5EF4-FFF2-40B4-BE49-F238E27FC236}">
                <a16:creationId xmlns="" xmlns:a16="http://schemas.microsoft.com/office/drawing/2014/main" id="{6172AD1B-24E1-B93D-EE41-CDB9C9182113}"/>
              </a:ext>
            </a:extLst>
          </p:cNvPr>
          <p:cNvCxnSpPr>
            <a:cxnSpLocks/>
          </p:cNvCxnSpPr>
          <p:nvPr/>
        </p:nvCxnSpPr>
        <p:spPr>
          <a:xfrm flipV="1">
            <a:off x="1813875" y="1793690"/>
            <a:ext cx="7308304" cy="182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 descr="Immagine che contiene testo, Carattere, schermata, logo&#10;&#10;Il contenuto generato dall'IA potrebbe non essere corretto.">
            <a:extLst>
              <a:ext uri="{FF2B5EF4-FFF2-40B4-BE49-F238E27FC236}">
                <a16:creationId xmlns="" xmlns:a16="http://schemas.microsoft.com/office/drawing/2014/main" id="{EF298422-A54C-010F-0969-85F74E2F1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6"/>
            <a:ext cx="1835696" cy="184556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="" xmlns:a16="http://schemas.microsoft.com/office/drawing/2014/main" id="{14736590-A51D-C00F-C2DC-7C3222939833}"/>
              </a:ext>
            </a:extLst>
          </p:cNvPr>
          <p:cNvSpPr txBox="1"/>
          <p:nvPr/>
        </p:nvSpPr>
        <p:spPr>
          <a:xfrm>
            <a:off x="647564" y="1849421"/>
            <a:ext cx="78488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Sintesi dei Risultati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7308A729-CEA4-5E75-ECFA-4684FC361148}"/>
              </a:ext>
            </a:extLst>
          </p:cNvPr>
          <p:cNvSpPr txBox="1"/>
          <p:nvPr/>
        </p:nvSpPr>
        <p:spPr>
          <a:xfrm>
            <a:off x="1843141" y="416431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Corso di Laurea Magistrale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in Ingegneria Informatica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94FA29F6-A673-148B-47DA-AB28B1D98048}"/>
              </a:ext>
            </a:extLst>
          </p:cNvPr>
          <p:cNvSpPr txBox="1"/>
          <p:nvPr/>
        </p:nvSpPr>
        <p:spPr>
          <a:xfrm>
            <a:off x="4612625" y="408715"/>
            <a:ext cx="2160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Prova orale di Ingegneria dei Dati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="" xmlns:a16="http://schemas.microsoft.com/office/drawing/2014/main" id="{63A07992-F1B5-20BC-CF76-01EA5548374B}"/>
              </a:ext>
            </a:extLst>
          </p:cNvPr>
          <p:cNvSpPr txBox="1"/>
          <p:nvPr/>
        </p:nvSpPr>
        <p:spPr>
          <a:xfrm>
            <a:off x="6948264" y="422705"/>
            <a:ext cx="1152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A.A.</a:t>
            </a:r>
          </a:p>
          <a:p>
            <a:pPr algn="ctr"/>
            <a:r>
              <a:rPr lang="it-IT" sz="1600" dirty="0">
                <a:solidFill>
                  <a:schemeClr val="bg1"/>
                </a:solidFill>
              </a:rPr>
              <a:t>2025/2026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="" xmlns:a16="http://schemas.microsoft.com/office/drawing/2014/main" id="{15D59D51-4456-45DC-CD02-32F9DA2AF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598850"/>
              </p:ext>
            </p:extLst>
          </p:nvPr>
        </p:nvGraphicFramePr>
        <p:xfrm>
          <a:off x="647564" y="2266685"/>
          <a:ext cx="784887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291">
                  <a:extLst>
                    <a:ext uri="{9D8B030D-6E8A-4147-A177-3AD203B41FA5}">
                      <a16:colId xmlns="" xmlns:a16="http://schemas.microsoft.com/office/drawing/2014/main" val="1127291141"/>
                    </a:ext>
                  </a:extLst>
                </a:gridCol>
                <a:gridCol w="2616291">
                  <a:extLst>
                    <a:ext uri="{9D8B030D-6E8A-4147-A177-3AD203B41FA5}">
                      <a16:colId xmlns="" xmlns:a16="http://schemas.microsoft.com/office/drawing/2014/main" val="1148539208"/>
                    </a:ext>
                  </a:extLst>
                </a:gridCol>
                <a:gridCol w="2616291">
                  <a:extLst>
                    <a:ext uri="{9D8B030D-6E8A-4147-A177-3AD203B41FA5}">
                      <a16:colId xmlns="" xmlns:a16="http://schemas.microsoft.com/office/drawing/2014/main" val="40470533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Esperimento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Metrica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Valore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2204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Efficienza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ym typeface="Symbol" panose="05050102010706020507" pitchFamily="18" charset="2"/>
                        </a:rPr>
                        <a:t>Tempo/Articolo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it-IT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6322183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Extraction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PubMed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Yield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95–98%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572233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Extraction</a:t>
                      </a:r>
                      <a:r>
                        <a:rPr lang="it-IT" dirty="0"/>
                        <a:t> ArXiv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ym typeface="Symbol" panose="05050102010706020507" pitchFamily="18" charset="2"/>
                        </a:rPr>
                        <a:t>Yield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80–88%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2731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Contesto semantico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Precision@3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06378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Ricerca con </a:t>
                      </a:r>
                      <a:r>
                        <a:rPr lang="it-IT" dirty="0" err="1"/>
                        <a:t>boosting</a:t>
                      </a:r>
                      <a:r>
                        <a:rPr lang="it-IT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Precision@5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232015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Latenza query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Tempo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&lt; 50 </a:t>
                      </a:r>
                      <a:r>
                        <a:rPr lang="it-IT"/>
                        <a:t>ms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73660450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D67B6C44-EFF8-B76D-6FB9-F6742D57F87A}"/>
              </a:ext>
            </a:extLst>
          </p:cNvPr>
          <p:cNvSpPr txBox="1"/>
          <p:nvPr/>
        </p:nvSpPr>
        <p:spPr>
          <a:xfrm>
            <a:off x="647564" y="4843076"/>
            <a:ext cx="7848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Gli esperimenti dimostrano che il sistema non si limita a effettuare scraping e</a:t>
            </a:r>
          </a:p>
          <a:p>
            <a:r>
              <a:rPr lang="it-IT" dirty="0"/>
              <a:t>indicizzazione testuale, ma realizza un vero meccanismo di Semantic Multimedia</a:t>
            </a:r>
          </a:p>
          <a:p>
            <a:r>
              <a:rPr lang="it-IT" dirty="0" err="1"/>
              <a:t>Retrieval</a:t>
            </a:r>
            <a:r>
              <a:rPr lang="it-IT" dirty="0"/>
              <a:t>, in cui figure e tabelle vengono correttamente estratte, contestualizzate</a:t>
            </a:r>
          </a:p>
          <a:p>
            <a:r>
              <a:rPr lang="it-IT" dirty="0"/>
              <a:t>semanticamente e rese ricercabili con elevata precisione e bassissima latenza.</a:t>
            </a:r>
          </a:p>
          <a:p>
            <a:r>
              <a:rPr lang="it-IT" dirty="0"/>
              <a:t>La combinazione di TF-IDF per l’analisi semantica e Elasticsearch per</a:t>
            </a:r>
          </a:p>
          <a:p>
            <a:r>
              <a:rPr lang="it-IT" dirty="0"/>
              <a:t>l’indicizzazione si dimostra una soluzione efficace, scalabile e scientificamente</a:t>
            </a:r>
          </a:p>
          <a:p>
            <a:r>
              <a:rPr lang="it-IT" dirty="0"/>
              <a:t>misurabile per l’esplorazione della letteratura scientifica.</a:t>
            </a:r>
          </a:p>
        </p:txBody>
      </p:sp>
    </p:spTree>
    <p:extLst>
      <p:ext uri="{BB962C8B-B14F-4D97-AF65-F5344CB8AC3E}">
        <p14:creationId xmlns:p14="http://schemas.microsoft.com/office/powerpoint/2010/main" val="8103984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1693</Words>
  <Application>Microsoft Office PowerPoint</Application>
  <PresentationFormat>Presentazione su schermo (4:3)</PresentationFormat>
  <Paragraphs>244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6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DOUGLAS RUFFINI</dc:creator>
  <cp:lastModifiedBy>Douglas</cp:lastModifiedBy>
  <cp:revision>27</cp:revision>
  <cp:lastPrinted>2026-01-30T20:06:55Z</cp:lastPrinted>
  <dcterms:created xsi:type="dcterms:W3CDTF">2026-01-30T17:57:05Z</dcterms:created>
  <dcterms:modified xsi:type="dcterms:W3CDTF">2026-02-05T10:37:15Z</dcterms:modified>
</cp:coreProperties>
</file>