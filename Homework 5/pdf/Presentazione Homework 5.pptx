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56" r:id="rId2"/>
    <p:sldId id="269" r:id="rId3"/>
    <p:sldId id="270" r:id="rId4"/>
    <p:sldId id="271" r:id="rId5"/>
    <p:sldId id="273" r:id="rId6"/>
    <p:sldId id="272" r:id="rId7"/>
    <p:sldId id="283" r:id="rId8"/>
    <p:sldId id="274" r:id="rId9"/>
    <p:sldId id="275" r:id="rId10"/>
    <p:sldId id="276" r:id="rId11"/>
    <p:sldId id="277" r:id="rId12"/>
    <p:sldId id="280" r:id="rId13"/>
    <p:sldId id="278" r:id="rId14"/>
    <p:sldId id="279" r:id="rId15"/>
    <p:sldId id="281" r:id="rId16"/>
    <p:sldId id="282" r:id="rId17"/>
  </p:sldIdLst>
  <p:sldSz cx="9144000" cy="6858000" type="screen4x3"/>
  <p:notesSz cx="7104063" cy="10234613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essuno stile, nessuna griglia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Stile con tema 1 - Colore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CF1AB2-1976-4502-BF36-3FF5EA218861}" styleName="Stile medio 4 - Color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303"/>
    <p:restoredTop sz="94704"/>
  </p:normalViewPr>
  <p:slideViewPr>
    <p:cSldViewPr>
      <p:cViewPr varScale="1">
        <p:scale>
          <a:sx n="120" d="100"/>
          <a:sy n="120" d="100"/>
        </p:scale>
        <p:origin x="1192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090D082-39BB-8847-8BA0-8F185741A7A3}" type="datetimeFigureOut">
              <a:rPr lang="it-IT" smtClean="0"/>
              <a:t>20/02/26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1249363" y="1279525"/>
            <a:ext cx="4606925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2F3EEB6-7CD9-B648-B26E-FC12F408CA8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650656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ANALYZER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F3EEB6-7CD9-B648-B26E-FC12F408CA8B}" type="slidenum">
              <a:rPr lang="it-IT" smtClean="0"/>
              <a:t>6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8419071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9D355-16BD-4E45-BD9A-5EA878CF7CBD}" type="datetimeFigureOut">
              <a:rPr lang="it-IT" smtClean="0"/>
              <a:t>20/02/26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41E1B-4F70-4964-A407-84C68BE8251C}" type="slidenum">
              <a:rPr lang="it-IT" smtClean="0"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9D355-16BD-4E45-BD9A-5EA878CF7CBD}" type="datetimeFigureOut">
              <a:rPr lang="it-IT" smtClean="0"/>
              <a:t>20/02/26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41E1B-4F70-4964-A407-84C68BE8251C}" type="slidenum">
              <a:rPr lang="it-IT" smtClean="0"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9D355-16BD-4E45-BD9A-5EA878CF7CBD}" type="datetimeFigureOut">
              <a:rPr lang="it-IT" smtClean="0"/>
              <a:t>20/02/26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41E1B-4F70-4964-A407-84C68BE8251C}" type="slidenum">
              <a:rPr lang="it-IT" smtClean="0"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9D355-16BD-4E45-BD9A-5EA878CF7CBD}" type="datetimeFigureOut">
              <a:rPr lang="it-IT" smtClean="0"/>
              <a:t>20/02/26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41E1B-4F70-4964-A407-84C68BE8251C}" type="slidenum">
              <a:rPr lang="it-IT" smtClean="0"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9D355-16BD-4E45-BD9A-5EA878CF7CBD}" type="datetimeFigureOut">
              <a:rPr lang="it-IT" smtClean="0"/>
              <a:t>20/02/26</a:t>
            </a:fld>
            <a:endParaRPr lang="it-IT"/>
          </a:p>
        </p:txBody>
      </p:sp>
      <p:sp>
        <p:nvSpPr>
          <p:cNvPr id="8" name="Segnaposto piè di pa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41E1B-4F70-4964-A407-84C68BE8251C}" type="slidenum">
              <a:rPr lang="it-IT" smtClean="0"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9D355-16BD-4E45-BD9A-5EA878CF7CBD}" type="datetimeFigureOut">
              <a:rPr lang="it-IT" smtClean="0"/>
              <a:t>20/02/26</a:t>
            </a:fld>
            <a:endParaRPr lang="it-IT"/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41E1B-4F70-4964-A407-84C68BE8251C}" type="slidenum">
              <a:rPr lang="it-IT" smtClean="0"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9D355-16BD-4E45-BD9A-5EA878CF7CBD}" type="datetimeFigureOut">
              <a:rPr lang="it-IT" smtClean="0"/>
              <a:t>20/02/26</a:t>
            </a:fld>
            <a:endParaRPr lang="it-IT"/>
          </a:p>
        </p:txBody>
      </p:sp>
      <p:sp>
        <p:nvSpPr>
          <p:cNvPr id="3" name="Segnaposto piè di pa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41E1B-4F70-4964-A407-84C68BE8251C}" type="slidenum">
              <a:rPr lang="it-IT" smtClean="0"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9D355-16BD-4E45-BD9A-5EA878CF7CBD}" type="datetimeFigureOut">
              <a:rPr lang="it-IT" smtClean="0"/>
              <a:t>20/02/26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41E1B-4F70-4964-A407-84C68BE8251C}" type="slidenum">
              <a:rPr lang="it-IT" smtClean="0"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9D355-16BD-4E45-BD9A-5EA878CF7CBD}" type="datetimeFigureOut">
              <a:rPr lang="it-IT" smtClean="0"/>
              <a:t>20/02/26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41E1B-4F70-4964-A407-84C68BE8251C}" type="slidenum">
              <a:rPr lang="it-IT" smtClean="0"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9D355-16BD-4E45-BD9A-5EA878CF7CBD}" type="datetimeFigureOut">
              <a:rPr lang="it-IT" smtClean="0"/>
              <a:t>20/02/26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41E1B-4F70-4964-A407-84C68BE8251C}" type="slidenum">
              <a:rPr lang="it-IT" smtClean="0"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9D355-16BD-4E45-BD9A-5EA878CF7CBD}" type="datetimeFigureOut">
              <a:rPr lang="it-IT" smtClean="0"/>
              <a:t>20/02/26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41E1B-4F70-4964-A407-84C68BE8251C}" type="slidenum">
              <a:rPr lang="it-IT" smtClean="0"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49D355-16BD-4E45-BD9A-5EA878CF7CBD}" type="datetimeFigureOut">
              <a:rPr lang="it-IT" smtClean="0"/>
              <a:t>20/02/26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A41E1B-4F70-4964-A407-84C68BE8251C}" type="slidenum">
              <a:rPr lang="it-IT" smtClean="0"/>
              <a:t>‹N›</a:t>
            </a:fld>
            <a:endParaRPr lang="it-IT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 txBox="1">
            <a:spLocks/>
          </p:cNvSpPr>
          <p:nvPr/>
        </p:nvSpPr>
        <p:spPr>
          <a:xfrm>
            <a:off x="1843141" y="0"/>
            <a:ext cx="7308304" cy="1417638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it-IT" sz="3000" dirty="0"/>
          </a:p>
        </p:txBody>
      </p:sp>
      <p:cxnSp>
        <p:nvCxnSpPr>
          <p:cNvPr id="4" name="Connettore 1 3"/>
          <p:cNvCxnSpPr>
            <a:cxnSpLocks/>
          </p:cNvCxnSpPr>
          <p:nvPr/>
        </p:nvCxnSpPr>
        <p:spPr>
          <a:xfrm flipV="1">
            <a:off x="1835696" y="1484784"/>
            <a:ext cx="7315166" cy="33626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nettore 1 4"/>
          <p:cNvCxnSpPr>
            <a:cxnSpLocks/>
          </p:cNvCxnSpPr>
          <p:nvPr/>
        </p:nvCxnSpPr>
        <p:spPr>
          <a:xfrm flipV="1">
            <a:off x="1835696" y="1655186"/>
            <a:ext cx="7308304" cy="17544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nettore 1 5"/>
          <p:cNvCxnSpPr>
            <a:cxnSpLocks/>
          </p:cNvCxnSpPr>
          <p:nvPr/>
        </p:nvCxnSpPr>
        <p:spPr>
          <a:xfrm flipV="1">
            <a:off x="1813875" y="1793690"/>
            <a:ext cx="7308304" cy="18231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Immagine 8" descr="Immagine che contiene testo, Carattere, schermata, logo&#10;&#10;Il contenuto generato dall'IA potrebbe non essere corretto.">
            <a:extLst>
              <a:ext uri="{FF2B5EF4-FFF2-40B4-BE49-F238E27FC236}">
                <a16:creationId xmlns:a16="http://schemas.microsoft.com/office/drawing/2014/main" id="{CF85F421-134B-9392-87C0-35164E0490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856"/>
            <a:ext cx="1835696" cy="1845565"/>
          </a:xfrm>
          <a:prstGeom prst="rect">
            <a:avLst/>
          </a:prstGeom>
        </p:spPr>
      </p:pic>
      <p:sp>
        <p:nvSpPr>
          <p:cNvPr id="10" name="CasellaDiTesto 9">
            <a:extLst>
              <a:ext uri="{FF2B5EF4-FFF2-40B4-BE49-F238E27FC236}">
                <a16:creationId xmlns:a16="http://schemas.microsoft.com/office/drawing/2014/main" id="{E2C8555B-AE64-03F0-B10F-046ABD877CDA}"/>
              </a:ext>
            </a:extLst>
          </p:cNvPr>
          <p:cNvSpPr txBox="1"/>
          <p:nvPr/>
        </p:nvSpPr>
        <p:spPr>
          <a:xfrm>
            <a:off x="647564" y="2225473"/>
            <a:ext cx="784887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HW5: Sistema di Information </a:t>
            </a:r>
            <a:r>
              <a:rPr lang="it-IT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Retrival</a:t>
            </a:r>
            <a:r>
              <a:rPr lang="it-IT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basato su </a:t>
            </a:r>
            <a:r>
              <a:rPr lang="it-IT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ElasticSearch</a:t>
            </a:r>
            <a:r>
              <a:rPr lang="it-IT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per indicizzare e interrogare documenti scientifici provenienti da ArXiv e </a:t>
            </a:r>
            <a:r>
              <a:rPr lang="it-IT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PubMed</a:t>
            </a:r>
            <a:r>
              <a:rPr lang="it-IT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F801F7EA-DD68-D878-3228-397D66BEA4FD}"/>
              </a:ext>
            </a:extLst>
          </p:cNvPr>
          <p:cNvSpPr txBox="1"/>
          <p:nvPr/>
        </p:nvSpPr>
        <p:spPr>
          <a:xfrm>
            <a:off x="647564" y="4464150"/>
            <a:ext cx="370841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Progetto e Presentazione a cura di: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Barone Pietro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 Mario Alessandro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Petrolito Guido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Ruffini Douglas</a:t>
            </a:r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B516631A-4468-FB04-3A47-EA92C3A93030}"/>
              </a:ext>
            </a:extLst>
          </p:cNvPr>
          <p:cNvSpPr txBox="1"/>
          <p:nvPr/>
        </p:nvSpPr>
        <p:spPr>
          <a:xfrm>
            <a:off x="1843141" y="416431"/>
            <a:ext cx="273630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600" dirty="0">
                <a:solidFill>
                  <a:schemeClr val="bg1"/>
                </a:solidFill>
              </a:rPr>
              <a:t>Corso di Laurea Magistrale</a:t>
            </a:r>
          </a:p>
          <a:p>
            <a:pPr algn="ctr"/>
            <a:r>
              <a:rPr lang="it-IT" sz="1600" dirty="0">
                <a:solidFill>
                  <a:schemeClr val="bg1"/>
                </a:solidFill>
              </a:rPr>
              <a:t>in Ingegneria Informatica</a:t>
            </a:r>
          </a:p>
        </p:txBody>
      </p: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9AB26F59-F31A-A7B4-0F98-0476602B94CE}"/>
              </a:ext>
            </a:extLst>
          </p:cNvPr>
          <p:cNvSpPr txBox="1"/>
          <p:nvPr/>
        </p:nvSpPr>
        <p:spPr>
          <a:xfrm>
            <a:off x="4612625" y="408715"/>
            <a:ext cx="21602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600" dirty="0">
                <a:solidFill>
                  <a:schemeClr val="bg1"/>
                </a:solidFill>
              </a:rPr>
              <a:t>Prova orale di Ingegneria dei Dati</a:t>
            </a:r>
          </a:p>
        </p:txBody>
      </p:sp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FFFCA3BF-73DB-5656-171B-B40E7E45C155}"/>
              </a:ext>
            </a:extLst>
          </p:cNvPr>
          <p:cNvSpPr txBox="1"/>
          <p:nvPr/>
        </p:nvSpPr>
        <p:spPr>
          <a:xfrm>
            <a:off x="6948264" y="422705"/>
            <a:ext cx="11521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600" dirty="0">
                <a:solidFill>
                  <a:schemeClr val="bg1"/>
                </a:solidFill>
              </a:rPr>
              <a:t>A.A.</a:t>
            </a:r>
          </a:p>
          <a:p>
            <a:pPr algn="ctr"/>
            <a:r>
              <a:rPr lang="it-IT" sz="1600" dirty="0">
                <a:solidFill>
                  <a:schemeClr val="bg1"/>
                </a:solidFill>
              </a:rPr>
              <a:t>2025/2026</a:t>
            </a:r>
          </a:p>
        </p:txBody>
      </p:sp>
    </p:spTree>
    <p:extLst>
      <p:ext uri="{BB962C8B-B14F-4D97-AF65-F5344CB8AC3E}">
        <p14:creationId xmlns:p14="http://schemas.microsoft.com/office/powerpoint/2010/main" val="33799815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4E87CC-B6A9-6382-2FFF-D83B27BF81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C6E1A1F-D96E-C3C6-16FA-1E3518E57A9D}"/>
              </a:ext>
            </a:extLst>
          </p:cNvPr>
          <p:cNvSpPr txBox="1">
            <a:spLocks/>
          </p:cNvSpPr>
          <p:nvPr/>
        </p:nvSpPr>
        <p:spPr>
          <a:xfrm>
            <a:off x="1843141" y="0"/>
            <a:ext cx="7308304" cy="1417638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it-IT" sz="3000" dirty="0"/>
          </a:p>
        </p:txBody>
      </p:sp>
      <p:cxnSp>
        <p:nvCxnSpPr>
          <p:cNvPr id="4" name="Connettore 1 3">
            <a:extLst>
              <a:ext uri="{FF2B5EF4-FFF2-40B4-BE49-F238E27FC236}">
                <a16:creationId xmlns:a16="http://schemas.microsoft.com/office/drawing/2014/main" id="{54309DF8-674A-F114-563F-4DF7C6723475}"/>
              </a:ext>
            </a:extLst>
          </p:cNvPr>
          <p:cNvCxnSpPr>
            <a:cxnSpLocks/>
          </p:cNvCxnSpPr>
          <p:nvPr/>
        </p:nvCxnSpPr>
        <p:spPr>
          <a:xfrm flipV="1">
            <a:off x="1835696" y="1484784"/>
            <a:ext cx="7315166" cy="33626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nettore 1 4">
            <a:extLst>
              <a:ext uri="{FF2B5EF4-FFF2-40B4-BE49-F238E27FC236}">
                <a16:creationId xmlns:a16="http://schemas.microsoft.com/office/drawing/2014/main" id="{8396107B-127B-C5C6-5306-07A42E5352A9}"/>
              </a:ext>
            </a:extLst>
          </p:cNvPr>
          <p:cNvCxnSpPr>
            <a:cxnSpLocks/>
          </p:cNvCxnSpPr>
          <p:nvPr/>
        </p:nvCxnSpPr>
        <p:spPr>
          <a:xfrm flipV="1">
            <a:off x="1835696" y="1655186"/>
            <a:ext cx="7308304" cy="17544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nettore 1 5">
            <a:extLst>
              <a:ext uri="{FF2B5EF4-FFF2-40B4-BE49-F238E27FC236}">
                <a16:creationId xmlns:a16="http://schemas.microsoft.com/office/drawing/2014/main" id="{F36367AE-F0FB-C1EB-3637-32FC67130C41}"/>
              </a:ext>
            </a:extLst>
          </p:cNvPr>
          <p:cNvCxnSpPr>
            <a:cxnSpLocks/>
          </p:cNvCxnSpPr>
          <p:nvPr/>
        </p:nvCxnSpPr>
        <p:spPr>
          <a:xfrm flipV="1">
            <a:off x="1813875" y="1793690"/>
            <a:ext cx="7308304" cy="18231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Immagine 8" descr="Immagine che contiene testo, Carattere, schermata, logo&#10;&#10;Il contenuto generato dall'IA potrebbe non essere corretto.">
            <a:extLst>
              <a:ext uri="{FF2B5EF4-FFF2-40B4-BE49-F238E27FC236}">
                <a16:creationId xmlns:a16="http://schemas.microsoft.com/office/drawing/2014/main" id="{5AE74FC4-C3A8-C5B4-7682-430F7724E10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856"/>
            <a:ext cx="1835696" cy="1845565"/>
          </a:xfrm>
          <a:prstGeom prst="rect">
            <a:avLst/>
          </a:prstGeom>
        </p:spPr>
      </p:pic>
      <p:sp>
        <p:nvSpPr>
          <p:cNvPr id="10" name="CasellaDiTesto 9">
            <a:extLst>
              <a:ext uri="{FF2B5EF4-FFF2-40B4-BE49-F238E27FC236}">
                <a16:creationId xmlns:a16="http://schemas.microsoft.com/office/drawing/2014/main" id="{F084CA8C-C06E-EE78-34FB-07FABC704AC6}"/>
              </a:ext>
            </a:extLst>
          </p:cNvPr>
          <p:cNvSpPr txBox="1"/>
          <p:nvPr/>
        </p:nvSpPr>
        <p:spPr>
          <a:xfrm>
            <a:off x="647564" y="1970381"/>
            <a:ext cx="78488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Architettura del Sistema</a:t>
            </a: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F926B102-16E0-52E4-1768-5B87A0048981}"/>
              </a:ext>
            </a:extLst>
          </p:cNvPr>
          <p:cNvSpPr txBox="1"/>
          <p:nvPr/>
        </p:nvSpPr>
        <p:spPr>
          <a:xfrm>
            <a:off x="179512" y="2553006"/>
            <a:ext cx="8784976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Il Sistema adotta </a:t>
            </a:r>
            <a:r>
              <a:rPr lang="it-IT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un’architettura modulare </a:t>
            </a: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suddivisa in quattro macro-componenti, seguendo i principi di ingegneria del software per garantire manutenibilità e scalabilità:</a:t>
            </a:r>
          </a:p>
          <a:p>
            <a:endParaRPr lang="it-IT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itchFamily="2" charset="2"/>
              <a:buChar char="§"/>
            </a:pPr>
            <a:r>
              <a:rPr lang="it-IT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Ingestion</a:t>
            </a:r>
            <a:r>
              <a:rPr lang="it-IT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Layer </a:t>
            </a: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it-IT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src</a:t>
            </a:r>
            <a:r>
              <a:rPr lang="it-IT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it-IT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ingestion</a:t>
            </a:r>
            <a:r>
              <a:rPr lang="it-IT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): Gestisce l’interfacciamento con le API esterne di ArXiv e </a:t>
            </a:r>
            <a:r>
              <a:rPr lang="it-IT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PubMed</a:t>
            </a:r>
            <a:endParaRPr lang="it-IT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it-IT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itchFamily="2" charset="2"/>
              <a:buChar char="§"/>
            </a:pPr>
            <a:r>
              <a:rPr lang="it-IT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Processing Layer </a:t>
            </a: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it-IT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src</a:t>
            </a:r>
            <a:r>
              <a:rPr lang="it-IT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/processing/</a:t>
            </a: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): Gestisce la logica di </a:t>
            </a:r>
            <a:r>
              <a:rPr lang="it-IT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parsing</a:t>
            </a: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HTML, estrazione multimediale e analisi semantica.</a:t>
            </a:r>
          </a:p>
          <a:p>
            <a:endParaRPr lang="it-IT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itchFamily="2" charset="2"/>
              <a:buChar char="§"/>
            </a:pPr>
            <a:r>
              <a:rPr lang="it-IT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Storage &amp; </a:t>
            </a:r>
            <a:r>
              <a:rPr lang="it-IT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Indexing</a:t>
            </a:r>
            <a:r>
              <a:rPr lang="it-IT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Layer </a:t>
            </a: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it-IT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src</a:t>
            </a:r>
            <a:r>
              <a:rPr lang="it-IT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/core/</a:t>
            </a: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): Gestisce la connessione con Elasticsearch e la definizione dei mapping</a:t>
            </a:r>
          </a:p>
          <a:p>
            <a:endParaRPr lang="it-IT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itchFamily="2" charset="2"/>
              <a:buChar char="§"/>
            </a:pPr>
            <a:r>
              <a:rPr lang="it-IT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Interface Layer </a:t>
            </a: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it-IT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run_shell.py, run_web.py</a:t>
            </a: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): Fornisce i punti di accesso al sistema in due formati: CLI e Web</a:t>
            </a:r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C518A7E9-A58F-E62C-FE5D-5437C1FE2BEF}"/>
              </a:ext>
            </a:extLst>
          </p:cNvPr>
          <p:cNvSpPr txBox="1"/>
          <p:nvPr/>
        </p:nvSpPr>
        <p:spPr>
          <a:xfrm>
            <a:off x="1843141" y="416431"/>
            <a:ext cx="273630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600" dirty="0">
                <a:solidFill>
                  <a:schemeClr val="bg1"/>
                </a:solidFill>
              </a:rPr>
              <a:t>Corso di Laurea Magistrale</a:t>
            </a:r>
          </a:p>
          <a:p>
            <a:pPr algn="ctr"/>
            <a:r>
              <a:rPr lang="it-IT" sz="1600" dirty="0">
                <a:solidFill>
                  <a:schemeClr val="bg1"/>
                </a:solidFill>
              </a:rPr>
              <a:t>in Ingegneria Informatica</a:t>
            </a:r>
          </a:p>
        </p:txBody>
      </p: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A930EFD5-C146-179F-F4BC-F9D9E72BD6E2}"/>
              </a:ext>
            </a:extLst>
          </p:cNvPr>
          <p:cNvSpPr txBox="1"/>
          <p:nvPr/>
        </p:nvSpPr>
        <p:spPr>
          <a:xfrm>
            <a:off x="4612625" y="408715"/>
            <a:ext cx="21602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600" dirty="0">
                <a:solidFill>
                  <a:schemeClr val="bg1"/>
                </a:solidFill>
              </a:rPr>
              <a:t>Prova orale di Ingegneria dei Dati</a:t>
            </a:r>
          </a:p>
        </p:txBody>
      </p:sp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774DBCEA-B1DA-52E1-DA9F-007564293623}"/>
              </a:ext>
            </a:extLst>
          </p:cNvPr>
          <p:cNvSpPr txBox="1"/>
          <p:nvPr/>
        </p:nvSpPr>
        <p:spPr>
          <a:xfrm>
            <a:off x="6948264" y="422705"/>
            <a:ext cx="11521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600" dirty="0">
                <a:solidFill>
                  <a:schemeClr val="bg1"/>
                </a:solidFill>
              </a:rPr>
              <a:t>A.A.</a:t>
            </a:r>
          </a:p>
          <a:p>
            <a:pPr algn="ctr"/>
            <a:r>
              <a:rPr lang="it-IT" sz="1600" dirty="0">
                <a:solidFill>
                  <a:schemeClr val="bg1"/>
                </a:solidFill>
              </a:rPr>
              <a:t>2025/2026</a:t>
            </a:r>
          </a:p>
        </p:txBody>
      </p:sp>
    </p:spTree>
    <p:extLst>
      <p:ext uri="{BB962C8B-B14F-4D97-AF65-F5344CB8AC3E}">
        <p14:creationId xmlns:p14="http://schemas.microsoft.com/office/powerpoint/2010/main" val="12993302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7753E2-610A-D0ED-0D6D-060BCE323E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4D1EC1B-720C-6CEC-2C4C-4348498E9CE7}"/>
              </a:ext>
            </a:extLst>
          </p:cNvPr>
          <p:cNvSpPr txBox="1">
            <a:spLocks/>
          </p:cNvSpPr>
          <p:nvPr/>
        </p:nvSpPr>
        <p:spPr>
          <a:xfrm>
            <a:off x="1843141" y="0"/>
            <a:ext cx="7308304" cy="1417638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it-IT" sz="3000" dirty="0"/>
          </a:p>
        </p:txBody>
      </p:sp>
      <p:cxnSp>
        <p:nvCxnSpPr>
          <p:cNvPr id="4" name="Connettore 1 3">
            <a:extLst>
              <a:ext uri="{FF2B5EF4-FFF2-40B4-BE49-F238E27FC236}">
                <a16:creationId xmlns:a16="http://schemas.microsoft.com/office/drawing/2014/main" id="{8025772F-F733-36CC-6D38-19FC5C9DBFCA}"/>
              </a:ext>
            </a:extLst>
          </p:cNvPr>
          <p:cNvCxnSpPr>
            <a:cxnSpLocks/>
          </p:cNvCxnSpPr>
          <p:nvPr/>
        </p:nvCxnSpPr>
        <p:spPr>
          <a:xfrm flipV="1">
            <a:off x="1835696" y="1484784"/>
            <a:ext cx="7315166" cy="33626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nettore 1 4">
            <a:extLst>
              <a:ext uri="{FF2B5EF4-FFF2-40B4-BE49-F238E27FC236}">
                <a16:creationId xmlns:a16="http://schemas.microsoft.com/office/drawing/2014/main" id="{D5ECDABC-2F67-F37C-D692-7D47BB955ACB}"/>
              </a:ext>
            </a:extLst>
          </p:cNvPr>
          <p:cNvCxnSpPr>
            <a:cxnSpLocks/>
          </p:cNvCxnSpPr>
          <p:nvPr/>
        </p:nvCxnSpPr>
        <p:spPr>
          <a:xfrm flipV="1">
            <a:off x="1835696" y="1655186"/>
            <a:ext cx="7308304" cy="17544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nettore 1 5">
            <a:extLst>
              <a:ext uri="{FF2B5EF4-FFF2-40B4-BE49-F238E27FC236}">
                <a16:creationId xmlns:a16="http://schemas.microsoft.com/office/drawing/2014/main" id="{D12C7090-E859-4531-039D-2F7043BB34C6}"/>
              </a:ext>
            </a:extLst>
          </p:cNvPr>
          <p:cNvCxnSpPr>
            <a:cxnSpLocks/>
          </p:cNvCxnSpPr>
          <p:nvPr/>
        </p:nvCxnSpPr>
        <p:spPr>
          <a:xfrm flipV="1">
            <a:off x="1813875" y="1793690"/>
            <a:ext cx="7308304" cy="18231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Immagine 8" descr="Immagine che contiene testo, Carattere, schermata, logo&#10;&#10;Il contenuto generato dall'IA potrebbe non essere corretto.">
            <a:extLst>
              <a:ext uri="{FF2B5EF4-FFF2-40B4-BE49-F238E27FC236}">
                <a16:creationId xmlns:a16="http://schemas.microsoft.com/office/drawing/2014/main" id="{0D9B30C9-A3B5-5A63-4056-434CC89C18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856"/>
            <a:ext cx="1835696" cy="1845565"/>
          </a:xfrm>
          <a:prstGeom prst="rect">
            <a:avLst/>
          </a:prstGeom>
        </p:spPr>
      </p:pic>
      <p:sp>
        <p:nvSpPr>
          <p:cNvPr id="10" name="CasellaDiTesto 9">
            <a:extLst>
              <a:ext uri="{FF2B5EF4-FFF2-40B4-BE49-F238E27FC236}">
                <a16:creationId xmlns:a16="http://schemas.microsoft.com/office/drawing/2014/main" id="{EA51A80D-4A66-85E6-9812-0B7C06ACB5F0}"/>
              </a:ext>
            </a:extLst>
          </p:cNvPr>
          <p:cNvSpPr txBox="1"/>
          <p:nvPr/>
        </p:nvSpPr>
        <p:spPr>
          <a:xfrm>
            <a:off x="647564" y="2068505"/>
            <a:ext cx="78488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Tecniche di </a:t>
            </a:r>
            <a:r>
              <a:rPr lang="it-IT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Ingestion</a:t>
            </a:r>
            <a:r>
              <a:rPr lang="it-IT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 Recupero Documentale</a:t>
            </a: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A06440E5-EAA3-50E5-6083-B4AD26CF8142}"/>
              </a:ext>
            </a:extLst>
          </p:cNvPr>
          <p:cNvSpPr txBox="1"/>
          <p:nvPr/>
        </p:nvSpPr>
        <p:spPr>
          <a:xfrm>
            <a:off x="220137" y="2636912"/>
            <a:ext cx="8784976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 sfida principale risiede nell’eterogeneità delle sorgenti:</a:t>
            </a:r>
          </a:p>
          <a:p>
            <a:endParaRPr lang="it-IT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itchFamily="2" charset="2"/>
              <a:buChar char="Ø"/>
            </a:pPr>
            <a:r>
              <a:rPr lang="it-IT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ArXiv</a:t>
            </a: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Si utilizza la </a:t>
            </a:r>
            <a:r>
              <a:rPr lang="it-IT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libreria arxiv</a:t>
            </a: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per i metadati e una tecnica di </a:t>
            </a:r>
            <a:r>
              <a:rPr lang="it-IT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URL </a:t>
            </a:r>
            <a:r>
              <a:rPr lang="it-IT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transformation</a:t>
            </a: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per accedere alla versione HTML (sostituendo </a:t>
            </a:r>
            <a:r>
              <a:rPr lang="it-IT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it-IT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abs</a:t>
            </a:r>
            <a:r>
              <a:rPr lang="it-IT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/ </a:t>
            </a: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 </a:t>
            </a:r>
            <a:r>
              <a:rPr lang="it-IT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/html/</a:t>
            </a: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 questo permette di evitare il </a:t>
            </a:r>
            <a:r>
              <a:rPr lang="it-IT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parsing</a:t>
            </a: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complesso dei PDF, lavorando su testo strutturato.</a:t>
            </a:r>
          </a:p>
          <a:p>
            <a:endParaRPr lang="it-IT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itchFamily="2" charset="2"/>
              <a:buChar char="Ø"/>
            </a:pPr>
            <a:r>
              <a:rPr lang="it-IT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PubMed</a:t>
            </a:r>
            <a:r>
              <a:rPr lang="it-IT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Central </a:t>
            </a: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(PMC): Si implementa una strategia ibrida. I metadati (</a:t>
            </a:r>
            <a:r>
              <a:rPr lang="it-IT" dirty="0">
                <a:latin typeface="Courier New" panose="02070309020205020404" pitchFamily="49" charset="0"/>
                <a:cs typeface="Courier New" panose="02070309020205020404" pitchFamily="49" charset="0"/>
              </a:rPr>
              <a:t>titolo autori, abstract</a:t>
            </a: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vengono estratti via </a:t>
            </a:r>
            <a:r>
              <a:rPr lang="it-IT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XML</a:t>
            </a: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(E-</a:t>
            </a:r>
            <a:r>
              <a:rPr lang="it-IT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utils</a:t>
            </a: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API) per massima precisione, mentre il corpo del testo e gli oggetti multimediali vengono recuperati tramite </a:t>
            </a:r>
            <a:r>
              <a:rPr lang="it-IT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parsing</a:t>
            </a: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della pagina HTML.</a:t>
            </a:r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EC5045AA-378F-D610-1D3C-D1D454C8DF21}"/>
              </a:ext>
            </a:extLst>
          </p:cNvPr>
          <p:cNvSpPr txBox="1"/>
          <p:nvPr/>
        </p:nvSpPr>
        <p:spPr>
          <a:xfrm>
            <a:off x="1843141" y="416431"/>
            <a:ext cx="273630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600" dirty="0">
                <a:solidFill>
                  <a:schemeClr val="bg1"/>
                </a:solidFill>
              </a:rPr>
              <a:t>Corso di Laurea Magistrale</a:t>
            </a:r>
          </a:p>
          <a:p>
            <a:pPr algn="ctr"/>
            <a:r>
              <a:rPr lang="it-IT" sz="1600" dirty="0">
                <a:solidFill>
                  <a:schemeClr val="bg1"/>
                </a:solidFill>
              </a:rPr>
              <a:t>in Ingegneria Informatica</a:t>
            </a:r>
          </a:p>
        </p:txBody>
      </p: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DC14D8F6-33B8-C326-A06F-12DC11E14D3D}"/>
              </a:ext>
            </a:extLst>
          </p:cNvPr>
          <p:cNvSpPr txBox="1"/>
          <p:nvPr/>
        </p:nvSpPr>
        <p:spPr>
          <a:xfrm>
            <a:off x="4612625" y="408715"/>
            <a:ext cx="21602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600" dirty="0">
                <a:solidFill>
                  <a:schemeClr val="bg1"/>
                </a:solidFill>
              </a:rPr>
              <a:t>Prova orale di Ingegneria dei Dati</a:t>
            </a:r>
          </a:p>
        </p:txBody>
      </p:sp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5649E7D8-0C0C-3735-E0CF-31EA2BAC1989}"/>
              </a:ext>
            </a:extLst>
          </p:cNvPr>
          <p:cNvSpPr txBox="1"/>
          <p:nvPr/>
        </p:nvSpPr>
        <p:spPr>
          <a:xfrm>
            <a:off x="6948264" y="422705"/>
            <a:ext cx="11521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600" dirty="0">
                <a:solidFill>
                  <a:schemeClr val="bg1"/>
                </a:solidFill>
              </a:rPr>
              <a:t>A.A.</a:t>
            </a:r>
          </a:p>
          <a:p>
            <a:pPr algn="ctr"/>
            <a:r>
              <a:rPr lang="it-IT" sz="1600" dirty="0">
                <a:solidFill>
                  <a:schemeClr val="bg1"/>
                </a:solidFill>
              </a:rPr>
              <a:t>2025/2026</a:t>
            </a:r>
          </a:p>
        </p:txBody>
      </p:sp>
    </p:spTree>
    <p:extLst>
      <p:ext uri="{BB962C8B-B14F-4D97-AF65-F5344CB8AC3E}">
        <p14:creationId xmlns:p14="http://schemas.microsoft.com/office/powerpoint/2010/main" val="27311795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A19244-86CD-47A3-F4E5-F7102D7D7C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55B28F9-E0FB-C46B-581E-FC4FE1848C94}"/>
              </a:ext>
            </a:extLst>
          </p:cNvPr>
          <p:cNvSpPr txBox="1">
            <a:spLocks/>
          </p:cNvSpPr>
          <p:nvPr/>
        </p:nvSpPr>
        <p:spPr>
          <a:xfrm>
            <a:off x="1843141" y="0"/>
            <a:ext cx="7308304" cy="1417638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it-IT" sz="3000" dirty="0"/>
          </a:p>
        </p:txBody>
      </p:sp>
      <p:cxnSp>
        <p:nvCxnSpPr>
          <p:cNvPr id="4" name="Connettore 1 3">
            <a:extLst>
              <a:ext uri="{FF2B5EF4-FFF2-40B4-BE49-F238E27FC236}">
                <a16:creationId xmlns:a16="http://schemas.microsoft.com/office/drawing/2014/main" id="{741AE474-5471-8C85-9975-F80E269A03FF}"/>
              </a:ext>
            </a:extLst>
          </p:cNvPr>
          <p:cNvCxnSpPr>
            <a:cxnSpLocks/>
          </p:cNvCxnSpPr>
          <p:nvPr/>
        </p:nvCxnSpPr>
        <p:spPr>
          <a:xfrm flipV="1">
            <a:off x="1835696" y="1484784"/>
            <a:ext cx="7315166" cy="33626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nettore 1 4">
            <a:extLst>
              <a:ext uri="{FF2B5EF4-FFF2-40B4-BE49-F238E27FC236}">
                <a16:creationId xmlns:a16="http://schemas.microsoft.com/office/drawing/2014/main" id="{FCDDAD0B-D7FB-9553-3CAA-E1FF71798FC8}"/>
              </a:ext>
            </a:extLst>
          </p:cNvPr>
          <p:cNvCxnSpPr>
            <a:cxnSpLocks/>
          </p:cNvCxnSpPr>
          <p:nvPr/>
        </p:nvCxnSpPr>
        <p:spPr>
          <a:xfrm flipV="1">
            <a:off x="1835696" y="1655186"/>
            <a:ext cx="7308304" cy="17544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nettore 1 5">
            <a:extLst>
              <a:ext uri="{FF2B5EF4-FFF2-40B4-BE49-F238E27FC236}">
                <a16:creationId xmlns:a16="http://schemas.microsoft.com/office/drawing/2014/main" id="{FC8C8FB0-1EA0-02F1-08D0-970688ECCE6D}"/>
              </a:ext>
            </a:extLst>
          </p:cNvPr>
          <p:cNvCxnSpPr>
            <a:cxnSpLocks/>
          </p:cNvCxnSpPr>
          <p:nvPr/>
        </p:nvCxnSpPr>
        <p:spPr>
          <a:xfrm flipV="1">
            <a:off x="1813875" y="1793690"/>
            <a:ext cx="7308304" cy="18231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Immagine 8" descr="Immagine che contiene testo, Carattere, schermata, logo&#10;&#10;Il contenuto generato dall'IA potrebbe non essere corretto.">
            <a:extLst>
              <a:ext uri="{FF2B5EF4-FFF2-40B4-BE49-F238E27FC236}">
                <a16:creationId xmlns:a16="http://schemas.microsoft.com/office/drawing/2014/main" id="{4E35E2A1-7C6D-A812-FF1F-62BAA24828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856"/>
            <a:ext cx="1835696" cy="1845565"/>
          </a:xfrm>
          <a:prstGeom prst="rect">
            <a:avLst/>
          </a:prstGeom>
        </p:spPr>
      </p:pic>
      <p:sp>
        <p:nvSpPr>
          <p:cNvPr id="10" name="CasellaDiTesto 9">
            <a:extLst>
              <a:ext uri="{FF2B5EF4-FFF2-40B4-BE49-F238E27FC236}">
                <a16:creationId xmlns:a16="http://schemas.microsoft.com/office/drawing/2014/main" id="{46DCA49C-EF03-A1D2-8025-DE4303795195}"/>
              </a:ext>
            </a:extLst>
          </p:cNvPr>
          <p:cNvSpPr txBox="1"/>
          <p:nvPr/>
        </p:nvSpPr>
        <p:spPr>
          <a:xfrm>
            <a:off x="647564" y="1986197"/>
            <a:ext cx="78488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Estrazione dei Dati e Multimedia (</a:t>
            </a:r>
            <a:r>
              <a:rPr lang="it-IT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Extraction</a:t>
            </a:r>
            <a:r>
              <a:rPr lang="it-IT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Logic</a:t>
            </a:r>
            <a:r>
              <a:rPr lang="it-IT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B4B9C26C-A443-3F1B-3712-1D7DCA2D4DE6}"/>
              </a:ext>
            </a:extLst>
          </p:cNvPr>
          <p:cNvSpPr txBox="1"/>
          <p:nvPr/>
        </p:nvSpPr>
        <p:spPr>
          <a:xfrm>
            <a:off x="179512" y="2482134"/>
            <a:ext cx="8856984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Come da richiesta, Tabelle e Figure non sono semplici allegati, ma oggetti di prima classe.</a:t>
            </a:r>
          </a:p>
          <a:p>
            <a:endParaRPr lang="it-IT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itchFamily="2" charset="2"/>
              <a:buChar char="ü"/>
            </a:pPr>
            <a:r>
              <a:rPr lang="it-IT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 </a:t>
            </a:r>
            <a:r>
              <a:rPr lang="it-IT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Extraction</a:t>
            </a: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Il codice identifica i nodi</a:t>
            </a:r>
            <a:r>
              <a:rPr lang="it-IT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it-IT" dirty="0" err="1">
                <a:latin typeface="Courier New" panose="02070309020205020404" pitchFamily="49" charset="0"/>
                <a:cs typeface="Courier New" panose="02070309020205020404" pitchFamily="49" charset="0"/>
              </a:rPr>
              <a:t>ltx_table</a:t>
            </a:r>
            <a:r>
              <a:rPr lang="it-IT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(ArXiv) o </a:t>
            </a:r>
            <a:r>
              <a:rPr lang="it-IT" dirty="0" err="1">
                <a:latin typeface="Courier New" panose="02070309020205020404" pitchFamily="49" charset="0"/>
                <a:cs typeface="Courier New" panose="02070309020205020404" pitchFamily="49" charset="0"/>
              </a:rPr>
              <a:t>table-wrap</a:t>
            </a: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it-IT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PubMed</a:t>
            </a: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 Viene estratto il </a:t>
            </a:r>
            <a:r>
              <a:rPr lang="it-IT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body</a:t>
            </a: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dove troviamo il </a:t>
            </a:r>
            <a:r>
              <a:rPr lang="it-IT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contenuto</a:t>
            </a: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testuale</a:t>
            </a: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della tabella e la </a:t>
            </a:r>
            <a:r>
              <a:rPr lang="it-IT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caption</a:t>
            </a: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it-IT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itchFamily="2" charset="2"/>
              <a:buChar char="ü"/>
            </a:pPr>
            <a:r>
              <a:rPr lang="it-IT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 </a:t>
            </a:r>
            <a:r>
              <a:rPr lang="it-IT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Extraction</a:t>
            </a: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Il codice identifica i nodi </a:t>
            </a:r>
            <a:r>
              <a:rPr lang="it-IT" dirty="0" err="1">
                <a:latin typeface="Courier New" panose="02070309020205020404" pitchFamily="49" charset="0"/>
                <a:cs typeface="Courier New" panose="02070309020205020404" pitchFamily="49" charset="0"/>
              </a:rPr>
              <a:t>ltx_figure</a:t>
            </a:r>
            <a:r>
              <a:rPr lang="it-IT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(ArXiv) o </a:t>
            </a:r>
            <a:r>
              <a:rPr lang="it-IT" dirty="0">
                <a:latin typeface="Courier New" panose="02070309020205020404" pitchFamily="49" charset="0"/>
                <a:cs typeface="Courier New" panose="02070309020205020404" pitchFamily="49" charset="0"/>
              </a:rPr>
              <a:t>figure</a:t>
            </a: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it-IT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PubMed</a:t>
            </a: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 Vengono estratti gli </a:t>
            </a:r>
            <a:r>
              <a:rPr lang="it-IT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URL</a:t>
            </a: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delle immagini e le relative </a:t>
            </a:r>
            <a:r>
              <a:rPr lang="it-IT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didascalie</a:t>
            </a: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it-IT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itchFamily="2" charset="2"/>
              <a:buChar char="ü"/>
            </a:pPr>
            <a:r>
              <a:rPr lang="it-IT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Menzioni esplicite</a:t>
            </a: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Attraverso il metodo </a:t>
            </a:r>
            <a:r>
              <a:rPr lang="it-IT" dirty="0">
                <a:latin typeface="Courier New" panose="02070309020205020404" pitchFamily="49" charset="0"/>
                <a:cs typeface="Courier New" panose="02070309020205020404" pitchFamily="49" charset="0"/>
              </a:rPr>
              <a:t>_</a:t>
            </a:r>
            <a:r>
              <a:rPr lang="it-IT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find_mentions</a:t>
            </a: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il sistema analizza i tag </a:t>
            </a:r>
            <a:r>
              <a:rPr lang="it-IT" dirty="0">
                <a:latin typeface="Courier New" panose="02070309020205020404" pitchFamily="49" charset="0"/>
                <a:cs typeface="Courier New" panose="02070309020205020404" pitchFamily="49" charset="0"/>
              </a:rPr>
              <a:t>&lt;a&gt;</a:t>
            </a: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 riferimenti interni (</a:t>
            </a:r>
            <a:r>
              <a:rPr lang="it-IT" dirty="0">
                <a:latin typeface="Courier New" panose="02070309020205020404" pitchFamily="49" charset="0"/>
                <a:cs typeface="Courier New" panose="02070309020205020404" pitchFamily="49" charset="0"/>
              </a:rPr>
              <a:t>#tab1, #fig1</a:t>
            </a: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catturando i </a:t>
            </a:r>
            <a:r>
              <a:rPr lang="it-IT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paragrafi</a:t>
            </a: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che </a:t>
            </a:r>
            <a:r>
              <a:rPr lang="it-IT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citano</a:t>
            </a: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direttamente</a:t>
            </a: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l’oggetto</a:t>
            </a: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285750" indent="-285750">
              <a:buFont typeface="Wingdings" pitchFamily="2" charset="2"/>
              <a:buChar char="ü"/>
            </a:pPr>
            <a:endParaRPr lang="it-IT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it-IT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BDB72D44-3645-3C72-7329-2763C2CFE083}"/>
              </a:ext>
            </a:extLst>
          </p:cNvPr>
          <p:cNvSpPr txBox="1"/>
          <p:nvPr/>
        </p:nvSpPr>
        <p:spPr>
          <a:xfrm>
            <a:off x="1843141" y="416431"/>
            <a:ext cx="273630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600" dirty="0">
                <a:solidFill>
                  <a:schemeClr val="bg1"/>
                </a:solidFill>
              </a:rPr>
              <a:t>Corso di Laurea Magistrale</a:t>
            </a:r>
          </a:p>
          <a:p>
            <a:pPr algn="ctr"/>
            <a:r>
              <a:rPr lang="it-IT" sz="1600" dirty="0">
                <a:solidFill>
                  <a:schemeClr val="bg1"/>
                </a:solidFill>
              </a:rPr>
              <a:t>in Ingegneria Informatica</a:t>
            </a:r>
          </a:p>
        </p:txBody>
      </p: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FECCEDB6-4086-AD11-DF08-2889FA151EE5}"/>
              </a:ext>
            </a:extLst>
          </p:cNvPr>
          <p:cNvSpPr txBox="1"/>
          <p:nvPr/>
        </p:nvSpPr>
        <p:spPr>
          <a:xfrm>
            <a:off x="4612625" y="408715"/>
            <a:ext cx="21602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600" dirty="0">
                <a:solidFill>
                  <a:schemeClr val="bg1"/>
                </a:solidFill>
              </a:rPr>
              <a:t>Prova orale di Ingegneria dei Dati</a:t>
            </a:r>
          </a:p>
        </p:txBody>
      </p:sp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53BB58EC-F416-433E-AC66-5F56105E9A98}"/>
              </a:ext>
            </a:extLst>
          </p:cNvPr>
          <p:cNvSpPr txBox="1"/>
          <p:nvPr/>
        </p:nvSpPr>
        <p:spPr>
          <a:xfrm>
            <a:off x="6948264" y="422705"/>
            <a:ext cx="11521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600" dirty="0">
                <a:solidFill>
                  <a:schemeClr val="bg1"/>
                </a:solidFill>
              </a:rPr>
              <a:t>A.A.</a:t>
            </a:r>
          </a:p>
          <a:p>
            <a:pPr algn="ctr"/>
            <a:r>
              <a:rPr lang="it-IT" sz="1600" dirty="0">
                <a:solidFill>
                  <a:schemeClr val="bg1"/>
                </a:solidFill>
              </a:rPr>
              <a:t>2025/2026</a:t>
            </a:r>
          </a:p>
        </p:txBody>
      </p:sp>
    </p:spTree>
    <p:extLst>
      <p:ext uri="{BB962C8B-B14F-4D97-AF65-F5344CB8AC3E}">
        <p14:creationId xmlns:p14="http://schemas.microsoft.com/office/powerpoint/2010/main" val="20349057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F880FC-B06F-99B7-8459-CBF628CB58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F995E77-FCFA-A5B3-8645-C26FA667FDF0}"/>
              </a:ext>
            </a:extLst>
          </p:cNvPr>
          <p:cNvSpPr txBox="1">
            <a:spLocks/>
          </p:cNvSpPr>
          <p:nvPr/>
        </p:nvSpPr>
        <p:spPr>
          <a:xfrm>
            <a:off x="1843141" y="0"/>
            <a:ext cx="7308304" cy="1417638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it-IT" sz="3000" dirty="0"/>
          </a:p>
        </p:txBody>
      </p:sp>
      <p:cxnSp>
        <p:nvCxnSpPr>
          <p:cNvPr id="4" name="Connettore 1 3">
            <a:extLst>
              <a:ext uri="{FF2B5EF4-FFF2-40B4-BE49-F238E27FC236}">
                <a16:creationId xmlns:a16="http://schemas.microsoft.com/office/drawing/2014/main" id="{9502E88F-1EB6-9F71-2574-1CAE0BBC95C1}"/>
              </a:ext>
            </a:extLst>
          </p:cNvPr>
          <p:cNvCxnSpPr>
            <a:cxnSpLocks/>
          </p:cNvCxnSpPr>
          <p:nvPr/>
        </p:nvCxnSpPr>
        <p:spPr>
          <a:xfrm flipV="1">
            <a:off x="1835696" y="1484784"/>
            <a:ext cx="7315166" cy="33626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nettore 1 4">
            <a:extLst>
              <a:ext uri="{FF2B5EF4-FFF2-40B4-BE49-F238E27FC236}">
                <a16:creationId xmlns:a16="http://schemas.microsoft.com/office/drawing/2014/main" id="{CA748F42-39D7-EA55-C740-BBA735CD33A9}"/>
              </a:ext>
            </a:extLst>
          </p:cNvPr>
          <p:cNvCxnSpPr>
            <a:cxnSpLocks/>
          </p:cNvCxnSpPr>
          <p:nvPr/>
        </p:nvCxnSpPr>
        <p:spPr>
          <a:xfrm flipV="1">
            <a:off x="1835696" y="1655186"/>
            <a:ext cx="7308304" cy="17544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nettore 1 5">
            <a:extLst>
              <a:ext uri="{FF2B5EF4-FFF2-40B4-BE49-F238E27FC236}">
                <a16:creationId xmlns:a16="http://schemas.microsoft.com/office/drawing/2014/main" id="{A851BAD3-7D94-CD1C-7039-4FF4096FC608}"/>
              </a:ext>
            </a:extLst>
          </p:cNvPr>
          <p:cNvCxnSpPr>
            <a:cxnSpLocks/>
          </p:cNvCxnSpPr>
          <p:nvPr/>
        </p:nvCxnSpPr>
        <p:spPr>
          <a:xfrm flipV="1">
            <a:off x="1813875" y="1793690"/>
            <a:ext cx="7308304" cy="18231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Immagine 8" descr="Immagine che contiene testo, Carattere, schermata, logo&#10;&#10;Il contenuto generato dall'IA potrebbe non essere corretto.">
            <a:extLst>
              <a:ext uri="{FF2B5EF4-FFF2-40B4-BE49-F238E27FC236}">
                <a16:creationId xmlns:a16="http://schemas.microsoft.com/office/drawing/2014/main" id="{BC7AE68B-20C9-D5C0-82E2-E321B66968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856"/>
            <a:ext cx="1835696" cy="1845565"/>
          </a:xfrm>
          <a:prstGeom prst="rect">
            <a:avLst/>
          </a:prstGeom>
        </p:spPr>
      </p:pic>
      <p:sp>
        <p:nvSpPr>
          <p:cNvPr id="10" name="CasellaDiTesto 9">
            <a:extLst>
              <a:ext uri="{FF2B5EF4-FFF2-40B4-BE49-F238E27FC236}">
                <a16:creationId xmlns:a16="http://schemas.microsoft.com/office/drawing/2014/main" id="{28F3C3D1-F298-8E08-0C5D-46901D11FC5C}"/>
              </a:ext>
            </a:extLst>
          </p:cNvPr>
          <p:cNvSpPr txBox="1"/>
          <p:nvPr/>
        </p:nvSpPr>
        <p:spPr>
          <a:xfrm>
            <a:off x="759319" y="1970381"/>
            <a:ext cx="78488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Indicizzazione e Information </a:t>
            </a:r>
            <a:r>
              <a:rPr lang="it-IT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Retrival</a:t>
            </a:r>
            <a:r>
              <a:rPr lang="it-IT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(Elasticsearch)</a:t>
            </a: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6DD07445-31BC-539B-980C-DA53051F47D8}"/>
              </a:ext>
            </a:extLst>
          </p:cNvPr>
          <p:cNvSpPr txBox="1"/>
          <p:nvPr/>
        </p:nvSpPr>
        <p:spPr>
          <a:xfrm>
            <a:off x="535809" y="2453186"/>
            <a:ext cx="830160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Il sistema implementa tre indici separati per gestire l’eterogeneità dei dati: </a:t>
            </a:r>
            <a:r>
              <a:rPr lang="it-IT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content_index</a:t>
            </a: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it-IT" dirty="0" err="1">
                <a:latin typeface="Courier New" panose="02070309020205020404" pitchFamily="49" charset="0"/>
                <a:cs typeface="Courier New" panose="02070309020205020404" pitchFamily="49" charset="0"/>
              </a:rPr>
              <a:t>tables_index</a:t>
            </a: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it-IT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figures_index</a:t>
            </a: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it-IT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it-IT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it-IT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it-IT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1E737647-2CDC-A0EF-4326-4DE95EEF7B65}"/>
              </a:ext>
            </a:extLst>
          </p:cNvPr>
          <p:cNvSpPr txBox="1"/>
          <p:nvPr/>
        </p:nvSpPr>
        <p:spPr>
          <a:xfrm>
            <a:off x="1843141" y="416431"/>
            <a:ext cx="273630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600" dirty="0">
                <a:solidFill>
                  <a:schemeClr val="bg1"/>
                </a:solidFill>
              </a:rPr>
              <a:t>Corso di Laurea Magistrale</a:t>
            </a:r>
          </a:p>
          <a:p>
            <a:pPr algn="ctr"/>
            <a:r>
              <a:rPr lang="it-IT" sz="1600" dirty="0">
                <a:solidFill>
                  <a:schemeClr val="bg1"/>
                </a:solidFill>
              </a:rPr>
              <a:t>in Ingegneria Informatica</a:t>
            </a:r>
          </a:p>
        </p:txBody>
      </p: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A5D3163B-160D-AC25-2A9D-A6E32D7C7EC9}"/>
              </a:ext>
            </a:extLst>
          </p:cNvPr>
          <p:cNvSpPr txBox="1"/>
          <p:nvPr/>
        </p:nvSpPr>
        <p:spPr>
          <a:xfrm>
            <a:off x="4612625" y="408715"/>
            <a:ext cx="21602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600" dirty="0">
                <a:solidFill>
                  <a:schemeClr val="bg1"/>
                </a:solidFill>
              </a:rPr>
              <a:t>Prova orale di Ingegneria dei Dati</a:t>
            </a:r>
          </a:p>
        </p:txBody>
      </p:sp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59BDCE50-4B2B-3A1E-DC05-491E9C2A02A6}"/>
              </a:ext>
            </a:extLst>
          </p:cNvPr>
          <p:cNvSpPr txBox="1"/>
          <p:nvPr/>
        </p:nvSpPr>
        <p:spPr>
          <a:xfrm>
            <a:off x="6948264" y="422705"/>
            <a:ext cx="11521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600" dirty="0">
                <a:solidFill>
                  <a:schemeClr val="bg1"/>
                </a:solidFill>
              </a:rPr>
              <a:t>A.A.</a:t>
            </a:r>
          </a:p>
          <a:p>
            <a:pPr algn="ctr"/>
            <a:r>
              <a:rPr lang="it-IT" sz="1600" dirty="0">
                <a:solidFill>
                  <a:schemeClr val="bg1"/>
                </a:solidFill>
              </a:rPr>
              <a:t>2025/2026</a:t>
            </a:r>
          </a:p>
        </p:txBody>
      </p:sp>
      <p:graphicFrame>
        <p:nvGraphicFramePr>
          <p:cNvPr id="7" name="Tabella 6">
            <a:extLst>
              <a:ext uri="{FF2B5EF4-FFF2-40B4-BE49-F238E27FC236}">
                <a16:creationId xmlns:a16="http://schemas.microsoft.com/office/drawing/2014/main" id="{745672CB-0CB6-CC33-3DF6-451D680271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0380638"/>
              </p:ext>
            </p:extLst>
          </p:nvPr>
        </p:nvGraphicFramePr>
        <p:xfrm>
          <a:off x="497825" y="3222812"/>
          <a:ext cx="8229600" cy="2286000"/>
        </p:xfrm>
        <a:graphic>
          <a:graphicData uri="http://schemas.openxmlformats.org/drawingml/2006/table">
            <a:tbl>
              <a:tblPr>
                <a:tableStyleId>{69CF1AB2-1976-4502-BF36-3FF5EA218861}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372842443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1852725137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346436162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Nome Indice</a:t>
                      </a:r>
                      <a:endParaRPr lang="it-IT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Scopo Principale</a:t>
                      </a:r>
                      <a:endParaRPr lang="it-IT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Campi Chiave Indicizzati</a:t>
                      </a:r>
                      <a:endParaRPr lang="it-IT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1714396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content_index</a:t>
                      </a:r>
                      <a:endParaRPr lang="it-IT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Ricerca testuale classica 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title</a:t>
                      </a:r>
                      <a:r>
                        <a:rPr lang="it-IT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 abstract, </a:t>
                      </a:r>
                      <a:r>
                        <a:rPr lang="it-IT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full_text</a:t>
                      </a:r>
                      <a:r>
                        <a:rPr lang="it-IT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 </a:t>
                      </a:r>
                      <a:r>
                        <a:rPr lang="it-IT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authors</a:t>
                      </a:r>
                      <a:endParaRPr lang="it-IT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757664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tables_index</a:t>
                      </a:r>
                      <a:endParaRPr lang="it-IT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Ricerca per dati strutturati 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body_content</a:t>
                      </a:r>
                      <a:r>
                        <a:rPr lang="it-IT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 </a:t>
                      </a:r>
                      <a:r>
                        <a:rPr lang="it-IT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caption</a:t>
                      </a:r>
                      <a:r>
                        <a:rPr lang="it-IT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 </a:t>
                      </a:r>
                      <a:r>
                        <a:rPr lang="it-IT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context_paragraphs</a:t>
                      </a:r>
                      <a:endParaRPr lang="it-IT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124477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figures_index</a:t>
                      </a:r>
                      <a:endParaRPr lang="it-IT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Ricerca per evidenza visiva 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img_url</a:t>
                      </a:r>
                      <a:r>
                        <a:rPr lang="it-IT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 </a:t>
                      </a:r>
                      <a:r>
                        <a:rPr lang="it-IT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caption</a:t>
                      </a:r>
                      <a:r>
                        <a:rPr lang="it-IT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 </a:t>
                      </a:r>
                      <a:r>
                        <a:rPr lang="it-IT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mentions</a:t>
                      </a:r>
                      <a:endParaRPr lang="it-IT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847493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282820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49F476-83EB-77B0-3D04-32BB138130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5C34AE2-4AB2-B1B6-2415-DACB5C8F6A39}"/>
              </a:ext>
            </a:extLst>
          </p:cNvPr>
          <p:cNvSpPr txBox="1">
            <a:spLocks/>
          </p:cNvSpPr>
          <p:nvPr/>
        </p:nvSpPr>
        <p:spPr>
          <a:xfrm>
            <a:off x="1843141" y="0"/>
            <a:ext cx="7308304" cy="1417638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it-IT" sz="3000" dirty="0"/>
          </a:p>
        </p:txBody>
      </p:sp>
      <p:cxnSp>
        <p:nvCxnSpPr>
          <p:cNvPr id="4" name="Connettore 1 3">
            <a:extLst>
              <a:ext uri="{FF2B5EF4-FFF2-40B4-BE49-F238E27FC236}">
                <a16:creationId xmlns:a16="http://schemas.microsoft.com/office/drawing/2014/main" id="{6EA9F6CD-E5DB-1A01-A156-598E0E3B36C0}"/>
              </a:ext>
            </a:extLst>
          </p:cNvPr>
          <p:cNvCxnSpPr>
            <a:cxnSpLocks/>
          </p:cNvCxnSpPr>
          <p:nvPr/>
        </p:nvCxnSpPr>
        <p:spPr>
          <a:xfrm flipV="1">
            <a:off x="1835696" y="1484784"/>
            <a:ext cx="7315166" cy="33626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nettore 1 4">
            <a:extLst>
              <a:ext uri="{FF2B5EF4-FFF2-40B4-BE49-F238E27FC236}">
                <a16:creationId xmlns:a16="http://schemas.microsoft.com/office/drawing/2014/main" id="{937AF80C-5CD0-99AE-3E01-642B1511E4F1}"/>
              </a:ext>
            </a:extLst>
          </p:cNvPr>
          <p:cNvCxnSpPr>
            <a:cxnSpLocks/>
          </p:cNvCxnSpPr>
          <p:nvPr/>
        </p:nvCxnSpPr>
        <p:spPr>
          <a:xfrm flipV="1">
            <a:off x="1835696" y="1655186"/>
            <a:ext cx="7308304" cy="17544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nettore 1 5">
            <a:extLst>
              <a:ext uri="{FF2B5EF4-FFF2-40B4-BE49-F238E27FC236}">
                <a16:creationId xmlns:a16="http://schemas.microsoft.com/office/drawing/2014/main" id="{A143A774-1E2D-4B51-57BB-234EF8912E7F}"/>
              </a:ext>
            </a:extLst>
          </p:cNvPr>
          <p:cNvCxnSpPr>
            <a:cxnSpLocks/>
          </p:cNvCxnSpPr>
          <p:nvPr/>
        </p:nvCxnSpPr>
        <p:spPr>
          <a:xfrm flipV="1">
            <a:off x="1813875" y="1793690"/>
            <a:ext cx="7308304" cy="18231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Immagine 8" descr="Immagine che contiene testo, Carattere, schermata, logo&#10;&#10;Il contenuto generato dall'IA potrebbe non essere corretto.">
            <a:extLst>
              <a:ext uri="{FF2B5EF4-FFF2-40B4-BE49-F238E27FC236}">
                <a16:creationId xmlns:a16="http://schemas.microsoft.com/office/drawing/2014/main" id="{7CC13817-A6A3-44DC-9B46-1A1DA3DFF9D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856"/>
            <a:ext cx="1835696" cy="1845565"/>
          </a:xfrm>
          <a:prstGeom prst="rect">
            <a:avLst/>
          </a:prstGeom>
        </p:spPr>
      </p:pic>
      <p:sp>
        <p:nvSpPr>
          <p:cNvPr id="10" name="CasellaDiTesto 9">
            <a:extLst>
              <a:ext uri="{FF2B5EF4-FFF2-40B4-BE49-F238E27FC236}">
                <a16:creationId xmlns:a16="http://schemas.microsoft.com/office/drawing/2014/main" id="{3FFE7B01-9727-3EEC-2387-1694E7955ED9}"/>
              </a:ext>
            </a:extLst>
          </p:cNvPr>
          <p:cNvSpPr txBox="1"/>
          <p:nvPr/>
        </p:nvSpPr>
        <p:spPr>
          <a:xfrm>
            <a:off x="647564" y="1868164"/>
            <a:ext cx="78488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Analyzer: TF_IDF e Cosine </a:t>
            </a:r>
            <a:r>
              <a:rPr lang="it-IT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Similarity</a:t>
            </a:r>
            <a:endParaRPr lang="it-IT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180EC6B3-7947-1ADB-04AA-93CFBF5897C8}"/>
              </a:ext>
            </a:extLst>
          </p:cNvPr>
          <p:cNvSpPr txBox="1"/>
          <p:nvPr/>
        </p:nvSpPr>
        <p:spPr>
          <a:xfrm>
            <a:off x="256141" y="2317973"/>
            <a:ext cx="8712968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 adempiere alla richiesta di estrarre </a:t>
            </a:r>
            <a:r>
              <a:rPr lang="it-IT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« i paragrafi che contengono termini presenti nella tabella o nella </a:t>
            </a:r>
            <a:r>
              <a:rPr lang="it-IT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caption</a:t>
            </a:r>
            <a:r>
              <a:rPr lang="it-IT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»</a:t>
            </a: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si è evitato un semplice matching testuale (spesso rumoroso) a favore del </a:t>
            </a:r>
            <a:r>
              <a:rPr lang="it-IT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Vector</a:t>
            </a:r>
            <a:r>
              <a:rPr lang="it-IT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Space Model</a:t>
            </a: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it-IT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Il Processo di </a:t>
            </a:r>
            <a:r>
              <a:rPr lang="it-IT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Contextualization</a:t>
            </a: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Vettorizzazione: </a:t>
            </a: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Ogni paragrafo del paper e la didascalia della tabella/figura vengono trasformati in vettori numerici utilizzando </a:t>
            </a:r>
            <a:r>
              <a:rPr lang="it-IT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TF-IDF</a:t>
            </a: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it-IT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Term</a:t>
            </a: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Frequency-Inverse </a:t>
            </a:r>
            <a:r>
              <a:rPr lang="it-IT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Document</a:t>
            </a: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Frequency). Questa tecnica permette di dare maggior peso ai termini «informativi» eliminando le </a:t>
            </a:r>
            <a:r>
              <a:rPr lang="it-IT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stopwords</a:t>
            </a: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(termini come </a:t>
            </a:r>
            <a:r>
              <a:rPr lang="it-IT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«the», «a», «</a:t>
            </a:r>
            <a:r>
              <a:rPr lang="it-IT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lang="it-IT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»</a:t>
            </a: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endParaRPr lang="it-IT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Cosine </a:t>
            </a:r>
            <a:r>
              <a:rPr lang="it-IT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Similarity</a:t>
            </a:r>
            <a:r>
              <a:rPr lang="it-IT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Viene Calcolata la similarità del coseno tra il vettore della «tabella/figura» e i vettori di tutti i «paragrafi» del documento.</a:t>
            </a:r>
          </a:p>
          <a:p>
            <a:endParaRPr lang="it-IT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Thresholding</a:t>
            </a:r>
            <a:r>
              <a:rPr lang="it-IT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Solo i paragrafi con un punteggio di similarità superiore a una soglia configurabile (</a:t>
            </a:r>
            <a:r>
              <a:rPr lang="it-IT" dirty="0">
                <a:latin typeface="Courier New" panose="02070309020205020404" pitchFamily="49" charset="0"/>
                <a:cs typeface="Courier New" panose="02070309020205020404" pitchFamily="49" charset="0"/>
              </a:rPr>
              <a:t>TFIDF_THRESHOLD = 0.15</a:t>
            </a: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vengono selezionati come </a:t>
            </a:r>
            <a:r>
              <a:rPr lang="it-IT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context_paragraphs</a:t>
            </a: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57B07070-54D9-8262-F39B-54D76F8CEE25}"/>
              </a:ext>
            </a:extLst>
          </p:cNvPr>
          <p:cNvSpPr txBox="1"/>
          <p:nvPr/>
        </p:nvSpPr>
        <p:spPr>
          <a:xfrm>
            <a:off x="1843141" y="416431"/>
            <a:ext cx="273630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600" dirty="0">
                <a:solidFill>
                  <a:schemeClr val="bg1"/>
                </a:solidFill>
              </a:rPr>
              <a:t>Corso di Laurea Magistrale</a:t>
            </a:r>
          </a:p>
          <a:p>
            <a:pPr algn="ctr"/>
            <a:r>
              <a:rPr lang="it-IT" sz="1600" dirty="0">
                <a:solidFill>
                  <a:schemeClr val="bg1"/>
                </a:solidFill>
              </a:rPr>
              <a:t>in Ingegneria Informatica</a:t>
            </a:r>
          </a:p>
        </p:txBody>
      </p: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ED241B4F-26D8-4252-2209-0AB57B9BA4DE}"/>
              </a:ext>
            </a:extLst>
          </p:cNvPr>
          <p:cNvSpPr txBox="1"/>
          <p:nvPr/>
        </p:nvSpPr>
        <p:spPr>
          <a:xfrm>
            <a:off x="4612625" y="408715"/>
            <a:ext cx="21602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600" dirty="0">
                <a:solidFill>
                  <a:schemeClr val="bg1"/>
                </a:solidFill>
              </a:rPr>
              <a:t>Prova orale di Ingegneria dei Dati</a:t>
            </a:r>
          </a:p>
        </p:txBody>
      </p:sp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497AA83F-C961-41C3-C4BD-02BC20FF7241}"/>
              </a:ext>
            </a:extLst>
          </p:cNvPr>
          <p:cNvSpPr txBox="1"/>
          <p:nvPr/>
        </p:nvSpPr>
        <p:spPr>
          <a:xfrm>
            <a:off x="6948264" y="422705"/>
            <a:ext cx="11521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600" dirty="0">
                <a:solidFill>
                  <a:schemeClr val="bg1"/>
                </a:solidFill>
              </a:rPr>
              <a:t>A.A.</a:t>
            </a:r>
          </a:p>
          <a:p>
            <a:pPr algn="ctr"/>
            <a:r>
              <a:rPr lang="it-IT" sz="1600" dirty="0">
                <a:solidFill>
                  <a:schemeClr val="bg1"/>
                </a:solidFill>
              </a:rPr>
              <a:t>2025/2026</a:t>
            </a:r>
          </a:p>
        </p:txBody>
      </p:sp>
    </p:spTree>
    <p:extLst>
      <p:ext uri="{BB962C8B-B14F-4D97-AF65-F5344CB8AC3E}">
        <p14:creationId xmlns:p14="http://schemas.microsoft.com/office/powerpoint/2010/main" val="32602042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sellaDiTesto 2">
            <a:extLst>
              <a:ext uri="{FF2B5EF4-FFF2-40B4-BE49-F238E27FC236}">
                <a16:creationId xmlns:a16="http://schemas.microsoft.com/office/drawing/2014/main" id="{D4B81D93-9624-9174-559F-CEB31FAB71BE}"/>
              </a:ext>
            </a:extLst>
          </p:cNvPr>
          <p:cNvSpPr txBox="1"/>
          <p:nvPr/>
        </p:nvSpPr>
        <p:spPr>
          <a:xfrm>
            <a:off x="179512" y="1992541"/>
            <a:ext cx="8784976" cy="38779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Strategia di Ricerca Avanzata</a:t>
            </a:r>
          </a:p>
          <a:p>
            <a:pPr algn="ctr"/>
            <a:endParaRPr lang="it-IT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Inverted</a:t>
            </a:r>
            <a:r>
              <a:rPr lang="it-IT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Index: </a:t>
            </a:r>
            <a:r>
              <a:rPr lang="it-IT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Elasticsearch</a:t>
            </a: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utilizza questa struttura dati per permettere ricerche full-text istantanee.</a:t>
            </a:r>
          </a:p>
          <a:p>
            <a:endParaRPr lang="it-IT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Query </a:t>
            </a:r>
            <a:r>
              <a:rPr lang="it-IT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String</a:t>
            </a:r>
            <a:r>
              <a:rPr lang="it-IT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 </a:t>
            </a:r>
            <a:r>
              <a:rPr lang="it-IT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Boosting</a:t>
            </a:r>
            <a:r>
              <a:rPr lang="it-IT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 migliorare la rilevanza (Ranking), è stata applicata la tecnica del </a:t>
            </a:r>
            <a:r>
              <a:rPr lang="it-IT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Boosting</a:t>
            </a: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Ad esempio, nella ricerca documenti, il campo </a:t>
            </a:r>
            <a:r>
              <a:rPr lang="it-IT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title</a:t>
            </a: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 un peso triplo (^3) rispetto al full-text, poiché un match nel titolo indica solitamente una maggiore pertinenza</a:t>
            </a:r>
          </a:p>
          <a:p>
            <a:endParaRPr lang="it-IT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Highlighting</a:t>
            </a:r>
            <a:r>
              <a:rPr lang="it-IT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 soddisfare i requisiti di una ricerca «avanzata», il sistema restituisce gli </a:t>
            </a:r>
            <a:r>
              <a:rPr lang="it-IT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snippet</a:t>
            </a: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 testo evidenziati </a:t>
            </a:r>
            <a:r>
              <a:rPr lang="it-IT" dirty="0">
                <a:latin typeface="Courier New" panose="02070309020205020404" pitchFamily="49" charset="0"/>
                <a:cs typeface="Courier New" panose="02070309020205020404" pitchFamily="49" charset="0"/>
              </a:rPr>
              <a:t>(&lt;</a:t>
            </a:r>
            <a:r>
              <a:rPr lang="it-IT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mark</a:t>
            </a:r>
            <a:r>
              <a:rPr lang="it-IT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 codici ANSI in shell), permettendo all’utente di capire immediatamente perché un risultato è stato considerato rilevante.</a:t>
            </a:r>
          </a:p>
        </p:txBody>
      </p:sp>
      <p:sp>
        <p:nvSpPr>
          <p:cNvPr id="4" name="Titolo 1">
            <a:extLst>
              <a:ext uri="{FF2B5EF4-FFF2-40B4-BE49-F238E27FC236}">
                <a16:creationId xmlns:a16="http://schemas.microsoft.com/office/drawing/2014/main" id="{47DC12FA-19F4-DD32-5BF7-3C8B8C82D5C1}"/>
              </a:ext>
            </a:extLst>
          </p:cNvPr>
          <p:cNvSpPr txBox="1">
            <a:spLocks/>
          </p:cNvSpPr>
          <p:nvPr/>
        </p:nvSpPr>
        <p:spPr>
          <a:xfrm>
            <a:off x="1843141" y="0"/>
            <a:ext cx="7308304" cy="1417638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it-IT" sz="3000" dirty="0"/>
          </a:p>
        </p:txBody>
      </p:sp>
      <p:cxnSp>
        <p:nvCxnSpPr>
          <p:cNvPr id="5" name="Connettore 1 3">
            <a:extLst>
              <a:ext uri="{FF2B5EF4-FFF2-40B4-BE49-F238E27FC236}">
                <a16:creationId xmlns:a16="http://schemas.microsoft.com/office/drawing/2014/main" id="{E1636045-AF94-11FA-88E7-C4C4062CA5A2}"/>
              </a:ext>
            </a:extLst>
          </p:cNvPr>
          <p:cNvCxnSpPr>
            <a:cxnSpLocks/>
          </p:cNvCxnSpPr>
          <p:nvPr/>
        </p:nvCxnSpPr>
        <p:spPr>
          <a:xfrm flipV="1">
            <a:off x="1835696" y="1484784"/>
            <a:ext cx="7315166" cy="33626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nettore 1 4">
            <a:extLst>
              <a:ext uri="{FF2B5EF4-FFF2-40B4-BE49-F238E27FC236}">
                <a16:creationId xmlns:a16="http://schemas.microsoft.com/office/drawing/2014/main" id="{5F28537A-0E92-81B9-5D65-BE0042818482}"/>
              </a:ext>
            </a:extLst>
          </p:cNvPr>
          <p:cNvCxnSpPr>
            <a:cxnSpLocks/>
          </p:cNvCxnSpPr>
          <p:nvPr/>
        </p:nvCxnSpPr>
        <p:spPr>
          <a:xfrm flipV="1">
            <a:off x="1835696" y="1655186"/>
            <a:ext cx="7308304" cy="17544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nettore 1 5">
            <a:extLst>
              <a:ext uri="{FF2B5EF4-FFF2-40B4-BE49-F238E27FC236}">
                <a16:creationId xmlns:a16="http://schemas.microsoft.com/office/drawing/2014/main" id="{7F08320C-43FE-73A9-BE16-54F5EE7732D7}"/>
              </a:ext>
            </a:extLst>
          </p:cNvPr>
          <p:cNvCxnSpPr>
            <a:cxnSpLocks/>
          </p:cNvCxnSpPr>
          <p:nvPr/>
        </p:nvCxnSpPr>
        <p:spPr>
          <a:xfrm flipV="1">
            <a:off x="1813875" y="1793690"/>
            <a:ext cx="7308304" cy="18231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Immagine 7" descr="Immagine che contiene testo, Carattere, schermata, logo&#10;&#10;Il contenuto generato dall'IA potrebbe non essere corretto.">
            <a:extLst>
              <a:ext uri="{FF2B5EF4-FFF2-40B4-BE49-F238E27FC236}">
                <a16:creationId xmlns:a16="http://schemas.microsoft.com/office/drawing/2014/main" id="{4BD28225-3E0F-F28F-6CD2-0F549A1B28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856"/>
            <a:ext cx="1835696" cy="1845565"/>
          </a:xfrm>
          <a:prstGeom prst="rect">
            <a:avLst/>
          </a:prstGeom>
        </p:spPr>
      </p:pic>
      <p:sp>
        <p:nvSpPr>
          <p:cNvPr id="9" name="CasellaDiTesto 8">
            <a:extLst>
              <a:ext uri="{FF2B5EF4-FFF2-40B4-BE49-F238E27FC236}">
                <a16:creationId xmlns:a16="http://schemas.microsoft.com/office/drawing/2014/main" id="{65F5FABF-159E-63BD-530D-BBE5CFD036E0}"/>
              </a:ext>
            </a:extLst>
          </p:cNvPr>
          <p:cNvSpPr txBox="1"/>
          <p:nvPr/>
        </p:nvSpPr>
        <p:spPr>
          <a:xfrm>
            <a:off x="2123728" y="425442"/>
            <a:ext cx="273630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600" dirty="0">
                <a:solidFill>
                  <a:schemeClr val="bg1"/>
                </a:solidFill>
              </a:rPr>
              <a:t>Corso di Laurea Magistrale</a:t>
            </a:r>
          </a:p>
          <a:p>
            <a:pPr algn="ctr"/>
            <a:r>
              <a:rPr lang="it-IT" sz="1600" dirty="0">
                <a:solidFill>
                  <a:schemeClr val="bg1"/>
                </a:solidFill>
              </a:rPr>
              <a:t>in Ingegneria Informatica</a:t>
            </a:r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33AC96A1-C40B-A012-93A5-F75C51BA2CCE}"/>
              </a:ext>
            </a:extLst>
          </p:cNvPr>
          <p:cNvSpPr txBox="1"/>
          <p:nvPr/>
        </p:nvSpPr>
        <p:spPr>
          <a:xfrm>
            <a:off x="4893212" y="417726"/>
            <a:ext cx="21602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600" dirty="0">
                <a:solidFill>
                  <a:schemeClr val="bg1"/>
                </a:solidFill>
              </a:rPr>
              <a:t>Prova orale di Ingegneria dei Dati</a:t>
            </a: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89441110-AB9E-A962-FD9E-6E4A30A8561E}"/>
              </a:ext>
            </a:extLst>
          </p:cNvPr>
          <p:cNvSpPr txBox="1"/>
          <p:nvPr/>
        </p:nvSpPr>
        <p:spPr>
          <a:xfrm>
            <a:off x="7228851" y="431716"/>
            <a:ext cx="11521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600" dirty="0">
                <a:solidFill>
                  <a:schemeClr val="bg1"/>
                </a:solidFill>
              </a:rPr>
              <a:t>A.A.</a:t>
            </a:r>
          </a:p>
          <a:p>
            <a:pPr algn="ctr"/>
            <a:r>
              <a:rPr lang="it-IT" sz="1600" dirty="0">
                <a:solidFill>
                  <a:schemeClr val="bg1"/>
                </a:solidFill>
              </a:rPr>
              <a:t>2025/2026</a:t>
            </a:r>
          </a:p>
        </p:txBody>
      </p:sp>
    </p:spTree>
    <p:extLst>
      <p:ext uri="{BB962C8B-B14F-4D97-AF65-F5344CB8AC3E}">
        <p14:creationId xmlns:p14="http://schemas.microsoft.com/office/powerpoint/2010/main" val="38037860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0B35D3-0635-F24D-D90B-9C04C50E91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B1AF383-2EC3-8F79-8EA2-A4860598E646}"/>
              </a:ext>
            </a:extLst>
          </p:cNvPr>
          <p:cNvSpPr txBox="1">
            <a:spLocks/>
          </p:cNvSpPr>
          <p:nvPr/>
        </p:nvSpPr>
        <p:spPr>
          <a:xfrm>
            <a:off x="1843141" y="0"/>
            <a:ext cx="7308304" cy="1417638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it-IT" sz="3000" dirty="0"/>
          </a:p>
        </p:txBody>
      </p:sp>
      <p:cxnSp>
        <p:nvCxnSpPr>
          <p:cNvPr id="4" name="Connettore 1 3">
            <a:extLst>
              <a:ext uri="{FF2B5EF4-FFF2-40B4-BE49-F238E27FC236}">
                <a16:creationId xmlns:a16="http://schemas.microsoft.com/office/drawing/2014/main" id="{CE0E3C69-2795-D23B-ACA9-C3DD8D4710C5}"/>
              </a:ext>
            </a:extLst>
          </p:cNvPr>
          <p:cNvCxnSpPr>
            <a:cxnSpLocks/>
          </p:cNvCxnSpPr>
          <p:nvPr/>
        </p:nvCxnSpPr>
        <p:spPr>
          <a:xfrm flipV="1">
            <a:off x="1835696" y="1484784"/>
            <a:ext cx="7315166" cy="33626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nettore 1 4">
            <a:extLst>
              <a:ext uri="{FF2B5EF4-FFF2-40B4-BE49-F238E27FC236}">
                <a16:creationId xmlns:a16="http://schemas.microsoft.com/office/drawing/2014/main" id="{53F31155-A459-CCA2-91B3-7A4ABD08AA9E}"/>
              </a:ext>
            </a:extLst>
          </p:cNvPr>
          <p:cNvCxnSpPr>
            <a:cxnSpLocks/>
          </p:cNvCxnSpPr>
          <p:nvPr/>
        </p:nvCxnSpPr>
        <p:spPr>
          <a:xfrm flipV="1">
            <a:off x="1835696" y="1655186"/>
            <a:ext cx="7308304" cy="17544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nettore 1 5">
            <a:extLst>
              <a:ext uri="{FF2B5EF4-FFF2-40B4-BE49-F238E27FC236}">
                <a16:creationId xmlns:a16="http://schemas.microsoft.com/office/drawing/2014/main" id="{641CC867-18AB-8987-D395-345DC27A092D}"/>
              </a:ext>
            </a:extLst>
          </p:cNvPr>
          <p:cNvCxnSpPr>
            <a:cxnSpLocks/>
          </p:cNvCxnSpPr>
          <p:nvPr/>
        </p:nvCxnSpPr>
        <p:spPr>
          <a:xfrm flipV="1">
            <a:off x="1813875" y="1793690"/>
            <a:ext cx="7308304" cy="18231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Immagine 8" descr="Immagine che contiene testo, Carattere, schermata, logo&#10;&#10;Il contenuto generato dall'IA potrebbe non essere corretto.">
            <a:extLst>
              <a:ext uri="{FF2B5EF4-FFF2-40B4-BE49-F238E27FC236}">
                <a16:creationId xmlns:a16="http://schemas.microsoft.com/office/drawing/2014/main" id="{6D6645B2-81CB-0DF1-8641-4E705EF3D0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856"/>
            <a:ext cx="1835696" cy="1845565"/>
          </a:xfrm>
          <a:prstGeom prst="rect">
            <a:avLst/>
          </a:prstGeom>
        </p:spPr>
      </p:pic>
      <p:sp>
        <p:nvSpPr>
          <p:cNvPr id="10" name="CasellaDiTesto 9">
            <a:extLst>
              <a:ext uri="{FF2B5EF4-FFF2-40B4-BE49-F238E27FC236}">
                <a16:creationId xmlns:a16="http://schemas.microsoft.com/office/drawing/2014/main" id="{9EE29149-ADBA-16E2-DB6B-3F37B9588059}"/>
              </a:ext>
            </a:extLst>
          </p:cNvPr>
          <p:cNvSpPr txBox="1"/>
          <p:nvPr/>
        </p:nvSpPr>
        <p:spPr>
          <a:xfrm>
            <a:off x="647564" y="1849421"/>
            <a:ext cx="78488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Diagramma di Flusso dei Dati</a:t>
            </a: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3EE13F9E-F18F-57E7-5103-D252E3CC1115}"/>
              </a:ext>
            </a:extLst>
          </p:cNvPr>
          <p:cNvSpPr txBox="1"/>
          <p:nvPr/>
        </p:nvSpPr>
        <p:spPr>
          <a:xfrm>
            <a:off x="420983" y="2352407"/>
            <a:ext cx="8316924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L’architettura segue il pattern Pipeline-as-Code, dove il dato fluisce attraverso stadi di trasformazione successivi prima di diventare ricercabile:</a:t>
            </a:r>
          </a:p>
          <a:p>
            <a:endParaRPr lang="it-IT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00050" indent="-400050">
              <a:buFont typeface="+mj-lt"/>
              <a:buAutoNum type="romanUcPeriod"/>
            </a:pPr>
            <a:r>
              <a:rPr lang="it-IT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Sorgenti Esterne: </a:t>
            </a: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Interfacciamento asincrono con ArXiv (API + Scraping HTML) e </a:t>
            </a:r>
            <a:r>
              <a:rPr lang="it-IT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PubMed</a:t>
            </a: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(E-</a:t>
            </a:r>
            <a:r>
              <a:rPr lang="it-IT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utils</a:t>
            </a: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 XML + scraping HTML)</a:t>
            </a:r>
          </a:p>
          <a:p>
            <a:pPr marL="400050" indent="-400050">
              <a:buFont typeface="+mj-lt"/>
              <a:buAutoNum type="romanUcPeriod"/>
            </a:pPr>
            <a:endParaRPr lang="it-IT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00050" indent="-400050">
              <a:buFont typeface="+mj-lt"/>
              <a:buAutoNum type="romanUcPeriod"/>
            </a:pPr>
            <a:r>
              <a:rPr lang="it-IT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Document</a:t>
            </a:r>
            <a:r>
              <a:rPr lang="it-IT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Normalization</a:t>
            </a:r>
            <a:r>
              <a:rPr lang="it-IT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I dati grezzi convertiti in un formato interno standardizzato (</a:t>
            </a:r>
            <a:r>
              <a:rPr lang="it-IT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Pandas</a:t>
            </a: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Dataframe</a:t>
            </a: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che uniforma campi come </a:t>
            </a:r>
            <a:r>
              <a:rPr lang="it-IT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title</a:t>
            </a: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it-IT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authors</a:t>
            </a: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 date.</a:t>
            </a:r>
          </a:p>
          <a:p>
            <a:pPr marL="400050" indent="-400050">
              <a:buFont typeface="+mj-lt"/>
              <a:buAutoNum type="romanUcPeriod"/>
            </a:pPr>
            <a:endParaRPr lang="it-IT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00050" indent="-400050">
              <a:buFont typeface="+mj-lt"/>
              <a:buAutoNum type="romanUcPeriod"/>
            </a:pPr>
            <a:r>
              <a:rPr lang="it-IT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Semantic </a:t>
            </a:r>
            <a:r>
              <a:rPr lang="it-IT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Enrichment</a:t>
            </a:r>
            <a:r>
              <a:rPr lang="it-IT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(TD-IDF): </a:t>
            </a: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Il testo viene segmentato in paragrafi. L’analizzatore calcola i pesi semantici per collegare gli oggetti multimediali al testo circostante.</a:t>
            </a:r>
          </a:p>
          <a:p>
            <a:pPr marL="400050" indent="-400050">
              <a:buFont typeface="+mj-lt"/>
              <a:buAutoNum type="romanUcPeriod"/>
            </a:pPr>
            <a:endParaRPr lang="it-IT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00050" indent="-400050">
              <a:buFont typeface="+mj-lt"/>
              <a:buAutoNum type="romanUcPeriod"/>
            </a:pPr>
            <a:r>
              <a:rPr lang="it-IT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Indexing</a:t>
            </a: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I dati arricchiti vengono inviati in modalità bulk a tre indici Elasticsearch ottimizzati.</a:t>
            </a:r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20FC5382-43E6-62D8-7CAB-F8C7D150D627}"/>
              </a:ext>
            </a:extLst>
          </p:cNvPr>
          <p:cNvSpPr txBox="1"/>
          <p:nvPr/>
        </p:nvSpPr>
        <p:spPr>
          <a:xfrm>
            <a:off x="1843141" y="416431"/>
            <a:ext cx="273630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600" dirty="0">
                <a:solidFill>
                  <a:schemeClr val="bg1"/>
                </a:solidFill>
              </a:rPr>
              <a:t>Corso di Laurea Magistrale</a:t>
            </a:r>
          </a:p>
          <a:p>
            <a:pPr algn="ctr"/>
            <a:r>
              <a:rPr lang="it-IT" sz="1600" dirty="0">
                <a:solidFill>
                  <a:schemeClr val="bg1"/>
                </a:solidFill>
              </a:rPr>
              <a:t>in Ingegneria Informatica</a:t>
            </a:r>
          </a:p>
        </p:txBody>
      </p: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537B81EE-E8E3-8F2A-1BF1-21F3A8E0C9A7}"/>
              </a:ext>
            </a:extLst>
          </p:cNvPr>
          <p:cNvSpPr txBox="1"/>
          <p:nvPr/>
        </p:nvSpPr>
        <p:spPr>
          <a:xfrm>
            <a:off x="4612625" y="408715"/>
            <a:ext cx="21602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600" dirty="0">
                <a:solidFill>
                  <a:schemeClr val="bg1"/>
                </a:solidFill>
              </a:rPr>
              <a:t>Prova orale di Ingegneria dei Dati</a:t>
            </a:r>
          </a:p>
        </p:txBody>
      </p:sp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92D926F2-CC7B-3170-3D79-9F3B7BA9C3BB}"/>
              </a:ext>
            </a:extLst>
          </p:cNvPr>
          <p:cNvSpPr txBox="1"/>
          <p:nvPr/>
        </p:nvSpPr>
        <p:spPr>
          <a:xfrm>
            <a:off x="6948264" y="422705"/>
            <a:ext cx="11521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600" dirty="0">
                <a:solidFill>
                  <a:schemeClr val="bg1"/>
                </a:solidFill>
              </a:rPr>
              <a:t>A.A.</a:t>
            </a:r>
          </a:p>
          <a:p>
            <a:pPr algn="ctr"/>
            <a:r>
              <a:rPr lang="it-IT" sz="1600" dirty="0">
                <a:solidFill>
                  <a:schemeClr val="bg1"/>
                </a:solidFill>
              </a:rPr>
              <a:t>2025/2026</a:t>
            </a:r>
          </a:p>
        </p:txBody>
      </p:sp>
    </p:spTree>
    <p:extLst>
      <p:ext uri="{BB962C8B-B14F-4D97-AF65-F5344CB8AC3E}">
        <p14:creationId xmlns:p14="http://schemas.microsoft.com/office/powerpoint/2010/main" val="30886535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6F67A8-90BB-FCF4-64BF-1C4A89717E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297B58B-F12A-3C8E-0782-D462BCD0E416}"/>
              </a:ext>
            </a:extLst>
          </p:cNvPr>
          <p:cNvSpPr txBox="1">
            <a:spLocks/>
          </p:cNvSpPr>
          <p:nvPr/>
        </p:nvSpPr>
        <p:spPr>
          <a:xfrm>
            <a:off x="1843141" y="0"/>
            <a:ext cx="7308304" cy="1417638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it-IT" sz="3000" dirty="0"/>
          </a:p>
        </p:txBody>
      </p:sp>
      <p:cxnSp>
        <p:nvCxnSpPr>
          <p:cNvPr id="4" name="Connettore 1 3">
            <a:extLst>
              <a:ext uri="{FF2B5EF4-FFF2-40B4-BE49-F238E27FC236}">
                <a16:creationId xmlns:a16="http://schemas.microsoft.com/office/drawing/2014/main" id="{08F98C34-77F2-4C88-4691-859341405ECA}"/>
              </a:ext>
            </a:extLst>
          </p:cNvPr>
          <p:cNvCxnSpPr>
            <a:cxnSpLocks/>
          </p:cNvCxnSpPr>
          <p:nvPr/>
        </p:nvCxnSpPr>
        <p:spPr>
          <a:xfrm flipV="1">
            <a:off x="1835696" y="1484784"/>
            <a:ext cx="7315166" cy="33626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nettore 1 4">
            <a:extLst>
              <a:ext uri="{FF2B5EF4-FFF2-40B4-BE49-F238E27FC236}">
                <a16:creationId xmlns:a16="http://schemas.microsoft.com/office/drawing/2014/main" id="{679D2A1A-A33E-5110-9043-488CD211DD18}"/>
              </a:ext>
            </a:extLst>
          </p:cNvPr>
          <p:cNvCxnSpPr>
            <a:cxnSpLocks/>
          </p:cNvCxnSpPr>
          <p:nvPr/>
        </p:nvCxnSpPr>
        <p:spPr>
          <a:xfrm flipV="1">
            <a:off x="1835696" y="1655186"/>
            <a:ext cx="7308304" cy="17544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nettore 1 5">
            <a:extLst>
              <a:ext uri="{FF2B5EF4-FFF2-40B4-BE49-F238E27FC236}">
                <a16:creationId xmlns:a16="http://schemas.microsoft.com/office/drawing/2014/main" id="{057C9B36-66E1-504A-F19C-026524A26853}"/>
              </a:ext>
            </a:extLst>
          </p:cNvPr>
          <p:cNvCxnSpPr>
            <a:cxnSpLocks/>
          </p:cNvCxnSpPr>
          <p:nvPr/>
        </p:nvCxnSpPr>
        <p:spPr>
          <a:xfrm flipV="1">
            <a:off x="1813875" y="1793690"/>
            <a:ext cx="7308304" cy="18231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Immagine 8" descr="Immagine che contiene testo, Carattere, schermata, logo&#10;&#10;Il contenuto generato dall'IA potrebbe non essere corretto.">
            <a:extLst>
              <a:ext uri="{FF2B5EF4-FFF2-40B4-BE49-F238E27FC236}">
                <a16:creationId xmlns:a16="http://schemas.microsoft.com/office/drawing/2014/main" id="{AABCD12D-6971-3EA4-FC52-1EE7B7E9FE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856"/>
            <a:ext cx="1835696" cy="1845565"/>
          </a:xfrm>
          <a:prstGeom prst="rect">
            <a:avLst/>
          </a:prstGeom>
        </p:spPr>
      </p:pic>
      <p:sp>
        <p:nvSpPr>
          <p:cNvPr id="10" name="CasellaDiTesto 9">
            <a:extLst>
              <a:ext uri="{FF2B5EF4-FFF2-40B4-BE49-F238E27FC236}">
                <a16:creationId xmlns:a16="http://schemas.microsoft.com/office/drawing/2014/main" id="{CB833084-BC90-345B-F843-EB9E83729A5A}"/>
              </a:ext>
            </a:extLst>
          </p:cNvPr>
          <p:cNvSpPr txBox="1"/>
          <p:nvPr/>
        </p:nvSpPr>
        <p:spPr>
          <a:xfrm>
            <a:off x="647564" y="1849421"/>
            <a:ext cx="78488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Valutazione e Esperimenti delle Prestazioni</a:t>
            </a: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0EC3B28B-7259-A717-3F43-56E14C44C3CC}"/>
              </a:ext>
            </a:extLst>
          </p:cNvPr>
          <p:cNvSpPr txBox="1"/>
          <p:nvPr/>
        </p:nvSpPr>
        <p:spPr>
          <a:xfrm>
            <a:off x="221872" y="2311086"/>
            <a:ext cx="870025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Per garantire che il sistema risponda correttamente ai requisiti scientifici, è stata condotta una fase di testing divisa in </a:t>
            </a:r>
            <a:r>
              <a:rPr lang="it-IT" b="1" dirty="0"/>
              <a:t>metriche</a:t>
            </a:r>
            <a:r>
              <a:rPr lang="it-IT" dirty="0"/>
              <a:t> </a:t>
            </a:r>
            <a:r>
              <a:rPr lang="it-IT" b="1" dirty="0"/>
              <a:t>quantitative</a:t>
            </a:r>
            <a:r>
              <a:rPr lang="it-IT" dirty="0"/>
              <a:t> (numeriche) e </a:t>
            </a:r>
            <a:r>
              <a:rPr lang="it-IT" b="1" dirty="0"/>
              <a:t>qualitative</a:t>
            </a:r>
            <a:r>
              <a:rPr lang="it-IT" dirty="0"/>
              <a:t> (di pertinenza). </a:t>
            </a:r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A5AE6F2A-7F73-52CF-DFA1-736EBF70D0F2}"/>
              </a:ext>
            </a:extLst>
          </p:cNvPr>
          <p:cNvSpPr txBox="1"/>
          <p:nvPr/>
        </p:nvSpPr>
        <p:spPr>
          <a:xfrm>
            <a:off x="1843141" y="416431"/>
            <a:ext cx="273630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600" dirty="0">
                <a:solidFill>
                  <a:schemeClr val="bg1"/>
                </a:solidFill>
              </a:rPr>
              <a:t>Corso di Laurea Magistrale</a:t>
            </a:r>
          </a:p>
          <a:p>
            <a:pPr algn="ctr"/>
            <a:r>
              <a:rPr lang="it-IT" sz="1600" dirty="0">
                <a:solidFill>
                  <a:schemeClr val="bg1"/>
                </a:solidFill>
              </a:rPr>
              <a:t>in Ingegneria Informatica</a:t>
            </a:r>
          </a:p>
        </p:txBody>
      </p: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53C34B32-BBC4-8D85-CF86-162B5039C539}"/>
              </a:ext>
            </a:extLst>
          </p:cNvPr>
          <p:cNvSpPr txBox="1"/>
          <p:nvPr/>
        </p:nvSpPr>
        <p:spPr>
          <a:xfrm>
            <a:off x="4612625" y="408715"/>
            <a:ext cx="21602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600" dirty="0">
                <a:solidFill>
                  <a:schemeClr val="bg1"/>
                </a:solidFill>
              </a:rPr>
              <a:t>Prova orale di Ingegneria dei Dati</a:t>
            </a:r>
          </a:p>
        </p:txBody>
      </p:sp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8339AD4A-7DB3-E56F-ADCE-9482D5C71580}"/>
              </a:ext>
            </a:extLst>
          </p:cNvPr>
          <p:cNvSpPr txBox="1"/>
          <p:nvPr/>
        </p:nvSpPr>
        <p:spPr>
          <a:xfrm>
            <a:off x="6948264" y="422705"/>
            <a:ext cx="11521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600" dirty="0">
                <a:solidFill>
                  <a:schemeClr val="bg1"/>
                </a:solidFill>
              </a:rPr>
              <a:t>A.A.</a:t>
            </a:r>
          </a:p>
          <a:p>
            <a:pPr algn="ctr"/>
            <a:r>
              <a:rPr lang="it-IT" sz="1600" dirty="0">
                <a:solidFill>
                  <a:schemeClr val="bg1"/>
                </a:solidFill>
              </a:rPr>
              <a:t>2025/2026</a:t>
            </a: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A287B3D7-6AE8-338D-F683-040215BFA5BA}"/>
              </a:ext>
            </a:extLst>
          </p:cNvPr>
          <p:cNvSpPr txBox="1"/>
          <p:nvPr/>
        </p:nvSpPr>
        <p:spPr>
          <a:xfrm>
            <a:off x="229316" y="3063492"/>
            <a:ext cx="8700258" cy="147732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it-IT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Valutazione Quantitativa</a:t>
            </a:r>
          </a:p>
          <a:p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Questa fase misura l’efficienza tecnica e la capacità di recupero del sistema</a:t>
            </a:r>
          </a:p>
          <a:p>
            <a:pPr marL="342900" indent="-342900">
              <a:buFont typeface="+mj-lt"/>
              <a:buAutoNum type="arabicPeriod"/>
            </a:pPr>
            <a:r>
              <a:rPr lang="it-IT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Efficienza di </a:t>
            </a:r>
            <a:r>
              <a:rPr lang="it-IT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Ingestion</a:t>
            </a: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Tempo medio di elaborazione per articolo.</a:t>
            </a:r>
          </a:p>
          <a:p>
            <a:pPr marL="342900" indent="-342900">
              <a:buFont typeface="+mj-lt"/>
              <a:buAutoNum type="arabicPeriod"/>
            </a:pPr>
            <a:r>
              <a:rPr lang="it-IT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Resa di Estrazione: </a:t>
            </a: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% di tabelle e % figure correttamente identificate.</a:t>
            </a:r>
          </a:p>
          <a:p>
            <a:pPr marL="342900" indent="-342900">
              <a:buFont typeface="+mj-lt"/>
              <a:buAutoNum type="arabicPeriod"/>
            </a:pPr>
            <a:r>
              <a:rPr lang="it-IT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Latenza della Query: </a:t>
            </a: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Millisecondi per restituire i risultati.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9EC122C9-F9AE-CFB8-B8B0-40273A3F8FE5}"/>
              </a:ext>
            </a:extLst>
          </p:cNvPr>
          <p:cNvSpPr txBox="1"/>
          <p:nvPr/>
        </p:nvSpPr>
        <p:spPr>
          <a:xfrm>
            <a:off x="229316" y="4646895"/>
            <a:ext cx="8700258" cy="203132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it-IT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Valutazione Qualitativa</a:t>
            </a:r>
          </a:p>
          <a:p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Questa fase valuta se i risultati sono «utili» per un ricercatore</a:t>
            </a:r>
          </a:p>
          <a:p>
            <a:pPr marL="342900" indent="-342900">
              <a:buFont typeface="+mj-lt"/>
              <a:buAutoNum type="arabicPeriod"/>
            </a:pPr>
            <a:r>
              <a:rPr lang="it-IT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Precision@K</a:t>
            </a:r>
            <a:r>
              <a:rPr lang="it-IT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(precisione ai primi K): </a:t>
            </a: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Viene testata la rilevanza dei primi 5 risultati per query specifiche.</a:t>
            </a:r>
          </a:p>
          <a:p>
            <a:pPr marL="342900" indent="-342900">
              <a:buFont typeface="+mj-lt"/>
              <a:buAutoNum type="arabicPeriod"/>
            </a:pPr>
            <a:r>
              <a:rPr lang="it-IT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Efficacia del Contesto Semantico: </a:t>
            </a: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 è valutata la qualità dei</a:t>
            </a:r>
            <a:r>
              <a:rPr lang="it-IT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it-IT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context_paragraphs</a:t>
            </a:r>
            <a:r>
              <a:rPr lang="it-IT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estratti.</a:t>
            </a:r>
          </a:p>
          <a:p>
            <a:pPr marL="342900" indent="-342900">
              <a:buFont typeface="+mj-lt"/>
              <a:buAutoNum type="arabicPeriod"/>
            </a:pPr>
            <a:r>
              <a:rPr lang="it-IT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Robustezza del </a:t>
            </a:r>
            <a:r>
              <a:rPr lang="it-IT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Parsing</a:t>
            </a:r>
            <a:r>
              <a:rPr lang="it-IT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 su documenti con tabelle complesse (celle unite, simboli).</a:t>
            </a:r>
          </a:p>
        </p:txBody>
      </p:sp>
    </p:spTree>
    <p:extLst>
      <p:ext uri="{BB962C8B-B14F-4D97-AF65-F5344CB8AC3E}">
        <p14:creationId xmlns:p14="http://schemas.microsoft.com/office/powerpoint/2010/main" val="40463992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1A568A-8C23-716F-104B-06A7393E72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B6CE4E4-3355-1ADA-C9B0-BC4231D50315}"/>
              </a:ext>
            </a:extLst>
          </p:cNvPr>
          <p:cNvSpPr txBox="1">
            <a:spLocks/>
          </p:cNvSpPr>
          <p:nvPr/>
        </p:nvSpPr>
        <p:spPr>
          <a:xfrm>
            <a:off x="1843141" y="0"/>
            <a:ext cx="7308304" cy="1417638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it-IT" sz="3000" dirty="0"/>
          </a:p>
        </p:txBody>
      </p:sp>
      <p:cxnSp>
        <p:nvCxnSpPr>
          <p:cNvPr id="4" name="Connettore 1 3">
            <a:extLst>
              <a:ext uri="{FF2B5EF4-FFF2-40B4-BE49-F238E27FC236}">
                <a16:creationId xmlns:a16="http://schemas.microsoft.com/office/drawing/2014/main" id="{E3D7BAE6-B076-E01B-B26B-E49827583B8F}"/>
              </a:ext>
            </a:extLst>
          </p:cNvPr>
          <p:cNvCxnSpPr>
            <a:cxnSpLocks/>
          </p:cNvCxnSpPr>
          <p:nvPr/>
        </p:nvCxnSpPr>
        <p:spPr>
          <a:xfrm flipV="1">
            <a:off x="1835696" y="1484784"/>
            <a:ext cx="7315166" cy="33626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nettore 1 4">
            <a:extLst>
              <a:ext uri="{FF2B5EF4-FFF2-40B4-BE49-F238E27FC236}">
                <a16:creationId xmlns:a16="http://schemas.microsoft.com/office/drawing/2014/main" id="{6A59ACA9-78DB-630B-BB12-682E0015E5AE}"/>
              </a:ext>
            </a:extLst>
          </p:cNvPr>
          <p:cNvCxnSpPr>
            <a:cxnSpLocks/>
          </p:cNvCxnSpPr>
          <p:nvPr/>
        </p:nvCxnSpPr>
        <p:spPr>
          <a:xfrm flipV="1">
            <a:off x="1835696" y="1655186"/>
            <a:ext cx="7308304" cy="17544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nettore 1 5">
            <a:extLst>
              <a:ext uri="{FF2B5EF4-FFF2-40B4-BE49-F238E27FC236}">
                <a16:creationId xmlns:a16="http://schemas.microsoft.com/office/drawing/2014/main" id="{55DEFCEB-1AD8-9C78-1A38-A00C3AD85FCB}"/>
              </a:ext>
            </a:extLst>
          </p:cNvPr>
          <p:cNvCxnSpPr>
            <a:cxnSpLocks/>
          </p:cNvCxnSpPr>
          <p:nvPr/>
        </p:nvCxnSpPr>
        <p:spPr>
          <a:xfrm flipV="1">
            <a:off x="1813875" y="1793690"/>
            <a:ext cx="7308304" cy="18231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Immagine 8" descr="Immagine che contiene testo, Carattere, schermata, logo&#10;&#10;Il contenuto generato dall'IA potrebbe non essere corretto.">
            <a:extLst>
              <a:ext uri="{FF2B5EF4-FFF2-40B4-BE49-F238E27FC236}">
                <a16:creationId xmlns:a16="http://schemas.microsoft.com/office/drawing/2014/main" id="{03574D07-CC9D-592C-11F0-56C77E40BA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856"/>
            <a:ext cx="1835696" cy="1845565"/>
          </a:xfrm>
          <a:prstGeom prst="rect">
            <a:avLst/>
          </a:prstGeom>
        </p:spPr>
      </p:pic>
      <p:sp>
        <p:nvSpPr>
          <p:cNvPr id="10" name="CasellaDiTesto 9">
            <a:extLst>
              <a:ext uri="{FF2B5EF4-FFF2-40B4-BE49-F238E27FC236}">
                <a16:creationId xmlns:a16="http://schemas.microsoft.com/office/drawing/2014/main" id="{1C50839C-FAE9-506E-D376-744891B88F36}"/>
              </a:ext>
            </a:extLst>
          </p:cNvPr>
          <p:cNvSpPr txBox="1"/>
          <p:nvPr/>
        </p:nvSpPr>
        <p:spPr>
          <a:xfrm>
            <a:off x="958471" y="1918055"/>
            <a:ext cx="73083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Esperimento 1 – Efficienza della Pipeline di </a:t>
            </a:r>
            <a:r>
              <a:rPr lang="it-IT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Ingestion</a:t>
            </a:r>
            <a:endParaRPr lang="it-IT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3C611FCA-49AE-44BC-7195-1993F172816B}"/>
              </a:ext>
            </a:extLst>
          </p:cNvPr>
          <p:cNvSpPr txBox="1"/>
          <p:nvPr/>
        </p:nvSpPr>
        <p:spPr>
          <a:xfrm>
            <a:off x="1843141" y="416431"/>
            <a:ext cx="273630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600" dirty="0">
                <a:solidFill>
                  <a:schemeClr val="bg1"/>
                </a:solidFill>
              </a:rPr>
              <a:t>Corso di Laurea Magistrale</a:t>
            </a:r>
          </a:p>
          <a:p>
            <a:pPr algn="ctr"/>
            <a:r>
              <a:rPr lang="it-IT" sz="1600" dirty="0">
                <a:solidFill>
                  <a:schemeClr val="bg1"/>
                </a:solidFill>
              </a:rPr>
              <a:t>in Ingegneria Informatica</a:t>
            </a:r>
          </a:p>
        </p:txBody>
      </p: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5799187E-1454-0DF2-E1F1-FF45C98CE052}"/>
              </a:ext>
            </a:extLst>
          </p:cNvPr>
          <p:cNvSpPr txBox="1"/>
          <p:nvPr/>
        </p:nvSpPr>
        <p:spPr>
          <a:xfrm>
            <a:off x="4612625" y="408715"/>
            <a:ext cx="21602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600" dirty="0">
                <a:solidFill>
                  <a:schemeClr val="bg1"/>
                </a:solidFill>
              </a:rPr>
              <a:t>Prova orale di Ingegneria dei Dati</a:t>
            </a:r>
          </a:p>
        </p:txBody>
      </p:sp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73BE6D5B-CE96-F6E2-FBC6-C9A77B300F28}"/>
              </a:ext>
            </a:extLst>
          </p:cNvPr>
          <p:cNvSpPr txBox="1"/>
          <p:nvPr/>
        </p:nvSpPr>
        <p:spPr>
          <a:xfrm>
            <a:off x="6948264" y="422705"/>
            <a:ext cx="11521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600" dirty="0">
                <a:solidFill>
                  <a:schemeClr val="bg1"/>
                </a:solidFill>
              </a:rPr>
              <a:t>A.A.</a:t>
            </a:r>
          </a:p>
          <a:p>
            <a:pPr algn="ctr"/>
            <a:r>
              <a:rPr lang="it-IT" sz="1600" dirty="0">
                <a:solidFill>
                  <a:schemeClr val="bg1"/>
                </a:solidFill>
              </a:rPr>
              <a:t>2025/2026</a:t>
            </a: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F24936B0-0F87-9E90-C2AF-A0EBB8420A7B}"/>
              </a:ext>
            </a:extLst>
          </p:cNvPr>
          <p:cNvSpPr txBox="1"/>
          <p:nvPr/>
        </p:nvSpPr>
        <p:spPr>
          <a:xfrm>
            <a:off x="688188" y="2389947"/>
            <a:ext cx="784887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Obiettivo:</a:t>
            </a: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Misurare il costo computazionale dell’intera pipeline - </a:t>
            </a:r>
            <a:r>
              <a:rPr lang="it-IT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parsing</a:t>
            </a:r>
            <a:r>
              <a:rPr lang="it-IT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HTML</a:t>
            </a: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it-IT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estrazione multimediale </a:t>
            </a: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it-IT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analisi semantica TF-IDF</a:t>
            </a: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it-IT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it-IT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Metriche: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Tempo medio di elaborazione per articolo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Tempo totale di esecuzione della pipeline</a:t>
            </a:r>
          </a:p>
        </p:txBody>
      </p:sp>
      <p:graphicFrame>
        <p:nvGraphicFramePr>
          <p:cNvPr id="7" name="Tabella 6">
            <a:extLst>
              <a:ext uri="{FF2B5EF4-FFF2-40B4-BE49-F238E27FC236}">
                <a16:creationId xmlns:a16="http://schemas.microsoft.com/office/drawing/2014/main" id="{303C2CCA-08F4-BDFE-BE6B-5E6927E116A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5899732"/>
              </p:ext>
            </p:extLst>
          </p:nvPr>
        </p:nvGraphicFramePr>
        <p:xfrm>
          <a:off x="1564624" y="4277346"/>
          <a:ext cx="609600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1127291141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11485392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it-IT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Operazione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Tempo Medio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20458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IT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Parsing</a:t>
                      </a:r>
                      <a:r>
                        <a:rPr lang="it-IT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HTML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</a:t>
                      </a:r>
                      <a:r>
                        <a:rPr lang="it-IT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22183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IT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Calcolo TF-IDF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</a:t>
                      </a:r>
                      <a:r>
                        <a:rPr lang="it-IT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22336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IT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Estrazione Multimediale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</a:t>
                      </a:r>
                      <a:r>
                        <a:rPr lang="it-IT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3978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IT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Totale per Articolo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</a:t>
                      </a:r>
                      <a:r>
                        <a:rPr lang="it-IT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3610927"/>
                  </a:ext>
                </a:extLst>
              </a:tr>
            </a:tbl>
          </a:graphicData>
        </a:graphic>
      </p:graphicFrame>
      <p:sp>
        <p:nvSpPr>
          <p:cNvPr id="8" name="CasellaDiTesto 7">
            <a:extLst>
              <a:ext uri="{FF2B5EF4-FFF2-40B4-BE49-F238E27FC236}">
                <a16:creationId xmlns:a16="http://schemas.microsoft.com/office/drawing/2014/main" id="{344641FB-ECAC-EB72-3481-E62BAC4B97DA}"/>
              </a:ext>
            </a:extLst>
          </p:cNvPr>
          <p:cNvSpPr txBox="1"/>
          <p:nvPr/>
        </p:nvSpPr>
        <p:spPr>
          <a:xfrm>
            <a:off x="655009" y="6264619"/>
            <a:ext cx="78820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L’elaborazione completa di 20 articoli usati per il test richiede quindi circa </a:t>
            </a: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1s</a:t>
            </a:r>
            <a:endParaRPr lang="it-IT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47048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57F71B-C662-8A83-688D-3475C5DE4E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788970C-BDDE-F8EE-37D7-A0DA68B17C69}"/>
              </a:ext>
            </a:extLst>
          </p:cNvPr>
          <p:cNvSpPr txBox="1">
            <a:spLocks/>
          </p:cNvSpPr>
          <p:nvPr/>
        </p:nvSpPr>
        <p:spPr>
          <a:xfrm>
            <a:off x="1843141" y="0"/>
            <a:ext cx="7308304" cy="1417638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it-IT" sz="3000" dirty="0"/>
          </a:p>
        </p:txBody>
      </p:sp>
      <p:cxnSp>
        <p:nvCxnSpPr>
          <p:cNvPr id="4" name="Connettore 1 3">
            <a:extLst>
              <a:ext uri="{FF2B5EF4-FFF2-40B4-BE49-F238E27FC236}">
                <a16:creationId xmlns:a16="http://schemas.microsoft.com/office/drawing/2014/main" id="{1733E9F0-FB29-FB17-A8A5-9A0E65A30A06}"/>
              </a:ext>
            </a:extLst>
          </p:cNvPr>
          <p:cNvCxnSpPr>
            <a:cxnSpLocks/>
          </p:cNvCxnSpPr>
          <p:nvPr/>
        </p:nvCxnSpPr>
        <p:spPr>
          <a:xfrm flipV="1">
            <a:off x="1835696" y="1484784"/>
            <a:ext cx="7315166" cy="33626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nettore 1 4">
            <a:extLst>
              <a:ext uri="{FF2B5EF4-FFF2-40B4-BE49-F238E27FC236}">
                <a16:creationId xmlns:a16="http://schemas.microsoft.com/office/drawing/2014/main" id="{D7283A55-79F3-D84A-47AF-164FD24941C5}"/>
              </a:ext>
            </a:extLst>
          </p:cNvPr>
          <p:cNvCxnSpPr>
            <a:cxnSpLocks/>
          </p:cNvCxnSpPr>
          <p:nvPr/>
        </p:nvCxnSpPr>
        <p:spPr>
          <a:xfrm flipV="1">
            <a:off x="1835696" y="1655186"/>
            <a:ext cx="7308304" cy="17544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nettore 1 5">
            <a:extLst>
              <a:ext uri="{FF2B5EF4-FFF2-40B4-BE49-F238E27FC236}">
                <a16:creationId xmlns:a16="http://schemas.microsoft.com/office/drawing/2014/main" id="{FE4FB832-CF72-D331-110A-8BDEE69BCECD}"/>
              </a:ext>
            </a:extLst>
          </p:cNvPr>
          <p:cNvCxnSpPr>
            <a:cxnSpLocks/>
          </p:cNvCxnSpPr>
          <p:nvPr/>
        </p:nvCxnSpPr>
        <p:spPr>
          <a:xfrm flipV="1">
            <a:off x="1813875" y="1793690"/>
            <a:ext cx="7308304" cy="18231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Immagine 8" descr="Immagine che contiene testo, Carattere, schermata, logo&#10;&#10;Il contenuto generato dall'IA potrebbe non essere corretto.">
            <a:extLst>
              <a:ext uri="{FF2B5EF4-FFF2-40B4-BE49-F238E27FC236}">
                <a16:creationId xmlns:a16="http://schemas.microsoft.com/office/drawing/2014/main" id="{34EA85D3-8B93-30FB-C575-CAB3C2A622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856"/>
            <a:ext cx="1835696" cy="1845565"/>
          </a:xfrm>
          <a:prstGeom prst="rect">
            <a:avLst/>
          </a:prstGeom>
        </p:spPr>
      </p:pic>
      <p:sp>
        <p:nvSpPr>
          <p:cNvPr id="10" name="CasellaDiTesto 9">
            <a:extLst>
              <a:ext uri="{FF2B5EF4-FFF2-40B4-BE49-F238E27FC236}">
                <a16:creationId xmlns:a16="http://schemas.microsoft.com/office/drawing/2014/main" id="{43B995F0-07D2-24AC-1F5C-6A10D7E1A317}"/>
              </a:ext>
            </a:extLst>
          </p:cNvPr>
          <p:cNvSpPr txBox="1"/>
          <p:nvPr/>
        </p:nvSpPr>
        <p:spPr>
          <a:xfrm>
            <a:off x="616181" y="1950620"/>
            <a:ext cx="78488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Esperimento 2 – Resa di Estrazione</a:t>
            </a:r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9DF1827A-6700-25EB-7334-8FE45E773076}"/>
              </a:ext>
            </a:extLst>
          </p:cNvPr>
          <p:cNvSpPr txBox="1"/>
          <p:nvPr/>
        </p:nvSpPr>
        <p:spPr>
          <a:xfrm>
            <a:off x="1843141" y="416431"/>
            <a:ext cx="273630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600" dirty="0">
                <a:solidFill>
                  <a:schemeClr val="bg1"/>
                </a:solidFill>
              </a:rPr>
              <a:t>Corso di Laurea Magistrale</a:t>
            </a:r>
          </a:p>
          <a:p>
            <a:pPr algn="ctr"/>
            <a:r>
              <a:rPr lang="it-IT" sz="1600" dirty="0">
                <a:solidFill>
                  <a:schemeClr val="bg1"/>
                </a:solidFill>
              </a:rPr>
              <a:t>in Ingegneria Informatica</a:t>
            </a:r>
          </a:p>
        </p:txBody>
      </p: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7CB59964-5EB6-32B1-35D3-2F08DA9434A1}"/>
              </a:ext>
            </a:extLst>
          </p:cNvPr>
          <p:cNvSpPr txBox="1"/>
          <p:nvPr/>
        </p:nvSpPr>
        <p:spPr>
          <a:xfrm>
            <a:off x="4612625" y="408715"/>
            <a:ext cx="21602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600" dirty="0">
                <a:solidFill>
                  <a:schemeClr val="bg1"/>
                </a:solidFill>
              </a:rPr>
              <a:t>Prova orale di Ingegneria dei Dati</a:t>
            </a:r>
          </a:p>
        </p:txBody>
      </p:sp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F65290A4-AFB6-FD85-95C6-148432A9ABC1}"/>
              </a:ext>
            </a:extLst>
          </p:cNvPr>
          <p:cNvSpPr txBox="1"/>
          <p:nvPr/>
        </p:nvSpPr>
        <p:spPr>
          <a:xfrm>
            <a:off x="6948264" y="422705"/>
            <a:ext cx="11521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600" dirty="0">
                <a:solidFill>
                  <a:schemeClr val="bg1"/>
                </a:solidFill>
              </a:rPr>
              <a:t>A.A.</a:t>
            </a:r>
          </a:p>
          <a:p>
            <a:pPr algn="ctr"/>
            <a:r>
              <a:rPr lang="it-IT" sz="1600" dirty="0">
                <a:solidFill>
                  <a:schemeClr val="bg1"/>
                </a:solidFill>
              </a:rPr>
              <a:t>2025/2026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asellaDiTesto 2">
                <a:extLst>
                  <a:ext uri="{FF2B5EF4-FFF2-40B4-BE49-F238E27FC236}">
                    <a16:creationId xmlns:a16="http://schemas.microsoft.com/office/drawing/2014/main" id="{22158E45-3953-36B5-86DE-F8D224C94200}"/>
                  </a:ext>
                </a:extLst>
              </p:cNvPr>
              <p:cNvSpPr txBox="1"/>
              <p:nvPr/>
            </p:nvSpPr>
            <p:spPr>
              <a:xfrm>
                <a:off x="616181" y="2392802"/>
                <a:ext cx="7992888" cy="23471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it-IT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Obiettivo:</a:t>
                </a:r>
                <a:r>
                  <a:rPr lang="it-IT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Verificare quante tabelle e figure presenti nei documenti HTML vengano effettivamente intercettate dall’algoritmo di </a:t>
                </a:r>
                <a:r>
                  <a:rPr lang="it-IT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parsing</a:t>
                </a:r>
                <a:endParaRPr lang="it-IT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it-IT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Metodo: Per un campione di 5 articoli di ArXiv e 5 </a:t>
                </a:r>
                <a:r>
                  <a:rPr lang="it-IT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PubMed</a:t>
                </a:r>
                <a:r>
                  <a:rPr lang="it-IT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it-IT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Conteggio manuale degli oggetti multimediali presenti nel documento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it-IT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Confronto con quelli estratti dal sistema</a:t>
                </a:r>
              </a:p>
              <a:p>
                <a:r>
                  <a:rPr lang="it-IT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Metriche: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it-IT" b="1" i="1" smtClean="0">
                          <a:latin typeface="Cambria Math" panose="02040503050406030204" pitchFamily="18" charset="0"/>
                        </a:rPr>
                        <m:t>Extraction</m:t>
                      </m:r>
                      <m:r>
                        <a:rPr lang="it-IT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it-IT" b="1" i="1" smtClean="0">
                          <a:latin typeface="Cambria Math" panose="02040503050406030204" pitchFamily="18" charset="0"/>
                        </a:rPr>
                        <m:t>Yield</m:t>
                      </m:r>
                      <m:r>
                        <a:rPr lang="it-IT" b="1" i="1" smtClean="0">
                          <a:latin typeface="Cambria Math" panose="02040503050406030204" pitchFamily="18" charset="0"/>
                        </a:rPr>
                        <m:t> = </m:t>
                      </m:r>
                      <m:f>
                        <m:fPr>
                          <m:ctrlPr>
                            <a:rPr lang="it-IT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it-IT" b="1" i="1" smtClean="0">
                              <a:latin typeface="Cambria Math" panose="02040503050406030204" pitchFamily="18" charset="0"/>
                            </a:rPr>
                            <m:t>Oggetti</m:t>
                          </m:r>
                          <m:r>
                            <a:rPr lang="it-IT" b="1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it-IT" b="1" i="1" smtClean="0">
                              <a:latin typeface="Cambria Math" panose="02040503050406030204" pitchFamily="18" charset="0"/>
                            </a:rPr>
                            <m:t>Estratti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it-IT" b="1" i="1" smtClean="0">
                              <a:latin typeface="Cambria Math" panose="02040503050406030204" pitchFamily="18" charset="0"/>
                            </a:rPr>
                            <m:t>Oggetti</m:t>
                          </m:r>
                          <m:r>
                            <a:rPr lang="it-IT" b="1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it-IT" b="1" i="1" smtClean="0">
                              <a:latin typeface="Cambria Math" panose="02040503050406030204" pitchFamily="18" charset="0"/>
                            </a:rPr>
                            <m:t>Presenti</m:t>
                          </m:r>
                        </m:den>
                      </m:f>
                    </m:oMath>
                  </m:oMathPara>
                </a14:m>
                <a:endParaRPr lang="it-IT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asellaDiTesto 2">
                <a:extLst>
                  <a:ext uri="{FF2B5EF4-FFF2-40B4-BE49-F238E27FC236}">
                    <a16:creationId xmlns:a16="http://schemas.microsoft.com/office/drawing/2014/main" id="{22158E45-3953-36B5-86DE-F8D224C942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6181" y="2392802"/>
                <a:ext cx="7992888" cy="2347181"/>
              </a:xfrm>
              <a:prstGeom prst="rect">
                <a:avLst/>
              </a:prstGeom>
              <a:blipFill>
                <a:blip r:embed="rId3"/>
                <a:stretch>
                  <a:fillRect l="-635" t="-1075" r="-159" b="-1075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7" name="Tabella 6">
            <a:extLst>
              <a:ext uri="{FF2B5EF4-FFF2-40B4-BE49-F238E27FC236}">
                <a16:creationId xmlns:a16="http://schemas.microsoft.com/office/drawing/2014/main" id="{B4E5552B-FC54-CB1F-2E06-4012B20F21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0451982"/>
              </p:ext>
            </p:extLst>
          </p:nvPr>
        </p:nvGraphicFramePr>
        <p:xfrm>
          <a:off x="1533242" y="4862432"/>
          <a:ext cx="6096000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1127291141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11485392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it-IT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Operazione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Resa di Estrazione</a:t>
                      </a:r>
                      <a:endParaRPr lang="it-IT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20458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IT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PubMed</a:t>
                      </a:r>
                      <a:r>
                        <a:rPr lang="it-IT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Central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95-98%</a:t>
                      </a:r>
                      <a:endParaRPr lang="it-IT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22183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IT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ArXiv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80-88%</a:t>
                      </a:r>
                      <a:endParaRPr lang="it-IT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2233640"/>
                  </a:ext>
                </a:extLst>
              </a:tr>
            </a:tbl>
          </a:graphicData>
        </a:graphic>
      </p:graphicFrame>
      <p:sp>
        <p:nvSpPr>
          <p:cNvPr id="8" name="CasellaDiTesto 7">
            <a:extLst>
              <a:ext uri="{FF2B5EF4-FFF2-40B4-BE49-F238E27FC236}">
                <a16:creationId xmlns:a16="http://schemas.microsoft.com/office/drawing/2014/main" id="{66847813-B4ED-4381-068B-3F57E9C9C260}"/>
              </a:ext>
            </a:extLst>
          </p:cNvPr>
          <p:cNvSpPr txBox="1"/>
          <p:nvPr/>
        </p:nvSpPr>
        <p:spPr>
          <a:xfrm>
            <a:off x="616181" y="6122487"/>
            <a:ext cx="78488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 differenza è dovuta alla maggiore regolarità strutturale dell’HTML di </a:t>
            </a:r>
            <a:r>
              <a:rPr lang="it-IT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PubMed</a:t>
            </a:r>
            <a:endParaRPr lang="it-IT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rispetto alla conversione </a:t>
            </a:r>
            <a:r>
              <a:rPr lang="it-IT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LaTeX→HTML</a:t>
            </a: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 ArXiv</a:t>
            </a:r>
          </a:p>
        </p:txBody>
      </p:sp>
    </p:spTree>
    <p:extLst>
      <p:ext uri="{BB962C8B-B14F-4D97-AF65-F5344CB8AC3E}">
        <p14:creationId xmlns:p14="http://schemas.microsoft.com/office/powerpoint/2010/main" val="33751327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174ACC-1E36-6E76-5D8D-049FC833CE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8A5DFC5-4E8A-D3C9-4A7F-F7FB5574B03F}"/>
              </a:ext>
            </a:extLst>
          </p:cNvPr>
          <p:cNvSpPr txBox="1">
            <a:spLocks/>
          </p:cNvSpPr>
          <p:nvPr/>
        </p:nvSpPr>
        <p:spPr>
          <a:xfrm>
            <a:off x="1843141" y="0"/>
            <a:ext cx="7308304" cy="1417638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it-IT" sz="3000" dirty="0"/>
          </a:p>
        </p:txBody>
      </p:sp>
      <p:cxnSp>
        <p:nvCxnSpPr>
          <p:cNvPr id="4" name="Connettore 1 3">
            <a:extLst>
              <a:ext uri="{FF2B5EF4-FFF2-40B4-BE49-F238E27FC236}">
                <a16:creationId xmlns:a16="http://schemas.microsoft.com/office/drawing/2014/main" id="{5322F560-E747-E854-35FC-8712F054ADB3}"/>
              </a:ext>
            </a:extLst>
          </p:cNvPr>
          <p:cNvCxnSpPr>
            <a:cxnSpLocks/>
          </p:cNvCxnSpPr>
          <p:nvPr/>
        </p:nvCxnSpPr>
        <p:spPr>
          <a:xfrm flipV="1">
            <a:off x="1835696" y="1484784"/>
            <a:ext cx="7315166" cy="33626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nettore 1 4">
            <a:extLst>
              <a:ext uri="{FF2B5EF4-FFF2-40B4-BE49-F238E27FC236}">
                <a16:creationId xmlns:a16="http://schemas.microsoft.com/office/drawing/2014/main" id="{1A725E22-6266-169D-0E2D-8717CE89289C}"/>
              </a:ext>
            </a:extLst>
          </p:cNvPr>
          <p:cNvCxnSpPr>
            <a:cxnSpLocks/>
          </p:cNvCxnSpPr>
          <p:nvPr/>
        </p:nvCxnSpPr>
        <p:spPr>
          <a:xfrm flipV="1">
            <a:off x="1835696" y="1655186"/>
            <a:ext cx="7308304" cy="17544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nettore 1 5">
            <a:extLst>
              <a:ext uri="{FF2B5EF4-FFF2-40B4-BE49-F238E27FC236}">
                <a16:creationId xmlns:a16="http://schemas.microsoft.com/office/drawing/2014/main" id="{D0F6EBB4-F9A7-814A-62BA-CFCDBDB496CE}"/>
              </a:ext>
            </a:extLst>
          </p:cNvPr>
          <p:cNvCxnSpPr>
            <a:cxnSpLocks/>
          </p:cNvCxnSpPr>
          <p:nvPr/>
        </p:nvCxnSpPr>
        <p:spPr>
          <a:xfrm flipV="1">
            <a:off x="1813875" y="1793690"/>
            <a:ext cx="7308304" cy="18231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Immagine 8" descr="Immagine che contiene testo, Carattere, schermata, logo&#10;&#10;Il contenuto generato dall'IA potrebbe non essere corretto.">
            <a:extLst>
              <a:ext uri="{FF2B5EF4-FFF2-40B4-BE49-F238E27FC236}">
                <a16:creationId xmlns:a16="http://schemas.microsoft.com/office/drawing/2014/main" id="{F8B09EDE-2D1C-9C57-695F-E9EC1DCE65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856"/>
            <a:ext cx="1835696" cy="1845565"/>
          </a:xfrm>
          <a:prstGeom prst="rect">
            <a:avLst/>
          </a:prstGeom>
        </p:spPr>
      </p:pic>
      <p:sp>
        <p:nvSpPr>
          <p:cNvPr id="10" name="CasellaDiTesto 9">
            <a:extLst>
              <a:ext uri="{FF2B5EF4-FFF2-40B4-BE49-F238E27FC236}">
                <a16:creationId xmlns:a16="http://schemas.microsoft.com/office/drawing/2014/main" id="{21318474-B839-AB45-2D7A-0EBF36191A71}"/>
              </a:ext>
            </a:extLst>
          </p:cNvPr>
          <p:cNvSpPr txBox="1"/>
          <p:nvPr/>
        </p:nvSpPr>
        <p:spPr>
          <a:xfrm>
            <a:off x="647564" y="1849421"/>
            <a:ext cx="78488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Esperimento 3 – Latenza delle Query</a:t>
            </a:r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B39768E1-1F16-4B2B-C17E-3E0D5495FCC1}"/>
              </a:ext>
            </a:extLst>
          </p:cNvPr>
          <p:cNvSpPr txBox="1"/>
          <p:nvPr/>
        </p:nvSpPr>
        <p:spPr>
          <a:xfrm>
            <a:off x="1843141" y="416431"/>
            <a:ext cx="273630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600" dirty="0">
                <a:solidFill>
                  <a:schemeClr val="bg1"/>
                </a:solidFill>
              </a:rPr>
              <a:t>Corso di Laurea Magistrale</a:t>
            </a:r>
          </a:p>
          <a:p>
            <a:pPr algn="ctr"/>
            <a:r>
              <a:rPr lang="it-IT" sz="1600" dirty="0">
                <a:solidFill>
                  <a:schemeClr val="bg1"/>
                </a:solidFill>
              </a:rPr>
              <a:t>in Ingegneria Informatica</a:t>
            </a:r>
          </a:p>
        </p:txBody>
      </p: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3754EF30-E812-14D6-EC92-18775878EBD2}"/>
              </a:ext>
            </a:extLst>
          </p:cNvPr>
          <p:cNvSpPr txBox="1"/>
          <p:nvPr/>
        </p:nvSpPr>
        <p:spPr>
          <a:xfrm>
            <a:off x="4612625" y="408715"/>
            <a:ext cx="21602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600" dirty="0">
                <a:solidFill>
                  <a:schemeClr val="bg1"/>
                </a:solidFill>
              </a:rPr>
              <a:t>Prova orale di Ingegneria dei Dati</a:t>
            </a:r>
          </a:p>
        </p:txBody>
      </p:sp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747E86ED-2CD9-B51F-C43B-463493168291}"/>
              </a:ext>
            </a:extLst>
          </p:cNvPr>
          <p:cNvSpPr txBox="1"/>
          <p:nvPr/>
        </p:nvSpPr>
        <p:spPr>
          <a:xfrm>
            <a:off x="6948264" y="422705"/>
            <a:ext cx="11521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600" dirty="0">
                <a:solidFill>
                  <a:schemeClr val="bg1"/>
                </a:solidFill>
              </a:rPr>
              <a:t>A.A.</a:t>
            </a:r>
          </a:p>
          <a:p>
            <a:pPr algn="ctr"/>
            <a:r>
              <a:rPr lang="it-IT" sz="1600" dirty="0">
                <a:solidFill>
                  <a:schemeClr val="bg1"/>
                </a:solidFill>
              </a:rPr>
              <a:t>2025/2026</a:t>
            </a: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D0A9303A-28A9-AD2F-FFDD-9753320288CC}"/>
              </a:ext>
            </a:extLst>
          </p:cNvPr>
          <p:cNvSpPr txBox="1"/>
          <p:nvPr/>
        </p:nvSpPr>
        <p:spPr>
          <a:xfrm>
            <a:off x="647564" y="2305374"/>
            <a:ext cx="784887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Obiettivo: </a:t>
            </a: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Misurare il tempo di risposta del sistema</a:t>
            </a:r>
          </a:p>
          <a:p>
            <a:endParaRPr lang="it-IT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it-IT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Metrica: </a:t>
            </a: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Tempo medio per Query (in </a:t>
            </a:r>
            <a:r>
              <a:rPr lang="it-IT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ms</a:t>
            </a: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graphicFrame>
        <p:nvGraphicFramePr>
          <p:cNvPr id="7" name="Tabella 6">
            <a:extLst>
              <a:ext uri="{FF2B5EF4-FFF2-40B4-BE49-F238E27FC236}">
                <a16:creationId xmlns:a16="http://schemas.microsoft.com/office/drawing/2014/main" id="{7B68AA3B-269F-4355-B20F-96166D9A695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7482674"/>
              </p:ext>
            </p:extLst>
          </p:nvPr>
        </p:nvGraphicFramePr>
        <p:xfrm>
          <a:off x="1531445" y="3753704"/>
          <a:ext cx="60960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1127291141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11485392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it-IT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Tipo di Ricerca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Tempo Medio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20458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IT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Documenti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&lt; 40ms</a:t>
                      </a:r>
                      <a:endParaRPr lang="it-IT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22183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IT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Tabelle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&lt; 50ms</a:t>
                      </a:r>
                      <a:endParaRPr lang="it-IT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22336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IT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Figure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&lt; 50ms</a:t>
                      </a:r>
                      <a:endParaRPr lang="it-IT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7313753"/>
                  </a:ext>
                </a:extLst>
              </a:tr>
            </a:tbl>
          </a:graphicData>
        </a:graphic>
      </p:graphicFrame>
      <p:sp>
        <p:nvSpPr>
          <p:cNvPr id="8" name="CasellaDiTesto 7">
            <a:extLst>
              <a:ext uri="{FF2B5EF4-FFF2-40B4-BE49-F238E27FC236}">
                <a16:creationId xmlns:a16="http://schemas.microsoft.com/office/drawing/2014/main" id="{61ED7751-016C-014B-BA30-AA42A315F633}"/>
              </a:ext>
            </a:extLst>
          </p:cNvPr>
          <p:cNvSpPr txBox="1"/>
          <p:nvPr/>
        </p:nvSpPr>
        <p:spPr>
          <a:xfrm>
            <a:off x="641332" y="5805264"/>
            <a:ext cx="78488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 presenza dell’indice invertito garantisce risposte in tempo reale.</a:t>
            </a:r>
          </a:p>
        </p:txBody>
      </p:sp>
    </p:spTree>
    <p:extLst>
      <p:ext uri="{BB962C8B-B14F-4D97-AF65-F5344CB8AC3E}">
        <p14:creationId xmlns:p14="http://schemas.microsoft.com/office/powerpoint/2010/main" val="30814980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789405-F2C2-9CAA-BDC6-4F1ACBD0FD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DAF0808-A94D-C413-2F42-752346F049CF}"/>
              </a:ext>
            </a:extLst>
          </p:cNvPr>
          <p:cNvSpPr txBox="1">
            <a:spLocks/>
          </p:cNvSpPr>
          <p:nvPr/>
        </p:nvSpPr>
        <p:spPr>
          <a:xfrm>
            <a:off x="1843141" y="0"/>
            <a:ext cx="7308304" cy="1417638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it-IT" sz="3000" dirty="0"/>
          </a:p>
        </p:txBody>
      </p:sp>
      <p:cxnSp>
        <p:nvCxnSpPr>
          <p:cNvPr id="4" name="Connettore 1 3">
            <a:extLst>
              <a:ext uri="{FF2B5EF4-FFF2-40B4-BE49-F238E27FC236}">
                <a16:creationId xmlns:a16="http://schemas.microsoft.com/office/drawing/2014/main" id="{1A995BF3-DA75-D647-4975-6B1988C4D151}"/>
              </a:ext>
            </a:extLst>
          </p:cNvPr>
          <p:cNvCxnSpPr>
            <a:cxnSpLocks/>
          </p:cNvCxnSpPr>
          <p:nvPr/>
        </p:nvCxnSpPr>
        <p:spPr>
          <a:xfrm flipV="1">
            <a:off x="1835696" y="1484784"/>
            <a:ext cx="7315166" cy="33626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nettore 1 4">
            <a:extLst>
              <a:ext uri="{FF2B5EF4-FFF2-40B4-BE49-F238E27FC236}">
                <a16:creationId xmlns:a16="http://schemas.microsoft.com/office/drawing/2014/main" id="{8001D083-8760-0CB0-6B75-298FF5DAF9F0}"/>
              </a:ext>
            </a:extLst>
          </p:cNvPr>
          <p:cNvCxnSpPr>
            <a:cxnSpLocks/>
          </p:cNvCxnSpPr>
          <p:nvPr/>
        </p:nvCxnSpPr>
        <p:spPr>
          <a:xfrm flipV="1">
            <a:off x="1835696" y="1655186"/>
            <a:ext cx="7308304" cy="17544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nettore 1 5">
            <a:extLst>
              <a:ext uri="{FF2B5EF4-FFF2-40B4-BE49-F238E27FC236}">
                <a16:creationId xmlns:a16="http://schemas.microsoft.com/office/drawing/2014/main" id="{472CAA16-8C24-F613-1936-E9095F4969A1}"/>
              </a:ext>
            </a:extLst>
          </p:cNvPr>
          <p:cNvCxnSpPr>
            <a:cxnSpLocks/>
          </p:cNvCxnSpPr>
          <p:nvPr/>
        </p:nvCxnSpPr>
        <p:spPr>
          <a:xfrm flipV="1">
            <a:off x="1813875" y="1793690"/>
            <a:ext cx="7308304" cy="18231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Immagine 8" descr="Immagine che contiene testo, Carattere, schermata, logo&#10;&#10;Il contenuto generato dall'IA potrebbe non essere corretto.">
            <a:extLst>
              <a:ext uri="{FF2B5EF4-FFF2-40B4-BE49-F238E27FC236}">
                <a16:creationId xmlns:a16="http://schemas.microsoft.com/office/drawing/2014/main" id="{70F726F0-66D1-3A51-C633-E187A9A3DE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856"/>
            <a:ext cx="1835696" cy="1845565"/>
          </a:xfrm>
          <a:prstGeom prst="rect">
            <a:avLst/>
          </a:prstGeom>
        </p:spPr>
      </p:pic>
      <p:sp>
        <p:nvSpPr>
          <p:cNvPr id="10" name="CasellaDiTesto 9">
            <a:extLst>
              <a:ext uri="{FF2B5EF4-FFF2-40B4-BE49-F238E27FC236}">
                <a16:creationId xmlns:a16="http://schemas.microsoft.com/office/drawing/2014/main" id="{791B7EF5-CBC4-4F11-0AD8-08F58167045B}"/>
              </a:ext>
            </a:extLst>
          </p:cNvPr>
          <p:cNvSpPr txBox="1"/>
          <p:nvPr/>
        </p:nvSpPr>
        <p:spPr>
          <a:xfrm>
            <a:off x="1361708" y="1883033"/>
            <a:ext cx="65167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Esperimento 4 – Qualità del Contesto Semantico</a:t>
            </a:r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2D22AB9B-7407-D05D-F598-D6B710931F7E}"/>
              </a:ext>
            </a:extLst>
          </p:cNvPr>
          <p:cNvSpPr txBox="1"/>
          <p:nvPr/>
        </p:nvSpPr>
        <p:spPr>
          <a:xfrm>
            <a:off x="1843141" y="416431"/>
            <a:ext cx="273630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600" dirty="0">
                <a:solidFill>
                  <a:schemeClr val="bg1"/>
                </a:solidFill>
              </a:rPr>
              <a:t>Corso di Laurea Magistrale</a:t>
            </a:r>
          </a:p>
          <a:p>
            <a:pPr algn="ctr"/>
            <a:r>
              <a:rPr lang="it-IT" sz="1600" dirty="0">
                <a:solidFill>
                  <a:schemeClr val="bg1"/>
                </a:solidFill>
              </a:rPr>
              <a:t>in Ingegneria Informatica</a:t>
            </a:r>
          </a:p>
        </p:txBody>
      </p: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A92F4CC9-E9E0-CCB0-82D3-A44DC4A54697}"/>
              </a:ext>
            </a:extLst>
          </p:cNvPr>
          <p:cNvSpPr txBox="1"/>
          <p:nvPr/>
        </p:nvSpPr>
        <p:spPr>
          <a:xfrm>
            <a:off x="4612625" y="408715"/>
            <a:ext cx="21602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600" dirty="0">
                <a:solidFill>
                  <a:schemeClr val="bg1"/>
                </a:solidFill>
              </a:rPr>
              <a:t>Prova orale di Ingegneria dei Dati</a:t>
            </a:r>
          </a:p>
        </p:txBody>
      </p:sp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AE3DDACD-3F0B-5CF2-83C9-942DF66BF78D}"/>
              </a:ext>
            </a:extLst>
          </p:cNvPr>
          <p:cNvSpPr txBox="1"/>
          <p:nvPr/>
        </p:nvSpPr>
        <p:spPr>
          <a:xfrm>
            <a:off x="6948264" y="422705"/>
            <a:ext cx="11521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600" dirty="0">
                <a:solidFill>
                  <a:schemeClr val="bg1"/>
                </a:solidFill>
              </a:rPr>
              <a:t>A.A.</a:t>
            </a:r>
          </a:p>
          <a:p>
            <a:pPr algn="ctr"/>
            <a:r>
              <a:rPr lang="it-IT" sz="1600" dirty="0">
                <a:solidFill>
                  <a:schemeClr val="bg1"/>
                </a:solidFill>
              </a:rPr>
              <a:t>2025/2026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asellaDiTesto 2">
                <a:extLst>
                  <a:ext uri="{FF2B5EF4-FFF2-40B4-BE49-F238E27FC236}">
                    <a16:creationId xmlns:a16="http://schemas.microsoft.com/office/drawing/2014/main" id="{CB64829D-8CD5-5879-918B-522F1131AEBB}"/>
                  </a:ext>
                </a:extLst>
              </p:cNvPr>
              <p:cNvSpPr txBox="1"/>
              <p:nvPr/>
            </p:nvSpPr>
            <p:spPr>
              <a:xfrm>
                <a:off x="186957" y="2344698"/>
                <a:ext cx="8784976" cy="269952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it-IT" sz="175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Obiettivo:</a:t>
                </a:r>
                <a:r>
                  <a:rPr lang="it-IT" sz="175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Dimostrare che l’uso del </a:t>
                </a:r>
                <a:r>
                  <a:rPr lang="it-IT" sz="175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Vector</a:t>
                </a:r>
                <a:r>
                  <a:rPr lang="it-IT" sz="175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Space Model produce un contesto più rilevante rispetto a un semplice matching testuale.</a:t>
                </a:r>
              </a:p>
              <a:p>
                <a:endParaRPr lang="it-IT" sz="1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it-IT" sz="175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Confronto</a:t>
                </a:r>
                <a:r>
                  <a:rPr lang="it-IT" sz="175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it-IT" sz="175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Baseline: selezione dei paragrafi che contengono le parole «</a:t>
                </a:r>
                <a:r>
                  <a:rPr lang="it-IT" sz="175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table</a:t>
                </a:r>
                <a:r>
                  <a:rPr lang="it-IT" sz="175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» o «figure»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it-IT" sz="175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Metodo proposto: TF-IDF + Cosine </a:t>
                </a:r>
                <a:r>
                  <a:rPr lang="it-IT" sz="175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Similarity</a:t>
                </a:r>
                <a:r>
                  <a:rPr lang="it-IT" sz="175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con soglia 0.15</a:t>
                </a:r>
              </a:p>
              <a:p>
                <a:endParaRPr lang="it-IT" sz="1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it-IT" sz="175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Metriche: </a:t>
                </a:r>
                <a:r>
                  <a:rPr lang="it-IT" sz="175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Precision@3 sui paragrafi restituiti.</a:t>
                </a:r>
              </a:p>
              <a:p>
                <a:endParaRPr lang="it-IT" sz="7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it-IT" sz="1600" b="0" i="1" smtClean="0">
                          <a:latin typeface="Cambria Math" panose="02040503050406030204" pitchFamily="18" charset="0"/>
                        </a:rPr>
                        <m:t>Precision</m:t>
                      </m:r>
                      <m:r>
                        <a:rPr lang="it-IT" sz="1600" b="0" i="1" smtClean="0">
                          <a:latin typeface="Cambria Math" panose="02040503050406030204" pitchFamily="18" charset="0"/>
                        </a:rPr>
                        <m:t>@3 = </m:t>
                      </m:r>
                      <m:f>
                        <m:fPr>
                          <m:ctrlPr>
                            <a:rPr lang="it-IT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it-IT" sz="1600" i="1">
                              <a:latin typeface="Cambria Math" panose="02040503050406030204" pitchFamily="18" charset="0"/>
                            </a:rPr>
                            <m:t>𝑝𝑎𝑟𝑎𝑔𝑟𝑎𝑓𝑖</m:t>
                          </m:r>
                          <m:r>
                            <a:rPr lang="it-IT" sz="16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it-IT" sz="1600" i="1">
                              <a:latin typeface="Cambria Math" panose="02040503050406030204" pitchFamily="18" charset="0"/>
                            </a:rPr>
                            <m:t>𝑟𝑒𝑎𝑙𝑚𝑒𝑛𝑡𝑒</m:t>
                          </m:r>
                          <m:r>
                            <a:rPr lang="it-IT" sz="16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it-IT" sz="1600" i="1">
                              <a:latin typeface="Cambria Math" panose="02040503050406030204" pitchFamily="18" charset="0"/>
                            </a:rPr>
                            <m:t>𝑝𝑒𝑟𝑡𝑖𝑛𝑒𝑛𝑡𝑖</m:t>
                          </m:r>
                        </m:num>
                        <m:den>
                          <m:r>
                            <a:rPr lang="it-IT" sz="16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it-IT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" name="CasellaDiTesto 2">
                <a:extLst>
                  <a:ext uri="{FF2B5EF4-FFF2-40B4-BE49-F238E27FC236}">
                    <a16:creationId xmlns:a16="http://schemas.microsoft.com/office/drawing/2014/main" id="{CB64829D-8CD5-5879-918B-522F1131AE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6957" y="2344698"/>
                <a:ext cx="8784976" cy="2699522"/>
              </a:xfrm>
              <a:prstGeom prst="rect">
                <a:avLst/>
              </a:prstGeom>
              <a:blipFill>
                <a:blip r:embed="rId3"/>
                <a:stretch>
                  <a:fillRect l="-433" t="-939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7" name="Tabella 6">
            <a:extLst>
              <a:ext uri="{FF2B5EF4-FFF2-40B4-BE49-F238E27FC236}">
                <a16:creationId xmlns:a16="http://schemas.microsoft.com/office/drawing/2014/main" id="{733625E7-CF30-FDCB-E826-556B0E227C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8696344"/>
              </p:ext>
            </p:extLst>
          </p:nvPr>
        </p:nvGraphicFramePr>
        <p:xfrm>
          <a:off x="2567862" y="5047005"/>
          <a:ext cx="4008276" cy="1005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4138">
                  <a:extLst>
                    <a:ext uri="{9D8B030D-6E8A-4147-A177-3AD203B41FA5}">
                      <a16:colId xmlns:a16="http://schemas.microsoft.com/office/drawing/2014/main" val="1127291141"/>
                    </a:ext>
                  </a:extLst>
                </a:gridCol>
                <a:gridCol w="2004138">
                  <a:extLst>
                    <a:ext uri="{9D8B030D-6E8A-4147-A177-3AD203B41FA5}">
                      <a16:colId xmlns:a16="http://schemas.microsoft.com/office/drawing/2014/main" val="1148539208"/>
                    </a:ext>
                  </a:extLst>
                </a:gridCol>
              </a:tblGrid>
              <a:tr h="306163">
                <a:tc>
                  <a:txBody>
                    <a:bodyPr/>
                    <a:lstStyle/>
                    <a:p>
                      <a:r>
                        <a:rPr lang="it-IT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Operazione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Precision@3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2045876"/>
                  </a:ext>
                </a:extLst>
              </a:tr>
              <a:tr h="306163">
                <a:tc>
                  <a:txBody>
                    <a:bodyPr/>
                    <a:lstStyle/>
                    <a:p>
                      <a:r>
                        <a:rPr lang="it-IT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Keyword Matching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0.45</a:t>
                      </a:r>
                      <a:endParaRPr lang="it-IT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2218324"/>
                  </a:ext>
                </a:extLst>
              </a:tr>
              <a:tr h="306163">
                <a:tc>
                  <a:txBody>
                    <a:bodyPr/>
                    <a:lstStyle/>
                    <a:p>
                      <a:r>
                        <a:rPr lang="it-IT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TF-IDF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0.80-0.88</a:t>
                      </a:r>
                      <a:endParaRPr lang="it-IT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2233640"/>
                  </a:ext>
                </a:extLst>
              </a:tr>
            </a:tbl>
          </a:graphicData>
        </a:graphic>
      </p:graphicFrame>
      <p:sp>
        <p:nvSpPr>
          <p:cNvPr id="8" name="CasellaDiTesto 7">
            <a:extLst>
              <a:ext uri="{FF2B5EF4-FFF2-40B4-BE49-F238E27FC236}">
                <a16:creationId xmlns:a16="http://schemas.microsoft.com/office/drawing/2014/main" id="{1F029457-5C22-2B99-F8B1-FD9BC54CAB46}"/>
              </a:ext>
            </a:extLst>
          </p:cNvPr>
          <p:cNvSpPr txBox="1"/>
          <p:nvPr/>
        </p:nvSpPr>
        <p:spPr>
          <a:xfrm>
            <a:off x="156677" y="6126119"/>
            <a:ext cx="87849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q"/>
            </a:pPr>
            <a:r>
              <a:rPr lang="it-IT" sz="17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Il modello semantico è in grado di recuperare paragrafi che discutono i </a:t>
            </a:r>
            <a:r>
              <a:rPr lang="it-IT" sz="17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valori numerici</a:t>
            </a:r>
            <a:r>
              <a:rPr lang="it-IT" sz="17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della tabella senza citarla esplicitamente.</a:t>
            </a:r>
          </a:p>
        </p:txBody>
      </p:sp>
    </p:spTree>
    <p:extLst>
      <p:ext uri="{BB962C8B-B14F-4D97-AF65-F5344CB8AC3E}">
        <p14:creationId xmlns:p14="http://schemas.microsoft.com/office/powerpoint/2010/main" val="25165985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AA08C6-3D79-FF31-2EE1-79512F00C8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B6240FE-C30F-130E-E113-9CEA94D9C056}"/>
              </a:ext>
            </a:extLst>
          </p:cNvPr>
          <p:cNvSpPr txBox="1">
            <a:spLocks/>
          </p:cNvSpPr>
          <p:nvPr/>
        </p:nvSpPr>
        <p:spPr>
          <a:xfrm>
            <a:off x="1843141" y="0"/>
            <a:ext cx="7308304" cy="1417638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it-IT" sz="3000" dirty="0"/>
          </a:p>
        </p:txBody>
      </p:sp>
      <p:cxnSp>
        <p:nvCxnSpPr>
          <p:cNvPr id="4" name="Connettore 1 3">
            <a:extLst>
              <a:ext uri="{FF2B5EF4-FFF2-40B4-BE49-F238E27FC236}">
                <a16:creationId xmlns:a16="http://schemas.microsoft.com/office/drawing/2014/main" id="{DDAC287A-03E5-AF86-3D3C-333517C93616}"/>
              </a:ext>
            </a:extLst>
          </p:cNvPr>
          <p:cNvCxnSpPr>
            <a:cxnSpLocks/>
          </p:cNvCxnSpPr>
          <p:nvPr/>
        </p:nvCxnSpPr>
        <p:spPr>
          <a:xfrm flipV="1">
            <a:off x="1835696" y="1484784"/>
            <a:ext cx="7315166" cy="33626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nettore 1 4">
            <a:extLst>
              <a:ext uri="{FF2B5EF4-FFF2-40B4-BE49-F238E27FC236}">
                <a16:creationId xmlns:a16="http://schemas.microsoft.com/office/drawing/2014/main" id="{C6B0C6B2-798A-E6EF-C357-B3F6C4F11593}"/>
              </a:ext>
            </a:extLst>
          </p:cNvPr>
          <p:cNvCxnSpPr>
            <a:cxnSpLocks/>
          </p:cNvCxnSpPr>
          <p:nvPr/>
        </p:nvCxnSpPr>
        <p:spPr>
          <a:xfrm flipV="1">
            <a:off x="1835696" y="1655186"/>
            <a:ext cx="7308304" cy="17544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nettore 1 5">
            <a:extLst>
              <a:ext uri="{FF2B5EF4-FFF2-40B4-BE49-F238E27FC236}">
                <a16:creationId xmlns:a16="http://schemas.microsoft.com/office/drawing/2014/main" id="{17FE9782-5B5F-81A0-056A-93955A6DC3C5}"/>
              </a:ext>
            </a:extLst>
          </p:cNvPr>
          <p:cNvCxnSpPr>
            <a:cxnSpLocks/>
          </p:cNvCxnSpPr>
          <p:nvPr/>
        </p:nvCxnSpPr>
        <p:spPr>
          <a:xfrm flipV="1">
            <a:off x="1813875" y="1793690"/>
            <a:ext cx="7308304" cy="18231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Immagine 8" descr="Immagine che contiene testo, Carattere, schermata, logo&#10;&#10;Il contenuto generato dall'IA potrebbe non essere corretto.">
            <a:extLst>
              <a:ext uri="{FF2B5EF4-FFF2-40B4-BE49-F238E27FC236}">
                <a16:creationId xmlns:a16="http://schemas.microsoft.com/office/drawing/2014/main" id="{D72FB6DD-6025-8129-F5C1-0D78E78FB2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856"/>
            <a:ext cx="1835696" cy="1845565"/>
          </a:xfrm>
          <a:prstGeom prst="rect">
            <a:avLst/>
          </a:prstGeom>
        </p:spPr>
      </p:pic>
      <p:sp>
        <p:nvSpPr>
          <p:cNvPr id="10" name="CasellaDiTesto 9">
            <a:extLst>
              <a:ext uri="{FF2B5EF4-FFF2-40B4-BE49-F238E27FC236}">
                <a16:creationId xmlns:a16="http://schemas.microsoft.com/office/drawing/2014/main" id="{1DCE38FD-2958-204A-B238-68D36CA94007}"/>
              </a:ext>
            </a:extLst>
          </p:cNvPr>
          <p:cNvSpPr txBox="1"/>
          <p:nvPr/>
        </p:nvSpPr>
        <p:spPr>
          <a:xfrm>
            <a:off x="647564" y="1849421"/>
            <a:ext cx="78488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Esperimento 5 – Qualità del Recupero Informativo</a:t>
            </a:r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2E38C897-AD61-FA38-07A9-645A0BB8EA9A}"/>
              </a:ext>
            </a:extLst>
          </p:cNvPr>
          <p:cNvSpPr txBox="1"/>
          <p:nvPr/>
        </p:nvSpPr>
        <p:spPr>
          <a:xfrm>
            <a:off x="1843141" y="416431"/>
            <a:ext cx="273630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600" dirty="0">
                <a:solidFill>
                  <a:schemeClr val="bg1"/>
                </a:solidFill>
              </a:rPr>
              <a:t>Corso di Laurea Magistrale</a:t>
            </a:r>
          </a:p>
          <a:p>
            <a:pPr algn="ctr"/>
            <a:r>
              <a:rPr lang="it-IT" sz="1600" dirty="0">
                <a:solidFill>
                  <a:schemeClr val="bg1"/>
                </a:solidFill>
              </a:rPr>
              <a:t>in Ingegneria Informatica</a:t>
            </a:r>
          </a:p>
        </p:txBody>
      </p: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85AEFF04-44C0-E470-DE5B-42183875B4E8}"/>
              </a:ext>
            </a:extLst>
          </p:cNvPr>
          <p:cNvSpPr txBox="1"/>
          <p:nvPr/>
        </p:nvSpPr>
        <p:spPr>
          <a:xfrm>
            <a:off x="4612625" y="408715"/>
            <a:ext cx="21602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600" dirty="0">
                <a:solidFill>
                  <a:schemeClr val="bg1"/>
                </a:solidFill>
              </a:rPr>
              <a:t>Prova orale di Ingegneria dei Dati</a:t>
            </a:r>
          </a:p>
        </p:txBody>
      </p:sp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38E305F3-87EA-C858-3036-3C088A04CDA8}"/>
              </a:ext>
            </a:extLst>
          </p:cNvPr>
          <p:cNvSpPr txBox="1"/>
          <p:nvPr/>
        </p:nvSpPr>
        <p:spPr>
          <a:xfrm>
            <a:off x="6948264" y="422705"/>
            <a:ext cx="11521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600" dirty="0">
                <a:solidFill>
                  <a:schemeClr val="bg1"/>
                </a:solidFill>
              </a:rPr>
              <a:t>A.A.</a:t>
            </a:r>
          </a:p>
          <a:p>
            <a:pPr algn="ctr"/>
            <a:r>
              <a:rPr lang="it-IT" sz="1600" dirty="0">
                <a:solidFill>
                  <a:schemeClr val="bg1"/>
                </a:solidFill>
              </a:rPr>
              <a:t>2025/2026</a:t>
            </a: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DBF45B34-6B92-4F67-BBFE-5D6DFA22915C}"/>
              </a:ext>
            </a:extLst>
          </p:cNvPr>
          <p:cNvSpPr txBox="1"/>
          <p:nvPr/>
        </p:nvSpPr>
        <p:spPr>
          <a:xfrm>
            <a:off x="179512" y="2305374"/>
            <a:ext cx="8856984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Obiettivo: </a:t>
            </a: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Valutare la rilevanza dei risultati restituiti dal motore di ricerca.</a:t>
            </a:r>
          </a:p>
          <a:p>
            <a:endParaRPr lang="it-IT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it-IT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Query di test:</a:t>
            </a:r>
            <a:endParaRPr lang="it-IT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ultra processed foods cardiovascular risk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text to speech neural network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risk factors table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accuracy</a:t>
            </a: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figure</a:t>
            </a:r>
          </a:p>
          <a:p>
            <a:endParaRPr lang="it-IT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it-IT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Metrica: </a:t>
            </a: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 ciascuna query sono stati valutati i primi 5 risultati [Precision@5]</a:t>
            </a:r>
          </a:p>
        </p:txBody>
      </p:sp>
      <p:graphicFrame>
        <p:nvGraphicFramePr>
          <p:cNvPr id="7" name="Tabella 6">
            <a:extLst>
              <a:ext uri="{FF2B5EF4-FFF2-40B4-BE49-F238E27FC236}">
                <a16:creationId xmlns:a16="http://schemas.microsoft.com/office/drawing/2014/main" id="{4AA99E22-2FD1-9FED-7E67-CFA79D48D3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8346680"/>
              </p:ext>
            </p:extLst>
          </p:nvPr>
        </p:nvGraphicFramePr>
        <p:xfrm>
          <a:off x="1531445" y="5021398"/>
          <a:ext cx="6096000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1127291141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11485392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it-IT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Operazione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Precision@5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20458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IT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Senza </a:t>
                      </a:r>
                      <a:r>
                        <a:rPr lang="it-IT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Boosting</a:t>
                      </a:r>
                      <a:endParaRPr lang="it-IT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0.65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22183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IT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Boosting</a:t>
                      </a:r>
                      <a:r>
                        <a:rPr lang="it-IT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(title^3)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2233640"/>
                  </a:ext>
                </a:extLst>
              </a:tr>
            </a:tbl>
          </a:graphicData>
        </a:graphic>
      </p:graphicFrame>
      <p:sp>
        <p:nvSpPr>
          <p:cNvPr id="8" name="CasellaDiTesto 7">
            <a:extLst>
              <a:ext uri="{FF2B5EF4-FFF2-40B4-BE49-F238E27FC236}">
                <a16:creationId xmlns:a16="http://schemas.microsoft.com/office/drawing/2014/main" id="{D18BFA8C-7232-974F-CFB8-C0FF2355785F}"/>
              </a:ext>
            </a:extLst>
          </p:cNvPr>
          <p:cNvSpPr txBox="1"/>
          <p:nvPr/>
        </p:nvSpPr>
        <p:spPr>
          <a:xfrm>
            <a:off x="179512" y="6264619"/>
            <a:ext cx="88569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Il </a:t>
            </a:r>
            <a:r>
              <a:rPr lang="it-IT" dirty="0" err="1"/>
              <a:t>boosting</a:t>
            </a:r>
            <a:r>
              <a:rPr lang="it-IT" dirty="0"/>
              <a:t> dimostra di ridurre significativamente i falsi positivi.</a:t>
            </a:r>
          </a:p>
        </p:txBody>
      </p:sp>
    </p:spTree>
    <p:extLst>
      <p:ext uri="{BB962C8B-B14F-4D97-AF65-F5344CB8AC3E}">
        <p14:creationId xmlns:p14="http://schemas.microsoft.com/office/powerpoint/2010/main" val="21844799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F5BEF8-0214-5840-D0A8-44D8D9D0E4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C720B98-50E7-EEEB-860E-0B6D3DE60DC8}"/>
              </a:ext>
            </a:extLst>
          </p:cNvPr>
          <p:cNvSpPr txBox="1">
            <a:spLocks/>
          </p:cNvSpPr>
          <p:nvPr/>
        </p:nvSpPr>
        <p:spPr>
          <a:xfrm>
            <a:off x="1843141" y="0"/>
            <a:ext cx="7308304" cy="1417638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it-IT" sz="3000" dirty="0"/>
          </a:p>
        </p:txBody>
      </p:sp>
      <p:cxnSp>
        <p:nvCxnSpPr>
          <p:cNvPr id="4" name="Connettore 1 3">
            <a:extLst>
              <a:ext uri="{FF2B5EF4-FFF2-40B4-BE49-F238E27FC236}">
                <a16:creationId xmlns:a16="http://schemas.microsoft.com/office/drawing/2014/main" id="{0606C98A-5707-60DB-FA79-AF05CB033ED7}"/>
              </a:ext>
            </a:extLst>
          </p:cNvPr>
          <p:cNvCxnSpPr>
            <a:cxnSpLocks/>
          </p:cNvCxnSpPr>
          <p:nvPr/>
        </p:nvCxnSpPr>
        <p:spPr>
          <a:xfrm flipV="1">
            <a:off x="1835696" y="1484784"/>
            <a:ext cx="7315166" cy="33626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nettore 1 4">
            <a:extLst>
              <a:ext uri="{FF2B5EF4-FFF2-40B4-BE49-F238E27FC236}">
                <a16:creationId xmlns:a16="http://schemas.microsoft.com/office/drawing/2014/main" id="{E3230061-F0F4-4FF8-2D81-A664CF59ACC8}"/>
              </a:ext>
            </a:extLst>
          </p:cNvPr>
          <p:cNvCxnSpPr>
            <a:cxnSpLocks/>
          </p:cNvCxnSpPr>
          <p:nvPr/>
        </p:nvCxnSpPr>
        <p:spPr>
          <a:xfrm flipV="1">
            <a:off x="1835696" y="1655186"/>
            <a:ext cx="7308304" cy="17544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nettore 1 5">
            <a:extLst>
              <a:ext uri="{FF2B5EF4-FFF2-40B4-BE49-F238E27FC236}">
                <a16:creationId xmlns:a16="http://schemas.microsoft.com/office/drawing/2014/main" id="{43F4882B-E4FC-D7D4-FD7C-20417BCCE5AF}"/>
              </a:ext>
            </a:extLst>
          </p:cNvPr>
          <p:cNvCxnSpPr>
            <a:cxnSpLocks/>
          </p:cNvCxnSpPr>
          <p:nvPr/>
        </p:nvCxnSpPr>
        <p:spPr>
          <a:xfrm flipV="1">
            <a:off x="1813875" y="1793690"/>
            <a:ext cx="7308304" cy="18231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Immagine 8" descr="Immagine che contiene testo, Carattere, schermata, logo&#10;&#10;Il contenuto generato dall'IA potrebbe non essere corretto.">
            <a:extLst>
              <a:ext uri="{FF2B5EF4-FFF2-40B4-BE49-F238E27FC236}">
                <a16:creationId xmlns:a16="http://schemas.microsoft.com/office/drawing/2014/main" id="{A34D5466-F86D-8E37-DA50-C235A2AB41D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856"/>
            <a:ext cx="1835696" cy="1845565"/>
          </a:xfrm>
          <a:prstGeom prst="rect">
            <a:avLst/>
          </a:prstGeom>
        </p:spPr>
      </p:pic>
      <p:sp>
        <p:nvSpPr>
          <p:cNvPr id="10" name="CasellaDiTesto 9">
            <a:extLst>
              <a:ext uri="{FF2B5EF4-FFF2-40B4-BE49-F238E27FC236}">
                <a16:creationId xmlns:a16="http://schemas.microsoft.com/office/drawing/2014/main" id="{1E34F032-EA35-454C-6213-0E5E4B0207DC}"/>
              </a:ext>
            </a:extLst>
          </p:cNvPr>
          <p:cNvSpPr txBox="1"/>
          <p:nvPr/>
        </p:nvSpPr>
        <p:spPr>
          <a:xfrm>
            <a:off x="688189" y="1901216"/>
            <a:ext cx="78488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Esperimento 6 – Robustezza del </a:t>
            </a:r>
            <a:r>
              <a:rPr lang="it-IT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Parsing</a:t>
            </a:r>
            <a:r>
              <a:rPr lang="it-IT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delle Tabelle</a:t>
            </a:r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7FC3F8AB-F52C-0547-F3CA-60E1C01974F9}"/>
              </a:ext>
            </a:extLst>
          </p:cNvPr>
          <p:cNvSpPr txBox="1"/>
          <p:nvPr/>
        </p:nvSpPr>
        <p:spPr>
          <a:xfrm>
            <a:off x="1843141" y="416431"/>
            <a:ext cx="273630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600" dirty="0">
                <a:solidFill>
                  <a:schemeClr val="bg1"/>
                </a:solidFill>
              </a:rPr>
              <a:t>Corso di Laurea Magistrale</a:t>
            </a:r>
          </a:p>
          <a:p>
            <a:pPr algn="ctr"/>
            <a:r>
              <a:rPr lang="it-IT" sz="1600" dirty="0">
                <a:solidFill>
                  <a:schemeClr val="bg1"/>
                </a:solidFill>
              </a:rPr>
              <a:t>in Ingegneria Informatica</a:t>
            </a:r>
          </a:p>
        </p:txBody>
      </p: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8FB955E6-24D2-ECED-FE1E-29CEEAD24336}"/>
              </a:ext>
            </a:extLst>
          </p:cNvPr>
          <p:cNvSpPr txBox="1"/>
          <p:nvPr/>
        </p:nvSpPr>
        <p:spPr>
          <a:xfrm>
            <a:off x="4612625" y="408715"/>
            <a:ext cx="21602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600" dirty="0">
                <a:solidFill>
                  <a:schemeClr val="bg1"/>
                </a:solidFill>
              </a:rPr>
              <a:t>Prova orale di Ingegneria dei Dati</a:t>
            </a:r>
          </a:p>
        </p:txBody>
      </p:sp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D5636367-735E-422C-8529-C802A4FA5C9E}"/>
              </a:ext>
            </a:extLst>
          </p:cNvPr>
          <p:cNvSpPr txBox="1"/>
          <p:nvPr/>
        </p:nvSpPr>
        <p:spPr>
          <a:xfrm>
            <a:off x="6948264" y="422705"/>
            <a:ext cx="11521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600" dirty="0">
                <a:solidFill>
                  <a:schemeClr val="bg1"/>
                </a:solidFill>
              </a:rPr>
              <a:t>A.A.</a:t>
            </a:r>
          </a:p>
          <a:p>
            <a:pPr algn="ctr"/>
            <a:r>
              <a:rPr lang="it-IT" sz="1600" dirty="0">
                <a:solidFill>
                  <a:schemeClr val="bg1"/>
                </a:solidFill>
              </a:rPr>
              <a:t>2025/2026</a:t>
            </a: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795B731D-D4F5-5DCC-BD5E-8EF8E86DDA2A}"/>
              </a:ext>
            </a:extLst>
          </p:cNvPr>
          <p:cNvSpPr txBox="1"/>
          <p:nvPr/>
        </p:nvSpPr>
        <p:spPr>
          <a:xfrm>
            <a:off x="647564" y="2446901"/>
            <a:ext cx="784887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Obiettivo: </a:t>
            </a: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Verificare che il contenuto testuale delle tabelle rimanga leggibile e</a:t>
            </a:r>
          </a:p>
          <a:p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indicizzabile.</a:t>
            </a:r>
          </a:p>
          <a:p>
            <a:endParaRPr lang="it-IT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L’uso di: </a:t>
            </a:r>
            <a:r>
              <a:rPr lang="it-IT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real_tbl.get_text</a:t>
            </a:r>
            <a:r>
              <a:rPr lang="it-IT" dirty="0">
                <a:latin typeface="Courier New" panose="02070309020205020404" pitchFamily="49" charset="0"/>
                <a:cs typeface="Courier New" panose="02070309020205020404" pitchFamily="49" charset="0"/>
              </a:rPr>
              <a:t>(separator=" ") </a:t>
            </a: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evita la fusione delle celle, problema tipico del </a:t>
            </a:r>
            <a:r>
              <a:rPr lang="it-IT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parsing</a:t>
            </a: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HTML standard.</a:t>
            </a:r>
          </a:p>
          <a:p>
            <a:endParaRPr lang="it-IT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it-IT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Risultato: </a:t>
            </a: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0 casi di parole fuse nel campione analizzato.</a:t>
            </a:r>
          </a:p>
        </p:txBody>
      </p:sp>
    </p:spTree>
    <p:extLst>
      <p:ext uri="{BB962C8B-B14F-4D97-AF65-F5344CB8AC3E}">
        <p14:creationId xmlns:p14="http://schemas.microsoft.com/office/powerpoint/2010/main" val="30414300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EFB25A-FF91-B94D-1978-90B7809137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21B2299-92D6-072F-E4D6-B00B8E0FA412}"/>
              </a:ext>
            </a:extLst>
          </p:cNvPr>
          <p:cNvSpPr txBox="1">
            <a:spLocks/>
          </p:cNvSpPr>
          <p:nvPr/>
        </p:nvSpPr>
        <p:spPr>
          <a:xfrm>
            <a:off x="1843141" y="0"/>
            <a:ext cx="7308304" cy="1417638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it-IT" sz="3000" dirty="0"/>
          </a:p>
        </p:txBody>
      </p:sp>
      <p:cxnSp>
        <p:nvCxnSpPr>
          <p:cNvPr id="4" name="Connettore 1 3">
            <a:extLst>
              <a:ext uri="{FF2B5EF4-FFF2-40B4-BE49-F238E27FC236}">
                <a16:creationId xmlns:a16="http://schemas.microsoft.com/office/drawing/2014/main" id="{2F8192AD-FA59-7BDA-77FE-FEE8142A65EC}"/>
              </a:ext>
            </a:extLst>
          </p:cNvPr>
          <p:cNvCxnSpPr>
            <a:cxnSpLocks/>
          </p:cNvCxnSpPr>
          <p:nvPr/>
        </p:nvCxnSpPr>
        <p:spPr>
          <a:xfrm flipV="1">
            <a:off x="1835696" y="1484784"/>
            <a:ext cx="7315166" cy="33626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nettore 1 4">
            <a:extLst>
              <a:ext uri="{FF2B5EF4-FFF2-40B4-BE49-F238E27FC236}">
                <a16:creationId xmlns:a16="http://schemas.microsoft.com/office/drawing/2014/main" id="{97C596F9-2877-3D40-0CF9-6F7CF88EA8D5}"/>
              </a:ext>
            </a:extLst>
          </p:cNvPr>
          <p:cNvCxnSpPr>
            <a:cxnSpLocks/>
          </p:cNvCxnSpPr>
          <p:nvPr/>
        </p:nvCxnSpPr>
        <p:spPr>
          <a:xfrm flipV="1">
            <a:off x="1835696" y="1655186"/>
            <a:ext cx="7308304" cy="17544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nettore 1 5">
            <a:extLst>
              <a:ext uri="{FF2B5EF4-FFF2-40B4-BE49-F238E27FC236}">
                <a16:creationId xmlns:a16="http://schemas.microsoft.com/office/drawing/2014/main" id="{6172AD1B-24E1-B93D-EE41-CDB9C9182113}"/>
              </a:ext>
            </a:extLst>
          </p:cNvPr>
          <p:cNvCxnSpPr>
            <a:cxnSpLocks/>
          </p:cNvCxnSpPr>
          <p:nvPr/>
        </p:nvCxnSpPr>
        <p:spPr>
          <a:xfrm flipV="1">
            <a:off x="1813875" y="1793690"/>
            <a:ext cx="7308304" cy="18231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Immagine 8" descr="Immagine che contiene testo, Carattere, schermata, logo&#10;&#10;Il contenuto generato dall'IA potrebbe non essere corretto.">
            <a:extLst>
              <a:ext uri="{FF2B5EF4-FFF2-40B4-BE49-F238E27FC236}">
                <a16:creationId xmlns:a16="http://schemas.microsoft.com/office/drawing/2014/main" id="{EF298422-A54C-010F-0969-85F74E2F11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856"/>
            <a:ext cx="1835696" cy="1845565"/>
          </a:xfrm>
          <a:prstGeom prst="rect">
            <a:avLst/>
          </a:prstGeom>
        </p:spPr>
      </p:pic>
      <p:sp>
        <p:nvSpPr>
          <p:cNvPr id="10" name="CasellaDiTesto 9">
            <a:extLst>
              <a:ext uri="{FF2B5EF4-FFF2-40B4-BE49-F238E27FC236}">
                <a16:creationId xmlns:a16="http://schemas.microsoft.com/office/drawing/2014/main" id="{14736590-A51D-C00F-C2DC-7C3222939833}"/>
              </a:ext>
            </a:extLst>
          </p:cNvPr>
          <p:cNvSpPr txBox="1"/>
          <p:nvPr/>
        </p:nvSpPr>
        <p:spPr>
          <a:xfrm>
            <a:off x="647564" y="1849421"/>
            <a:ext cx="78488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Sintesi dei Risultati</a:t>
            </a:r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7308A729-CEA4-5E75-ECFA-4684FC361148}"/>
              </a:ext>
            </a:extLst>
          </p:cNvPr>
          <p:cNvSpPr txBox="1"/>
          <p:nvPr/>
        </p:nvSpPr>
        <p:spPr>
          <a:xfrm>
            <a:off x="1843141" y="416431"/>
            <a:ext cx="273630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600" dirty="0">
                <a:solidFill>
                  <a:schemeClr val="bg1"/>
                </a:solidFill>
              </a:rPr>
              <a:t>Corso di Laurea Magistrale</a:t>
            </a:r>
          </a:p>
          <a:p>
            <a:pPr algn="ctr"/>
            <a:r>
              <a:rPr lang="it-IT" sz="1600" dirty="0">
                <a:solidFill>
                  <a:schemeClr val="bg1"/>
                </a:solidFill>
              </a:rPr>
              <a:t>in Ingegneria Informatica</a:t>
            </a:r>
          </a:p>
        </p:txBody>
      </p: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94FA29F6-A673-148B-47DA-AB28B1D98048}"/>
              </a:ext>
            </a:extLst>
          </p:cNvPr>
          <p:cNvSpPr txBox="1"/>
          <p:nvPr/>
        </p:nvSpPr>
        <p:spPr>
          <a:xfrm>
            <a:off x="4612625" y="408715"/>
            <a:ext cx="21602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600" dirty="0">
                <a:solidFill>
                  <a:schemeClr val="bg1"/>
                </a:solidFill>
              </a:rPr>
              <a:t>Prova orale di Ingegneria dei Dati</a:t>
            </a:r>
          </a:p>
        </p:txBody>
      </p:sp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63A07992-F1B5-20BC-CF76-01EA5548374B}"/>
              </a:ext>
            </a:extLst>
          </p:cNvPr>
          <p:cNvSpPr txBox="1"/>
          <p:nvPr/>
        </p:nvSpPr>
        <p:spPr>
          <a:xfrm>
            <a:off x="6948264" y="422705"/>
            <a:ext cx="11521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600" dirty="0">
                <a:solidFill>
                  <a:schemeClr val="bg1"/>
                </a:solidFill>
              </a:rPr>
              <a:t>A.A.</a:t>
            </a:r>
          </a:p>
          <a:p>
            <a:pPr algn="ctr"/>
            <a:r>
              <a:rPr lang="it-IT" sz="1600" dirty="0">
                <a:solidFill>
                  <a:schemeClr val="bg1"/>
                </a:solidFill>
              </a:rPr>
              <a:t>2025/2026</a:t>
            </a:r>
          </a:p>
        </p:txBody>
      </p:sp>
      <p:graphicFrame>
        <p:nvGraphicFramePr>
          <p:cNvPr id="7" name="Tabella 6">
            <a:extLst>
              <a:ext uri="{FF2B5EF4-FFF2-40B4-BE49-F238E27FC236}">
                <a16:creationId xmlns:a16="http://schemas.microsoft.com/office/drawing/2014/main" id="{15D59D51-4456-45DC-CD02-32F9DA2AF51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7816211"/>
              </p:ext>
            </p:extLst>
          </p:nvPr>
        </p:nvGraphicFramePr>
        <p:xfrm>
          <a:off x="647564" y="2397046"/>
          <a:ext cx="7848873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16291">
                  <a:extLst>
                    <a:ext uri="{9D8B030D-6E8A-4147-A177-3AD203B41FA5}">
                      <a16:colId xmlns:a16="http://schemas.microsoft.com/office/drawing/2014/main" val="1127291141"/>
                    </a:ext>
                  </a:extLst>
                </a:gridCol>
                <a:gridCol w="2616291">
                  <a:extLst>
                    <a:ext uri="{9D8B030D-6E8A-4147-A177-3AD203B41FA5}">
                      <a16:colId xmlns:a16="http://schemas.microsoft.com/office/drawing/2014/main" val="1148539208"/>
                    </a:ext>
                  </a:extLst>
                </a:gridCol>
                <a:gridCol w="2616291">
                  <a:extLst>
                    <a:ext uri="{9D8B030D-6E8A-4147-A177-3AD203B41FA5}">
                      <a16:colId xmlns:a16="http://schemas.microsoft.com/office/drawing/2014/main" val="404705333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it-IT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Esperimento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Metrica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Valore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20458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IT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Efficienza Pipeline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Tempo/Articolo</a:t>
                      </a:r>
                      <a:endParaRPr lang="it-IT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</a:t>
                      </a:r>
                      <a:r>
                        <a:rPr lang="it-IT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22183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IT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Extraction</a:t>
                      </a:r>
                      <a:r>
                        <a:rPr lang="it-IT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it-IT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PubMed</a:t>
                      </a:r>
                      <a:endParaRPr lang="it-IT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Yield</a:t>
                      </a:r>
                      <a:endParaRPr lang="it-IT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95–98%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22336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IT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Extraction</a:t>
                      </a:r>
                      <a:r>
                        <a:rPr lang="it-IT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ArXiv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Yield</a:t>
                      </a:r>
                      <a:endParaRPr lang="it-IT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80–88%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73137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IT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Contesto semantico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Precision@3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37840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IT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Ricerca con </a:t>
                      </a:r>
                      <a:r>
                        <a:rPr lang="it-IT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boosting</a:t>
                      </a:r>
                      <a:r>
                        <a:rPr lang="it-IT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Precision@5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320153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IT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Latenza query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Tempo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&lt; 50 </a:t>
                      </a:r>
                      <a:r>
                        <a:rPr lang="it-IT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ms</a:t>
                      </a:r>
                      <a:endParaRPr lang="it-IT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36604507"/>
                  </a:ext>
                </a:extLst>
              </a:tr>
            </a:tbl>
          </a:graphicData>
        </a:graphic>
      </p:graphicFrame>
      <p:sp>
        <p:nvSpPr>
          <p:cNvPr id="8" name="CasellaDiTesto 7">
            <a:extLst>
              <a:ext uri="{FF2B5EF4-FFF2-40B4-BE49-F238E27FC236}">
                <a16:creationId xmlns:a16="http://schemas.microsoft.com/office/drawing/2014/main" id="{D67B6C44-EFF8-B76D-6FB9-F6742D57F87A}"/>
              </a:ext>
            </a:extLst>
          </p:cNvPr>
          <p:cNvSpPr txBox="1"/>
          <p:nvPr/>
        </p:nvSpPr>
        <p:spPr>
          <a:xfrm>
            <a:off x="107504" y="5046080"/>
            <a:ext cx="892899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Gli esperimenti dimostrano che il sistema non si limita a effettuare </a:t>
            </a:r>
            <a:r>
              <a:rPr lang="it-IT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scraping</a:t>
            </a: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 indicizzazione testuale, ma realizza un vero meccanismo di </a:t>
            </a:r>
            <a:r>
              <a:rPr lang="it-IT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Semantic Multimedia </a:t>
            </a:r>
            <a:r>
              <a:rPr lang="it-IT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Retrieval</a:t>
            </a: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in cui figure e tabelle vengono correttamente estratte, contestualizzate semanticamente e rese ricercabili con elevata precisione e bassissima latenza. La combinazione di </a:t>
            </a:r>
            <a:r>
              <a:rPr lang="it-IT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TF-IDF</a:t>
            </a: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per l’analisi semantica e </a:t>
            </a:r>
            <a:r>
              <a:rPr lang="it-IT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Elasticsearch</a:t>
            </a: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per l’indicizzazione si dimostra una soluzione efficace, scalabile e scientificamente misurabile per l’esplorazione della letteratura scientifica.</a:t>
            </a:r>
          </a:p>
        </p:txBody>
      </p:sp>
    </p:spTree>
    <p:extLst>
      <p:ext uri="{BB962C8B-B14F-4D97-AF65-F5344CB8AC3E}">
        <p14:creationId xmlns:p14="http://schemas.microsoft.com/office/powerpoint/2010/main" val="81039840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547</TotalTime>
  <Words>1862</Words>
  <Application>Microsoft Macintosh PowerPoint</Application>
  <PresentationFormat>Presentazione su schermo (4:3)</PresentationFormat>
  <Paragraphs>275</Paragraphs>
  <Slides>16</Slides>
  <Notes>1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7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16</vt:i4>
      </vt:variant>
    </vt:vector>
  </HeadingPairs>
  <TitlesOfParts>
    <vt:vector size="24" baseType="lpstr">
      <vt:lpstr>Aptos</vt:lpstr>
      <vt:lpstr>Arial</vt:lpstr>
      <vt:lpstr>Calibri</vt:lpstr>
      <vt:lpstr>Cambria Math</vt:lpstr>
      <vt:lpstr>Courier New</vt:lpstr>
      <vt:lpstr>Times New Roman</vt:lpstr>
      <vt:lpstr>Wingdings</vt:lpstr>
      <vt:lpstr>Tema di Office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standard di PowerPoint</dc:title>
  <dc:creator>DOUGLAS RUFFINI</dc:creator>
  <cp:lastModifiedBy>GUIDO PETROLITO</cp:lastModifiedBy>
  <cp:revision>30</cp:revision>
  <cp:lastPrinted>2026-01-30T20:06:55Z</cp:lastPrinted>
  <dcterms:created xsi:type="dcterms:W3CDTF">2026-01-30T17:57:05Z</dcterms:created>
  <dcterms:modified xsi:type="dcterms:W3CDTF">2026-02-20T15:07:14Z</dcterms:modified>
</cp:coreProperties>
</file>