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188E7-A41B-40EF-878A-259D22CF8C1C}" v="18" dt="2026-02-19T20:36:03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762953-2548-8887-AD87-C95824322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8A3685-C920-B3D1-A0A7-351342162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53AD8D-F868-741D-2FDB-D964DDC1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AB82B2-5E5C-2F69-97A9-570FA0D8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166D20-4AD5-02C4-D080-69ECE36D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522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F5E1E4-0823-EDBF-92E5-3C32D6AD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A71F1-425C-EF72-D6B4-3BA52070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FC9023-2B39-9514-91F0-3E2297A9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961598-3DFD-0983-C6E2-24DCECA0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254E33-786D-F193-C8DB-24632552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994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01E995-1EA7-3C72-943A-F5865737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CF0322-999D-7EF0-F7E4-B6331F745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FAE84B-622C-F4E7-50BA-C11B5EE2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9D99CB-CE99-8EB6-1926-614BE3FE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88A12B-E125-6CE3-3618-4F3C5BC5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28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CF6FDE-C92A-C2E9-C54F-4BF28DF8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3AEE41-D533-7AA0-264C-5F8540A2D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6A1E32A-BFB4-BFDF-C298-FF3BA369F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E1F40-3EED-101F-630A-71261243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D7CA60-D4EB-4B4B-29D7-D398A988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AFE22A-162C-8529-27B5-A37A442F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22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AAB343-CC3C-9FB4-DFE9-26795276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942D2D-C656-C935-E03F-B04EC1A0D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E1507-73A9-0838-64A6-F44FED9FC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4B0A49-108C-1F8A-096C-FC1092112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8908597-B0C6-899F-6F3B-C81BE8F64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F13138E-2A7D-D134-371D-BEA49B3A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2FF47B5-0E03-8C0F-3A9A-86C3BCA6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BD2D930-5322-30BD-B157-CF739786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84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444978-BEB4-2788-8446-460A8F68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688A6BE-F6B3-9537-F70F-7C96C485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95ADC8-0ACE-FAF7-D159-D4914247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9C420E3-AFAF-068E-9C9B-0B699895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40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6DB4338-D336-951E-05BE-5CCAC7F5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6E87021-B729-E8B3-1753-C1D3D9EA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1873DD-08E5-0460-7BF8-B3C26FD4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70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98F6A-96CE-EE23-D77C-AA2A596D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A3810D-6929-4911-DF0E-7A9731C7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B15CE8-9381-B830-1939-AA8646F16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70033A-506E-0A23-3E13-8A40E4CC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D7DF3B-DA03-2818-1B7C-89F4E7B1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997BB4F-FC14-83BD-68E6-2155A653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2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13016-67FC-85A4-F274-E1AEE6D1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5730CDB-0C5D-AD16-116C-C0105FA6D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55EA19A-775E-92AB-FC65-132015249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A00960-9E7C-3ECD-A8C9-F211BEF3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17513-A031-2BFE-14D1-14BA3EC7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63397A-20B4-F352-C92D-00E7246A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528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B72F2D-66C8-3D11-68DD-D4C2102E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699D58C-E993-FDA6-B11B-87124DC49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2C1BC7-1B3D-C4B6-F041-99BAE9EC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85747A-E662-1A3E-ABA2-D732C6A2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7734A4-4F0D-0347-DAE3-450F54E9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415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BD125CE-9218-90AC-565A-2FAA4ABEC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E7B1A4-AFED-1CB5-F196-309A0E7FA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FE5075-D6EE-F3F5-4091-86837AC4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B8E15D-F8F6-56DE-5927-2BF03AB3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92A0B8-95DE-89B5-28F7-EF02A61E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42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8E646CF-FCE2-3A08-9E61-17975491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3685CF-1B02-4352-74F8-76CF88C4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013C88-56D5-84A1-08DD-A252EF569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7A72E-84EF-4B4A-8C87-3428271F3416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5B30A3-4652-A8E1-1E0A-C2A13D6E9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D02A83-6390-01E4-F455-AD2D1505E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0BAD4-A5AB-466E-844B-718C9DFD67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076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40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42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E22849-37D2-5E19-E26C-3E9702A4A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279" y="2623048"/>
            <a:ext cx="6739136" cy="805952"/>
          </a:xfrm>
        </p:spPr>
        <p:txBody>
          <a:bodyPr anchor="b">
            <a:noAutofit/>
          </a:bodyPr>
          <a:lstStyle/>
          <a:p>
            <a:r>
              <a:rPr lang="it-IT" sz="5200" dirty="0">
                <a:solidFill>
                  <a:schemeClr val="tx2"/>
                </a:solidFill>
              </a:rPr>
              <a:t>Ingegneria dei Dati HW1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B13E472-5940-DD2C-E895-37A56C097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658" y="3429000"/>
            <a:ext cx="6740685" cy="47963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Integrazione LLM nei casi studio</a:t>
            </a:r>
          </a:p>
        </p:txBody>
      </p:sp>
      <p:grpSp>
        <p:nvGrpSpPr>
          <p:cNvPr id="70" name="Group 44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46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47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48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50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75" name="Freeform: Shape 51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52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53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B15C37-025D-C975-DFB1-9BB185F9E805}"/>
              </a:ext>
            </a:extLst>
          </p:cNvPr>
          <p:cNvSpPr txBox="1"/>
          <p:nvPr/>
        </p:nvSpPr>
        <p:spPr>
          <a:xfrm>
            <a:off x="492658" y="5021497"/>
            <a:ext cx="271161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Gruppo: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Pietro Barone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Alessandro di Mario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Guido Petrolini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Douglas Ruffini</a:t>
            </a:r>
          </a:p>
          <a:p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7732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A0E3BC-2000-3EEF-9371-22DD5551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553544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Caso studio: Open Ceres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ttangolo 29">
            <a:extLst>
              <a:ext uri="{FF2B5EF4-FFF2-40B4-BE49-F238E27FC236}">
                <a16:creationId xmlns:a16="http://schemas.microsoft.com/office/drawing/2014/main" id="{9FCDBE86-D00A-7CCC-D48A-323913FD7138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DF4436-D5AC-2D80-E521-AF5EE056F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358261"/>
            <a:ext cx="9833548" cy="5703996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it-IT" sz="3800" dirty="0"/>
              <a:t>Ha l’obiettivo di estendere il tuo Knowledge </a:t>
            </a:r>
            <a:r>
              <a:rPr lang="it-IT" sz="3800" dirty="0" err="1"/>
              <a:t>Graph</a:t>
            </a:r>
            <a:r>
              <a:rPr lang="it-IT" sz="3800" dirty="0"/>
              <a:t> (KG) con le informazioni contenute nelle pagine web dedicate alle entità del grafo</a:t>
            </a:r>
          </a:p>
          <a:p>
            <a:pPr marL="0" indent="0" algn="just">
              <a:buNone/>
            </a:pPr>
            <a:endParaRPr lang="it-IT" sz="3800" dirty="0"/>
          </a:p>
          <a:p>
            <a:pPr marL="0" indent="0" algn="just">
              <a:buNone/>
            </a:pPr>
            <a:r>
              <a:rPr lang="it-IT" sz="3800" dirty="0"/>
              <a:t>Fase di annotazione:</a:t>
            </a:r>
          </a:p>
          <a:p>
            <a:pPr marL="0" indent="0" algn="just">
              <a:buNone/>
            </a:pPr>
            <a:r>
              <a:rPr lang="it-IT" sz="3800" dirty="0"/>
              <a:t>Annoti pagine web di input usando la conoscenza del tuo KG per scoprire le informazioni rilevanti nella pagina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sz="3800" dirty="0"/>
              <a:t>Supponi di conoscere l’entità nella pagina web e cerchi nel DOM le informazioni che hai nel KG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sz="3800" dirty="0"/>
              <a:t>Per ogni oggetto trovato cerchi un’etichetta candidata tra i vari elementi a lui vicini nella pagina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sz="3800" dirty="0"/>
              <a:t>Scegli la label giusta (potrebbe differire per lo stesso oggetto tra pagina web e KG) con un dizionario che scrivi a mano per ogni predicato nel KG</a:t>
            </a:r>
          </a:p>
          <a:p>
            <a:pPr marL="0" indent="0" algn="just">
              <a:buNone/>
            </a:pPr>
            <a:endParaRPr lang="it-IT" sz="3800" dirty="0"/>
          </a:p>
          <a:p>
            <a:pPr marL="0" indent="0" algn="just">
              <a:buNone/>
            </a:pPr>
            <a:r>
              <a:rPr lang="it-IT" sz="3800" dirty="0"/>
              <a:t>Fase di estrazione:</a:t>
            </a:r>
          </a:p>
          <a:p>
            <a:pPr marL="0" indent="0" algn="just">
              <a:buNone/>
            </a:pPr>
            <a:r>
              <a:rPr lang="it-IT" sz="3800" dirty="0"/>
              <a:t>Dalle posizioni delle coppie oggetto-label nella pagina web crei delle nuove coppie per espandere il tuo KG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sz="3800" dirty="0"/>
              <a:t>Crei un grafo dei candidati con nodi formati da coppie oggetto-label per ogni coppia di stringhe nella pagina e metti degli archi tra i nodi per la loro similarità (se due label o oggetti condividono font, colore, grandezza…). Facendolo per ogni nodo estratto hai un grafo completo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sz="3800" dirty="0"/>
              <a:t>Dalla fase di annotazione hai ricavato uno o più nodi corretti ed è verosimile che altri nodi corretti abbiano alta similarità con loro. Con algoritmi di label </a:t>
            </a:r>
            <a:r>
              <a:rPr lang="it-IT" sz="3800" dirty="0" err="1"/>
              <a:t>propagation</a:t>
            </a:r>
            <a:r>
              <a:rPr lang="it-IT" sz="3800" dirty="0"/>
              <a:t> ricrei delle community di coppie oggetto-label simili tra loro e quindi corrette</a:t>
            </a:r>
          </a:p>
        </p:txBody>
      </p:sp>
    </p:spTree>
    <p:extLst>
      <p:ext uri="{BB962C8B-B14F-4D97-AF65-F5344CB8AC3E}">
        <p14:creationId xmlns:p14="http://schemas.microsoft.com/office/powerpoint/2010/main" val="16176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81714-581C-E843-736A-42DF464A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A60C8D-85F6-3A8D-B88B-D017D2767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3EE34C-47ED-ECBD-406B-FFB8C2284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9C0F6B-7897-7581-62BB-1D1083FB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672584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Utilizzo degli LLM in Open Ceres (1)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6EB193-0FAC-6F1C-3597-7C2974AFD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28D3C3-6F13-4C37-3545-6A50E013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906198-40DF-288B-7B91-A9BD6804A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ADCF260-98F4-06CB-6635-2E31F5937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ED0CDD1-C74C-324C-4DC5-44A49930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9C3FA3-7B18-F542-4E99-A4A24D4B8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FA37DAF-DDFB-266E-0CFE-C27E334A9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0272278-0E8D-877D-6945-2A9F221AD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DCEA561-6F18-1A91-025F-246FED638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8B22AF2-C73F-8F67-A911-FB0361F44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ttangolo 29">
            <a:extLst>
              <a:ext uri="{FF2B5EF4-FFF2-40B4-BE49-F238E27FC236}">
                <a16:creationId xmlns:a16="http://schemas.microsoft.com/office/drawing/2014/main" id="{F9FA40F6-AF52-ED51-539E-8194437BCA9B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65E1A9-602A-1CD0-1DF6-F68238B2E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630870"/>
            <a:ext cx="9833548" cy="476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Possibili punti di integrazione di un LLM nel sistema </a:t>
            </a:r>
            <a:r>
              <a:rPr lang="it-IT" sz="1800" dirty="0" err="1"/>
              <a:t>OpenCeres</a:t>
            </a:r>
            <a:r>
              <a:rPr lang="it-IT" sz="1800" dirty="0"/>
              <a:t>: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Generazione di sinonimi per i predicati nel KG</a:t>
            </a:r>
            <a:br>
              <a:rPr lang="it-IT" sz="1800" dirty="0">
                <a:solidFill>
                  <a:schemeClr val="tx2"/>
                </a:solidFill>
              </a:rPr>
            </a:br>
            <a:r>
              <a:rPr lang="it-IT" sz="1800" dirty="0"/>
              <a:t>Per gli elementi che trovi sia nel DOM della pagina che nel tuo KG ma con label diverse e che non hai nel dizionario dei sinonimi, generi una lista di sinonimi (multilingua magari?)</a:t>
            </a:r>
            <a:br>
              <a:rPr lang="it-IT" sz="1800" dirty="0"/>
            </a:br>
            <a:r>
              <a:rPr lang="it-IT" sz="1800" dirty="0"/>
              <a:t>Input: Label nel KG</a:t>
            </a:r>
            <a:br>
              <a:rPr lang="it-IT" sz="1800" dirty="0"/>
            </a:br>
            <a:r>
              <a:rPr lang="it-IT" sz="1800" dirty="0"/>
              <a:t>Output: Lista di predicati</a:t>
            </a:r>
            <a:br>
              <a:rPr lang="it-IT" sz="1800" dirty="0"/>
            </a:br>
            <a:r>
              <a:rPr lang="it-IT" sz="1800" dirty="0"/>
              <a:t>Costo e latenza: basso (input e output di piccole dimensioni), lo fai in pochi casi</a:t>
            </a:r>
            <a:br>
              <a:rPr lang="it-IT" sz="1800" dirty="0"/>
            </a:br>
            <a:r>
              <a:rPr lang="it-IT" sz="1800" dirty="0"/>
              <a:t>Benefici: tieni aggiornato il tuo dizionario di sinonimi delle label in modo automatico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Validazione finale delle coppie oggetto-label</a:t>
            </a:r>
            <a:br>
              <a:rPr lang="it-IT" sz="1800" dirty="0"/>
            </a:br>
            <a:r>
              <a:rPr lang="it-IT" sz="1800" dirty="0"/>
              <a:t>Validazione delle coppie oggetto-label ottenute nella prima fase di annotazione</a:t>
            </a:r>
            <a:br>
              <a:rPr lang="it-IT" sz="1800" dirty="0"/>
            </a:br>
            <a:r>
              <a:rPr lang="it-IT" sz="1800" dirty="0"/>
              <a:t>Input: coppia label-oggetto estratta dalla pagina web</a:t>
            </a:r>
            <a:br>
              <a:rPr lang="it-IT" sz="1800" dirty="0"/>
            </a:br>
            <a:r>
              <a:rPr lang="it-IT" sz="1800" dirty="0"/>
              <a:t>Output: </a:t>
            </a:r>
            <a:r>
              <a:rPr lang="it-IT" sz="1800" dirty="0" err="1"/>
              <a:t>true</a:t>
            </a:r>
            <a:r>
              <a:rPr lang="it-IT" sz="1800" dirty="0"/>
              <a:t>/false se la coppia è corretta oppure no</a:t>
            </a:r>
            <a:br>
              <a:rPr lang="it-IT" sz="1800" dirty="0"/>
            </a:br>
            <a:r>
              <a:rPr lang="it-IT" sz="1800" dirty="0"/>
              <a:t>Costo e latenza: basso ma se lo fai per tutte le coppie estratte diventa medio-alto</a:t>
            </a:r>
            <a:br>
              <a:rPr lang="it-IT" sz="1800" dirty="0"/>
            </a:br>
            <a:r>
              <a:rPr lang="it-IT" sz="1800" dirty="0"/>
              <a:t>Benefici: rimuove errori di mapping e mantiene ordinato il dizionario dei sinonimi</a:t>
            </a:r>
          </a:p>
          <a:p>
            <a:pPr marL="0" indent="0">
              <a:buNone/>
            </a:pP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414235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4146D-E20F-B36E-7262-CBEE9E4F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E88D93C-34CF-3A72-6E56-D48AEF096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828C4-89BC-14B9-B0D1-FBE1A6712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49DA25-1583-AD82-54A8-AB0057C0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672584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Utilizzo degli LLM in Open Ceres (2)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E20927-60D6-B794-2CF1-52D526DB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7F69EB-6220-143F-FBB2-1676CAA8A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DB5023-0A7C-4DDA-5BAD-E03296FD8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6CF6E9B-6761-B985-5184-C9A7CBC5C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1BC6C67-F825-0B38-54F1-4C4E58C4E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1F6104-E1AD-01D7-2AA8-5D312C78A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2BA8A47-CB11-A248-B11C-A26B22DCD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969863-B4B0-C73E-55BC-265646FB9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36E4196-7D7B-14FD-82BD-FA2BCE36D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B64F39B-1B70-A6D4-E368-F850B6A29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ttangolo 29">
            <a:extLst>
              <a:ext uri="{FF2B5EF4-FFF2-40B4-BE49-F238E27FC236}">
                <a16:creationId xmlns:a16="http://schemas.microsoft.com/office/drawing/2014/main" id="{DD9E4402-D637-88AE-985A-159ECD03E435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C12BF8-93AC-0A20-7766-4F6B50D55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630870"/>
            <a:ext cx="9833548" cy="476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Possibili punti di integrazione di un LLM nel sistema </a:t>
            </a:r>
            <a:r>
              <a:rPr lang="it-IT" sz="1800" dirty="0" err="1"/>
              <a:t>OpenCeres</a:t>
            </a:r>
            <a:r>
              <a:rPr lang="it-IT" sz="1800" dirty="0"/>
              <a:t>: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Filtraggio dei nodi candidati</a:t>
            </a:r>
            <a:br>
              <a:rPr lang="it-IT" sz="1800" dirty="0">
                <a:solidFill>
                  <a:schemeClr val="tx2"/>
                </a:solidFill>
              </a:rPr>
            </a:br>
            <a:r>
              <a:rPr lang="it-IT" sz="1800" dirty="0"/>
              <a:t>Filtraggio delle coppie oggetto-label presi come nodi candidati nella fase di estrazione</a:t>
            </a:r>
            <a:br>
              <a:rPr lang="it-IT" sz="1800" dirty="0"/>
            </a:br>
            <a:r>
              <a:rPr lang="it-IT" sz="1800" dirty="0"/>
              <a:t>Input: Coppia oggetto-label del nodo candidato</a:t>
            </a:r>
            <a:br>
              <a:rPr lang="it-IT" sz="1800" dirty="0"/>
            </a:br>
            <a:r>
              <a:rPr lang="it-IT" sz="1800" dirty="0"/>
              <a:t>Output: </a:t>
            </a:r>
            <a:r>
              <a:rPr lang="it-IT" sz="1800" dirty="0" err="1"/>
              <a:t>true</a:t>
            </a:r>
            <a:r>
              <a:rPr lang="it-IT" sz="1800" dirty="0"/>
              <a:t>/false se la coppia è sensata oppure no</a:t>
            </a:r>
            <a:br>
              <a:rPr lang="it-IT" sz="1800" dirty="0"/>
            </a:br>
            <a:r>
              <a:rPr lang="it-IT" sz="1800" dirty="0"/>
              <a:t>Costo e latenza: basso ma se lo fai per tutte le coppie estratte diventa medio-alto</a:t>
            </a:r>
            <a:br>
              <a:rPr lang="it-IT" sz="1800" dirty="0"/>
            </a:br>
            <a:r>
              <a:rPr lang="it-IT" sz="1800" dirty="0"/>
              <a:t>Benefici: riduci in cascata tutto il proseguo dell’ algoritmo di label </a:t>
            </a:r>
            <a:r>
              <a:rPr lang="it-IT" sz="1800" dirty="0" err="1"/>
              <a:t>propagation</a:t>
            </a:r>
            <a:r>
              <a:rPr lang="it-IT" sz="1800" dirty="0"/>
              <a:t> perché hai meno istanze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Verifica </a:t>
            </a:r>
            <a:r>
              <a:rPr lang="it-IT" sz="2400" dirty="0" err="1">
                <a:solidFill>
                  <a:schemeClr val="tx2"/>
                </a:solidFill>
              </a:rPr>
              <a:t>pre</a:t>
            </a:r>
            <a:r>
              <a:rPr lang="it-IT" sz="2400" dirty="0">
                <a:solidFill>
                  <a:schemeClr val="tx2"/>
                </a:solidFill>
              </a:rPr>
              <a:t>-inserimento nel KG</a:t>
            </a:r>
            <a:br>
              <a:rPr lang="it-IT" sz="1800" dirty="0"/>
            </a:br>
            <a:r>
              <a:rPr lang="it-IT" sz="1800" dirty="0"/>
              <a:t>Verifica finale prima di aggiungere le nuove coppie nel KG, verifica solo semantica non di veridicità (es. Budget deve essere numerico)</a:t>
            </a:r>
            <a:br>
              <a:rPr lang="it-IT" sz="1800" dirty="0"/>
            </a:br>
            <a:r>
              <a:rPr lang="it-IT" sz="1800" dirty="0"/>
              <a:t>Input: coppia label-oggetto</a:t>
            </a:r>
            <a:br>
              <a:rPr lang="it-IT" sz="1800" dirty="0"/>
            </a:br>
            <a:r>
              <a:rPr lang="it-IT" sz="1800" dirty="0"/>
              <a:t>Output: </a:t>
            </a:r>
            <a:r>
              <a:rPr lang="it-IT" sz="1800" dirty="0" err="1"/>
              <a:t>true</a:t>
            </a:r>
            <a:r>
              <a:rPr lang="it-IT" sz="1800" dirty="0"/>
              <a:t>/false se la coppia è corretta oppure no</a:t>
            </a:r>
            <a:br>
              <a:rPr lang="it-IT" sz="1800" dirty="0"/>
            </a:br>
            <a:r>
              <a:rPr lang="it-IT" sz="1800" dirty="0"/>
              <a:t>Costo e latenza: basso ma se lo fai per tutte le coppie estratte diventa medio-alto</a:t>
            </a:r>
            <a:br>
              <a:rPr lang="it-IT" sz="1800" dirty="0"/>
            </a:br>
            <a:r>
              <a:rPr lang="it-IT" sz="1800" dirty="0"/>
              <a:t>Benefici: correggi errori grossolani e non popoli il KG con cose errate (errori della pagina web)</a:t>
            </a:r>
          </a:p>
          <a:p>
            <a:pPr marL="0" indent="0">
              <a:buNone/>
            </a:pP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429003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B5CD7-A05A-F7A3-3F33-40D8FDB0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2B9D1E-1400-1BF0-1DEA-C2CF530D9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69556-341C-41B4-F1C2-B09673F94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AFE8F30-C1B1-ECEA-8AF5-8821C19F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392327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Caso studio: WEIR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41178CC-AE12-8066-E341-2407C8D05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968BBB-5244-5077-B3C2-0591A9AB4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DCD599A-1F5D-D3F6-BC6B-58A306750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8038CA-94D4-1B27-9B8E-739364882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1A2716-3511-8C2D-CA74-B72F10FCB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0E20B6-E979-262B-3362-EE8FF4141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002567C-B499-353E-42D0-0EC3B7A64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7997746-4EE6-D580-720C-5F12EFA42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BB57C29-7BD0-4559-EF77-283F94A9C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0C779A-2766-3ABA-4C61-2AE9622B9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ttangolo 29">
            <a:extLst>
              <a:ext uri="{FF2B5EF4-FFF2-40B4-BE49-F238E27FC236}">
                <a16:creationId xmlns:a16="http://schemas.microsoft.com/office/drawing/2014/main" id="{B83FC520-CCB7-2DE7-6BC9-08E413347F81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BDF401-BE79-8F96-EF16-556F52DD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072726"/>
            <a:ext cx="9833548" cy="57039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dirty="0"/>
              <a:t>Sfrutti le omogeneità locali e globali per correggere le ridondanze a livello di schema e istanza. Ha l’obiettivo di generare </a:t>
            </a:r>
            <a:r>
              <a:rPr lang="it-IT" sz="1800" dirty="0" err="1"/>
              <a:t>wrapper</a:t>
            </a:r>
            <a:r>
              <a:rPr lang="it-IT" sz="1800" dirty="0"/>
              <a:t> per ogni sorgente, allineare i vari schema e trovare delle label esplicative per i dati che hai</a:t>
            </a:r>
          </a:p>
          <a:p>
            <a:pPr marL="0" indent="0" algn="just">
              <a:buNone/>
            </a:pPr>
            <a:r>
              <a:rPr lang="it-IT" sz="1800" dirty="0"/>
              <a:t>Ridondanze:</a:t>
            </a:r>
          </a:p>
          <a:p>
            <a:pPr algn="just"/>
            <a:r>
              <a:rPr lang="it-IT" sz="1800" dirty="0"/>
              <a:t>A livello di schema se si usano nomi o approssimazioni/unità di misura diverse per stessa entità</a:t>
            </a:r>
          </a:p>
          <a:p>
            <a:pPr algn="just"/>
            <a:r>
              <a:rPr lang="it-IT" sz="1800" dirty="0"/>
              <a:t>A livello di istanza se la trovo in più fonti</a:t>
            </a:r>
          </a:p>
          <a:p>
            <a:pPr marL="0" indent="0" algn="just">
              <a:buNone/>
            </a:pPr>
            <a:endParaRPr lang="it-IT" sz="1800" dirty="0"/>
          </a:p>
          <a:p>
            <a:pPr marL="0" indent="0" algn="just">
              <a:buNone/>
            </a:pPr>
            <a:r>
              <a:rPr lang="it-IT" sz="1800" dirty="0"/>
              <a:t>In generale immagini l’esistenza di un’unica grande tabella H con un set di fonti = {s1, s2, …}</a:t>
            </a:r>
          </a:p>
          <a:p>
            <a:pPr algn="just"/>
            <a:r>
              <a:rPr lang="it-IT" sz="1800" dirty="0"/>
              <a:t>Ogni sorgente pubblica solo una vista di H</a:t>
            </a:r>
          </a:p>
          <a:p>
            <a:pPr algn="just"/>
            <a:r>
              <a:rPr lang="it-IT" sz="1800" dirty="0"/>
              <a:t>Ogni sorgente usa subset di attributi/colonne (proiezione)</a:t>
            </a:r>
          </a:p>
          <a:p>
            <a:pPr algn="just"/>
            <a:r>
              <a:rPr lang="it-IT" sz="1800" dirty="0"/>
              <a:t>Ogni sorgente usa subset di istanze (selezione) e potrebbe aggiungere errori</a:t>
            </a:r>
          </a:p>
          <a:p>
            <a:pPr algn="just"/>
            <a:endParaRPr lang="it-IT" sz="1800" dirty="0"/>
          </a:p>
          <a:p>
            <a:pPr marL="0" indent="0" algn="just">
              <a:buNone/>
            </a:pPr>
            <a:r>
              <a:rPr lang="it-IT" sz="1800" dirty="0"/>
              <a:t>Metodologia:</a:t>
            </a:r>
          </a:p>
          <a:p>
            <a:pPr algn="just"/>
            <a:r>
              <a:rPr lang="it-IT" sz="1800" dirty="0"/>
              <a:t>Genero regole a partire da tutti i punti testuali fissi del DOM nei vari template</a:t>
            </a:r>
          </a:p>
          <a:p>
            <a:pPr algn="just"/>
            <a:r>
              <a:rPr lang="it-IT" sz="1800" dirty="0"/>
              <a:t>Valido le regole confrontandole con dati estratti da altre regole per altre pagine con una </a:t>
            </a:r>
            <a:r>
              <a:rPr lang="it-IT" sz="1800" dirty="0" err="1"/>
              <a:t>distance</a:t>
            </a:r>
            <a:r>
              <a:rPr lang="it-IT" sz="1800" dirty="0"/>
              <a:t> </a:t>
            </a:r>
            <a:r>
              <a:rPr lang="it-IT" sz="1800" dirty="0" err="1"/>
              <a:t>function</a:t>
            </a:r>
            <a:r>
              <a:rPr lang="it-IT" sz="1800" dirty="0"/>
              <a:t> (se tirano fuori cose simili probabilmente sono delle regole corrette)</a:t>
            </a:r>
          </a:p>
        </p:txBody>
      </p:sp>
    </p:spTree>
    <p:extLst>
      <p:ext uri="{BB962C8B-B14F-4D97-AF65-F5344CB8AC3E}">
        <p14:creationId xmlns:p14="http://schemas.microsoft.com/office/powerpoint/2010/main" val="60222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3C888-1CF3-B6B4-8B9B-1DB0727AB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465093-8911-3989-FC93-8376E5041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172EBC-20A0-2755-EE76-2552B4AFC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169CB16-3DE1-3C1A-EA7B-96882CC8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672584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Utilizzo degli LLM in WEIR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9637E5-821F-6F1E-91F8-F383C1A48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29C198-CE00-5377-1F88-A38FEDB07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90308F-4424-A0BD-6B58-CDCA1AFD2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8389DE-EF7A-8651-5E89-2386B49B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7A5726-2189-452D-4E0E-F400CDAB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8E487A-34F5-2662-04CE-A42423E59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8B4F9F-9BB6-EE37-4E40-C21CA6316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854FE06-11FB-CD6B-2B67-E8E5853DF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F341A46-C33D-DEE9-F75F-B681F01D0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A0AE99-56F7-0559-8D59-EAC3F5EEF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ttangolo 29">
            <a:extLst>
              <a:ext uri="{FF2B5EF4-FFF2-40B4-BE49-F238E27FC236}">
                <a16:creationId xmlns:a16="http://schemas.microsoft.com/office/drawing/2014/main" id="{09655AE3-F2C4-6ED0-0167-38C0079CAFEE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EADAE6-8833-CA94-3D82-9DFEC2D1B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630870"/>
            <a:ext cx="9833548" cy="47699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dirty="0"/>
              <a:t>Possibili punti di integrazione di un LLM nel sistema WEIR: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Verifica di dominio</a:t>
            </a:r>
            <a:br>
              <a:rPr lang="it-IT" sz="1800" dirty="0">
                <a:solidFill>
                  <a:schemeClr val="tx2"/>
                </a:solidFill>
              </a:rPr>
            </a:br>
            <a:r>
              <a:rPr lang="it-IT" sz="1800" dirty="0"/>
              <a:t>Fai analizzare al LLM la pagina per fargli valutare la semantica e farti dire se rientra nel dominio da te scelto. La usi solo per fonti meno fidate e più rumorose</a:t>
            </a:r>
            <a:br>
              <a:rPr lang="it-IT" sz="1800" dirty="0"/>
            </a:br>
            <a:r>
              <a:rPr lang="it-IT" sz="1800" dirty="0"/>
              <a:t>Input: </a:t>
            </a:r>
            <a:r>
              <a:rPr lang="it-IT" sz="1800" dirty="0" err="1"/>
              <a:t>snippet</a:t>
            </a:r>
            <a:r>
              <a:rPr lang="it-IT" sz="1800" dirty="0"/>
              <a:t> HTML (da ottimizzare per dargliene meno possibile)</a:t>
            </a:r>
            <a:br>
              <a:rPr lang="it-IT" sz="1800" dirty="0"/>
            </a:br>
            <a:r>
              <a:rPr lang="it-IT" sz="1800" dirty="0"/>
              <a:t>Output: </a:t>
            </a:r>
            <a:r>
              <a:rPr lang="it-IT" sz="1800" dirty="0" err="1"/>
              <a:t>true</a:t>
            </a:r>
            <a:r>
              <a:rPr lang="it-IT" sz="1800" dirty="0"/>
              <a:t>/false se la pagina rientra nel tuo dominio</a:t>
            </a:r>
            <a:br>
              <a:rPr lang="it-IT" sz="1800" dirty="0"/>
            </a:br>
            <a:r>
              <a:rPr lang="it-IT" sz="1800" dirty="0"/>
              <a:t>Costo e latenza: medio-alto, per questo da fare su poche sorgenti</a:t>
            </a:r>
            <a:br>
              <a:rPr lang="it-IT" sz="1800" dirty="0"/>
            </a:br>
            <a:r>
              <a:rPr lang="it-IT" sz="1800" dirty="0"/>
              <a:t>Benefici: riduce il pool di pagine da cui generare regole snellendo tutto il resto dell’ algoritmo</a:t>
            </a: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Risoluzione conflitti</a:t>
            </a:r>
            <a:br>
              <a:rPr lang="it-IT" sz="1800" dirty="0"/>
            </a:br>
            <a:r>
              <a:rPr lang="it-IT" sz="1800" dirty="0"/>
              <a:t>Risolve conflitti tra unità di misura o approssimazioni basandosi sulla coerenza semantica. Lo fai definendoti un convertitore con regole scritte a mano e, non potendo gestire tutti i casi, usi l’LLM solo come ultima spiaggia</a:t>
            </a:r>
            <a:br>
              <a:rPr lang="it-IT" sz="1800" dirty="0"/>
            </a:br>
            <a:r>
              <a:rPr lang="it-IT" sz="1800" dirty="0"/>
              <a:t>Input: stringhe conflittuali e un minimo di contesto della pagina</a:t>
            </a:r>
            <a:br>
              <a:rPr lang="it-IT" sz="1800" dirty="0"/>
            </a:br>
            <a:r>
              <a:rPr lang="it-IT" sz="1800" dirty="0"/>
              <a:t>Output: stringa che risolve il conflitto</a:t>
            </a:r>
            <a:br>
              <a:rPr lang="it-IT" sz="1800" dirty="0"/>
            </a:br>
            <a:r>
              <a:rPr lang="it-IT" sz="1800" dirty="0"/>
              <a:t>Costo e latenza: medio</a:t>
            </a:r>
            <a:br>
              <a:rPr lang="it-IT" sz="1800" dirty="0"/>
            </a:br>
            <a:r>
              <a:rPr lang="it-IT" sz="1800" dirty="0"/>
              <a:t>Benefici: migliori la qualità dei dati e riduci errori dovuti a formati diversi e inconsistenti</a:t>
            </a:r>
          </a:p>
        </p:txBody>
      </p:sp>
    </p:spTree>
    <p:extLst>
      <p:ext uri="{BB962C8B-B14F-4D97-AF65-F5344CB8AC3E}">
        <p14:creationId xmlns:p14="http://schemas.microsoft.com/office/powerpoint/2010/main" val="112793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3DDF-C1EE-D047-1628-9775415A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78DBE-A8AD-0FC8-3FAF-E8FBB9D4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672584"/>
            <a:ext cx="9833548" cy="60046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Latenza e costi dei task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EA4C2368-EF8B-1CF6-342B-96A2916A454A}"/>
              </a:ext>
            </a:extLst>
          </p:cNvPr>
          <p:cNvSpPr/>
          <p:nvPr/>
        </p:nvSpPr>
        <p:spPr>
          <a:xfrm>
            <a:off x="0" y="4210259"/>
            <a:ext cx="3159101" cy="2647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8C18CC9A-90CE-A244-1030-CD9765CAD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678246"/>
              </p:ext>
            </p:extLst>
          </p:nvPr>
        </p:nvGraphicFramePr>
        <p:xfrm>
          <a:off x="453117" y="5132236"/>
          <a:ext cx="6546465" cy="1400175"/>
        </p:xfrm>
        <a:graphic>
          <a:graphicData uri="http://schemas.openxmlformats.org/drawingml/2006/table">
            <a:tbl>
              <a:tblPr/>
              <a:tblGrid>
                <a:gridCol w="1819614">
                  <a:extLst>
                    <a:ext uri="{9D8B030D-6E8A-4147-A177-3AD203B41FA5}">
                      <a16:colId xmlns:a16="http://schemas.microsoft.com/office/drawing/2014/main" val="3746913882"/>
                    </a:ext>
                  </a:extLst>
                </a:gridCol>
                <a:gridCol w="842030">
                  <a:extLst>
                    <a:ext uri="{9D8B030D-6E8A-4147-A177-3AD203B41FA5}">
                      <a16:colId xmlns:a16="http://schemas.microsoft.com/office/drawing/2014/main" val="4096706534"/>
                    </a:ext>
                  </a:extLst>
                </a:gridCol>
                <a:gridCol w="1886594">
                  <a:extLst>
                    <a:ext uri="{9D8B030D-6E8A-4147-A177-3AD203B41FA5}">
                      <a16:colId xmlns:a16="http://schemas.microsoft.com/office/drawing/2014/main" val="2910563329"/>
                    </a:ext>
                  </a:extLst>
                </a:gridCol>
                <a:gridCol w="1049348">
                  <a:extLst>
                    <a:ext uri="{9D8B030D-6E8A-4147-A177-3AD203B41FA5}">
                      <a16:colId xmlns:a16="http://schemas.microsoft.com/office/drawing/2014/main" val="1358969083"/>
                    </a:ext>
                  </a:extLst>
                </a:gridCol>
                <a:gridCol w="948879">
                  <a:extLst>
                    <a:ext uri="{9D8B030D-6E8A-4147-A177-3AD203B41FA5}">
                      <a16:colId xmlns:a16="http://schemas.microsoft.com/office/drawing/2014/main" val="283322875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Token Input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Token Output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Costo (1.000 call)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Latenza stimata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324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Verifica di dominio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~0.15s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1947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Risoluzione conflitti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(stringa che risolve conflitto)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~0.20s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220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Generazione di sinonimi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~0.25s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058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Validazione finale delle coppie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~$0.0004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~0.10s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96443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Filtraggio coppie nodi candidati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~$0.0004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~0.10s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6398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Verifica 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-inserimento nel 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~$0.0004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~0.10s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762754"/>
                  </a:ext>
                </a:extLst>
              </a:tr>
            </a:tbl>
          </a:graphicData>
        </a:graphic>
      </p:graphicFrame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A0CE200B-8A9F-13CE-734F-DFEFC1F1D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333320"/>
              </p:ext>
            </p:extLst>
          </p:nvPr>
        </p:nvGraphicFramePr>
        <p:xfrm>
          <a:off x="453117" y="3103171"/>
          <a:ext cx="6546464" cy="1400175"/>
        </p:xfrm>
        <a:graphic>
          <a:graphicData uri="http://schemas.openxmlformats.org/drawingml/2006/table">
            <a:tbl>
              <a:tblPr/>
              <a:tblGrid>
                <a:gridCol w="1828160">
                  <a:extLst>
                    <a:ext uri="{9D8B030D-6E8A-4147-A177-3AD203B41FA5}">
                      <a16:colId xmlns:a16="http://schemas.microsoft.com/office/drawing/2014/main" val="1340316993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930729586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362491709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146966986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66270088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Token Input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Token Output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Costo (1.000 call)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Latenza stimata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9361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Verifica dominio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~0.4s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951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Risoluzione conflitti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(stringa che risolve conflitto)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~0.6s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10187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Generazione sinonimi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~0.8s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1146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Validazione finale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~0.3s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217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Filtraggio nodi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~0.3s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9553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Verifica pre-inserimento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(</a:t>
                      </a: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/false)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~$0.01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~0.3s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155586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33E1B51-10AE-816B-6925-43E103752CF7}"/>
              </a:ext>
            </a:extLst>
          </p:cNvPr>
          <p:cNvSpPr txBox="1"/>
          <p:nvPr/>
        </p:nvSpPr>
        <p:spPr>
          <a:xfrm>
            <a:off x="393832" y="1724412"/>
            <a:ext cx="11593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/>
              <a:t>Questa slide presenta un confronto empirico dei costi monetari e delle latenze per i task di estrazione dati analizzati. È importante sottolineare che i valori riportati sono stime molto approssimative, calcolate per fornire un ordine di grandezza sull'impatto computazionale e valutare la fattibilità di queste integrazioni in scenari di produzione reali.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1D4DDC1-CDA4-0D13-E4AE-BF7598F33337}"/>
              </a:ext>
            </a:extLst>
          </p:cNvPr>
          <p:cNvSpPr txBox="1"/>
          <p:nvPr/>
        </p:nvSpPr>
        <p:spPr>
          <a:xfrm>
            <a:off x="7251192" y="3099109"/>
            <a:ext cx="4736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/>
              <a:t>GPT-4o-mini</a:t>
            </a:r>
          </a:p>
          <a:p>
            <a:pPr algn="just"/>
            <a:r>
              <a:rPr lang="it-IT" dirty="0"/>
              <a:t>È un modello proprietario di grandi dimensioni ma fortemente ottimizzato per essere rapido ed economico. I prezzi base sono di circa $0.15 per 1 milione di token in input e $0.60 per 1 milione in output. 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D137AE8-47C7-9372-A0E7-B70BFB4B2FD7}"/>
              </a:ext>
            </a:extLst>
          </p:cNvPr>
          <p:cNvSpPr txBox="1"/>
          <p:nvPr/>
        </p:nvSpPr>
        <p:spPr>
          <a:xfrm>
            <a:off x="7251192" y="5132236"/>
            <a:ext cx="47365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 err="1"/>
              <a:t>Llama</a:t>
            </a:r>
            <a:r>
              <a:rPr lang="it-IT" b="1" dirty="0"/>
              <a:t> 3 8B</a:t>
            </a:r>
          </a:p>
          <a:p>
            <a:pPr algn="just"/>
            <a:r>
              <a:rPr lang="it-IT" dirty="0"/>
              <a:t>È una soluzione generativa molto più leggera e snella, dotata di soli 8 miliardi di parametri. I costi sono di circa $0.05 per 1 milione di token in input e $0.08 in output.</a:t>
            </a:r>
          </a:p>
        </p:txBody>
      </p:sp>
    </p:spTree>
    <p:extLst>
      <p:ext uri="{BB962C8B-B14F-4D97-AF65-F5344CB8AC3E}">
        <p14:creationId xmlns:p14="http://schemas.microsoft.com/office/powerpoint/2010/main" val="22003732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fa15e9-32cd-48d8-84c6-ab16bd66a80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07F734F0DC1F4E9331EA4A13B697F2" ma:contentTypeVersion="12" ma:contentTypeDescription="Creare un nuovo documento." ma:contentTypeScope="" ma:versionID="ac020ced591ff84b065caab8c08a9679">
  <xsd:schema xmlns:xsd="http://www.w3.org/2001/XMLSchema" xmlns:xs="http://www.w3.org/2001/XMLSchema" xmlns:p="http://schemas.microsoft.com/office/2006/metadata/properties" xmlns:ns3="42fa15e9-32cd-48d8-84c6-ab16bd66a804" targetNamespace="http://schemas.microsoft.com/office/2006/metadata/properties" ma:root="true" ma:fieldsID="35ec2c188962d40c956b068654ba6692" ns3:_="">
    <xsd:import namespace="42fa15e9-32cd-48d8-84c6-ab16bd66a8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fa15e9-32cd-48d8-84c6-ab16bd66a8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0114F1-A5D7-419C-B94C-987A81E8CB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648FE5-05EB-4622-94E2-E08480D50799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42fa15e9-32cd-48d8-84c6-ab16bd66a804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DCAB85-5B4F-4517-8A6C-EA8E13C8A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fa15e9-32cd-48d8-84c6-ab16bd66a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fb4df68-f464-458c-a546-00fb3af66f6a}" enabled="0" method="" siteId="{ffb4df68-f464-458c-a546-00fb3af66f6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1300</Words>
  <Application>Microsoft Office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Ingegneria dei Dati HW1</vt:lpstr>
      <vt:lpstr>Caso studio: Open Ceres</vt:lpstr>
      <vt:lpstr>Utilizzo degli LLM in Open Ceres (1)</vt:lpstr>
      <vt:lpstr>Utilizzo degli LLM in Open Ceres (2)</vt:lpstr>
      <vt:lpstr>Caso studio: WEIR</vt:lpstr>
      <vt:lpstr>Utilizzo degli LLM in WEIR</vt:lpstr>
      <vt:lpstr>Latenza e costi dei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BARONE</dc:creator>
  <cp:lastModifiedBy>PIETRO BARONE</cp:lastModifiedBy>
  <cp:revision>2</cp:revision>
  <dcterms:created xsi:type="dcterms:W3CDTF">2025-10-27T09:45:45Z</dcterms:created>
  <dcterms:modified xsi:type="dcterms:W3CDTF">2026-02-22T10:31:03Z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0x010100AD07F734F0DC1F4E9331EA4A13B697F2</vt:lpwstr>
  </property>
</Properties>
</file>