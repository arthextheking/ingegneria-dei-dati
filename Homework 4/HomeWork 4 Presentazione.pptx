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61" r:id="rId5"/>
    <p:sldId id="258" r:id="rId6"/>
    <p:sldId id="257" r:id="rId7"/>
    <p:sldId id="262" r:id="rId8"/>
    <p:sldId id="263" r:id="rId9"/>
    <p:sldId id="264" r:id="rId10"/>
    <p:sldId id="265" r:id="rId11"/>
  </p:sldIdLst>
  <p:sldSz cx="9144000" cy="6858000" type="screen4x3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>
      <p:cViewPr varScale="1">
        <p:scale>
          <a:sx n="68" d="100"/>
          <a:sy n="68" d="100"/>
        </p:scale>
        <p:origin x="-96" y="-7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09/11/2025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oon.layki@monash.edut" TargetMode="External"/><Relationship Id="rId2" Type="http://schemas.openxmlformats.org/officeDocument/2006/relationships/hyperlink" Target="mailto:kai.teong@monash.edu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hyperlink" Target="mailto:intin.su@monash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424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Progetto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Analisi approfondita del seguente articolo:</a:t>
            </a:r>
          </a:p>
          <a:p>
            <a:pPr marL="0" indent="0">
              <a:buNone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Schema-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Agnostic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Pre-trained</a:t>
            </a: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</a:t>
            </a:r>
            <a:r>
              <a:rPr lang="it-IT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t-IT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Autori</a:t>
            </a:r>
            <a:endParaRPr lang="it-IT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Kai-Sheng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Teong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Lay-Ki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Soon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</a:t>
            </a:r>
          </a:p>
          <a:p>
            <a:pPr marL="0" indent="0">
              <a:buNone/>
            </a:pP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Information Technology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School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Information Technology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Jeff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ery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Cheah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School of Medicine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Sciences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Monash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Malaysia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Monash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Malaysia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Monash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Malaysia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kai.teong@monash.edu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soon.layki@monash.edut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intin.su@monash.edu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di sviluppo</a:t>
            </a:r>
          </a:p>
          <a:p>
            <a:pPr marL="0" indent="0">
              <a:buNone/>
            </a:pP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ACME </a:t>
            </a:r>
          </a:p>
          <a:p>
            <a:pPr marL="0" indent="0">
              <a:buNone/>
            </a:pP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Membri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Alessandro di Mario, Pietro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Barone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Guido </a:t>
            </a:r>
            <a:r>
              <a:rPr lang="it-IT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Petrolito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Douglas Ruffini.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olo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 smtClean="0"/>
              <a:t>HomeWork</a:t>
            </a:r>
            <a:r>
              <a:rPr lang="it-IT" sz="1800" dirty="0" smtClean="0"/>
              <a:t> 3</a:t>
            </a:r>
            <a:br>
              <a:rPr lang="it-IT" sz="1800" dirty="0" smtClean="0"/>
            </a:br>
            <a:r>
              <a:rPr lang="it-IT" sz="1800" dirty="0" smtClean="0"/>
              <a:t>Ingegneria dei Dati</a:t>
            </a:r>
            <a:endParaRPr lang="it-IT" sz="3000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7" name="Connettore 1 6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D:\Documenti\UNIVERSITA\Laurea Magistrale\Materiale\Ingegneria dei dati\Corso 2025\Homework\2025\3\IMG\ACME 10.jpe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795765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16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49617" y="2260828"/>
            <a:ext cx="8424936" cy="3600400"/>
          </a:xfrm>
        </p:spPr>
        <p:txBody>
          <a:bodyPr>
            <a:normAutofit/>
          </a:bodyPr>
          <a:lstStyle/>
          <a:p>
            <a:pPr algn="just"/>
            <a:r>
              <a:rPr lang="it-IT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Ambito di ricerca: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Integrazione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dei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dati. Fornisce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accesso unificato ai dati residenti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più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fonti. </a:t>
            </a:r>
            <a:r>
              <a:rPr lang="it-IT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pPr algn="just"/>
            <a:endParaRPr lang="it-IT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Scopo</a:t>
            </a:r>
            <a:r>
              <a:rPr lang="it-IT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t-IT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Quello di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creare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archivio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unico di ricerca</a:t>
            </a:r>
            <a:r>
              <a:rPr lang="it-IT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it-IT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Prospettiva </a:t>
            </a:r>
            <a:r>
              <a:rPr lang="it-IT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dell'integrazione </a:t>
            </a:r>
            <a:r>
              <a:rPr lang="it-IT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virtuale: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Supportare 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it-IT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 uno schema </a:t>
            </a:r>
            <a:r>
              <a:rPr lang="it-IT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mediato</a:t>
            </a:r>
            <a:r>
              <a:rPr lang="it-IT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it-IT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smtClean="0"/>
              <a:t>HomeWork 3</a:t>
            </a:r>
            <a:br>
              <a:rPr lang="it-IT" sz="1800" smtClean="0"/>
            </a:br>
            <a:r>
              <a:rPr lang="it-IT" sz="1800" smtClean="0"/>
              <a:t>Ingegneria dei Dati</a:t>
            </a:r>
            <a:endParaRPr lang="it-IT" sz="3000" dirty="0"/>
          </a:p>
        </p:txBody>
      </p:sp>
      <p:pic>
        <p:nvPicPr>
          <p:cNvPr id="14" name="Immagin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15" name="Connettore 1 14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15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16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:\Documenti\UNIVERSITA\Laurea Magistrale\Materiale\Ingegneria dei dati\Corso 2025\Homework\2025\3\IMG\ACME 1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509120"/>
            <a:ext cx="1714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1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285" y="2276872"/>
            <a:ext cx="8229600" cy="29851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Presupposti </a:t>
            </a: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sbagliati: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Molti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 su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EM (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Corrispondenza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 Entità) presuppongono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 per le specifiche dello schema, sia più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conveniente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abbinare coppie di record a livello di  attributi. Sfortunatamente, le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tabelle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sottoposte a EM potrebbero non avere uno schema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allineato, dove spesso, i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metadati della tabella e  degli attributi non sono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congruenti.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olo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 smtClean="0"/>
              <a:t>HomeWork</a:t>
            </a:r>
            <a:r>
              <a:rPr lang="it-IT" sz="1800" dirty="0" smtClean="0"/>
              <a:t> 3</a:t>
            </a:r>
            <a:br>
              <a:rPr lang="it-IT" sz="1800" dirty="0" smtClean="0"/>
            </a:br>
            <a:r>
              <a:rPr lang="it-IT" sz="1800" dirty="0" smtClean="0"/>
              <a:t>Ingegneria dei Dati</a:t>
            </a:r>
            <a:endParaRPr lang="it-IT" sz="30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D:\Documenti\UNIVERSITA\Laurea Magistrale\Materiale\Ingegneria dei dati\Corso 2025\Homework\2025\3\IMG\ACME 4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86104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18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285" y="2276872"/>
            <a:ext cx="8229600" cy="29851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Sfida: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Sopperire il più possibile al </a:t>
            </a: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processamento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umano, il quale etichetta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piccolo set di coppie di record (match/non match) per insegnare a BERT come applicare la sua conoscenza generale al dominio specifico dell'integrazione dati.</a:t>
            </a:r>
          </a:p>
          <a:p>
            <a:pPr marL="0" indent="0" algn="just">
              <a:buNone/>
            </a:pP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Soluzione </a:t>
            </a: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proposta: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Utilizzare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modello linguistico  </a:t>
            </a: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-addestrato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Il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-addestramento è l'apprendimento su miliardi di pagine web e libri (testo generico), prima di vedere i dati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delle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fonti. Serve a dare a BERT una comprensione enciclopedica del linguaggio.</a:t>
            </a:r>
          </a:p>
          <a:p>
            <a:pPr marL="0" indent="0">
              <a:buNone/>
            </a:pP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olo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 smtClean="0"/>
              <a:t>HomeWork</a:t>
            </a:r>
            <a:r>
              <a:rPr lang="it-IT" sz="1800" dirty="0" smtClean="0"/>
              <a:t> 3</a:t>
            </a:r>
            <a:br>
              <a:rPr lang="it-IT" sz="1800" dirty="0" smtClean="0"/>
            </a:br>
            <a:r>
              <a:rPr lang="it-IT" sz="1800" dirty="0" smtClean="0"/>
              <a:t>Ingegneria dei Dati</a:t>
            </a:r>
            <a:endParaRPr lang="it-IT" sz="30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D:\Documenti\UNIVERSITA\Laurea Magistrale\Materiale\Ingegneria dei dati\Corso 2025\Homework\2025\3\IMG\ACME 3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255" y="4365104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5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 smtClean="0"/>
              <a:t>HomeWork</a:t>
            </a:r>
            <a:r>
              <a:rPr lang="it-IT" sz="1800" dirty="0" smtClean="0"/>
              <a:t> 3</a:t>
            </a:r>
            <a:br>
              <a:rPr lang="it-IT" sz="1800" dirty="0" smtClean="0"/>
            </a:br>
            <a:r>
              <a:rPr lang="it-IT" sz="1800" dirty="0" smtClean="0"/>
              <a:t>Ingegneria dei Dati</a:t>
            </a:r>
            <a:endParaRPr lang="it-IT" sz="30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contenuto 2"/>
          <p:cNvSpPr txBox="1">
            <a:spLocks/>
          </p:cNvSpPr>
          <p:nvPr/>
        </p:nvSpPr>
        <p:spPr>
          <a:xfrm>
            <a:off x="447285" y="198884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it-IT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itchFamily="34" charset="0"/>
              <a:buNone/>
            </a:pP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L'approccio  proposto  mira  a  affrontare  il  problema dell'EM a schema non allineato trattando le coppie di record candidati in modo simile a un compito di classificazione di coppie di frasi in NLP.</a:t>
            </a:r>
            <a:r>
              <a:rPr lang="it-IT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Arial" pitchFamily="34" charset="0"/>
              <a:buNone/>
            </a:pPr>
            <a:endParaRPr lang="it-IT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itchFamily="34" charset="0"/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Encoder:</a:t>
            </a:r>
            <a:r>
              <a:rPr lang="it-IT" sz="1200" dirty="0" smtClean="0"/>
              <a:t>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È la parte del Transformer responsabile di prendere una sequenza di input e trasformarla in una serie di rappresentazioni numeriche (vettori) che catturano il significato e le relazioni contestuali di ciascuna parola.</a:t>
            </a:r>
          </a:p>
          <a:p>
            <a:pPr marL="0" indent="0" algn="just">
              <a:buFont typeface="Arial" pitchFamily="34" charset="0"/>
              <a:buNone/>
            </a:pPr>
            <a:endParaRPr lang="it-IT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Meccanismo di Attenzione:</a:t>
            </a:r>
            <a:r>
              <a:rPr lang="it-IT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 chiave  del Transformer è l'</a:t>
            </a:r>
            <a:r>
              <a:rPr lang="it-IT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attenzione</a:t>
            </a:r>
          </a:p>
          <a:p>
            <a:pPr marL="0" indent="0">
              <a:buFont typeface="Arial" pitchFamily="34" charset="0"/>
              <a:buNone/>
            </a:pPr>
            <a:endParaRPr lang="it-IT" sz="1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itchFamily="34" charset="0"/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Agnosticismo: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BERT non ha bisogno di sapere che le colonne si chiamano </a:t>
            </a:r>
          </a:p>
          <a:p>
            <a:pPr marL="0" indent="0" algn="just">
              <a:buFont typeface="Arial" pitchFamily="34" charset="0"/>
              <a:buNone/>
            </a:pP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"Colore" o "Categoria"; analizza il significato delle stringhe di testo Nero e </a:t>
            </a:r>
          </a:p>
          <a:p>
            <a:pPr marL="0" indent="0" algn="just">
              <a:buFont typeface="Arial" pitchFamily="34" charset="0"/>
              <a:buNone/>
            </a:pP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Dark (anche  se  sono  in  colonne  diverse)  per  trovare  la corrispondenza. </a:t>
            </a:r>
          </a:p>
          <a:p>
            <a:pPr marL="0" indent="0" algn="just">
              <a:buFont typeface="Arial" pitchFamily="34" charset="0"/>
              <a:buNone/>
            </a:pP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D:\Documenti\UNIVERSITA\Laurea Magistrale\Materiale\Ingegneria dei dati\Corso 2025\Homework\2025\3\IMG\ACME 6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1" y="4509120"/>
            <a:ext cx="2232248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24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 smtClean="0"/>
              <a:t>HomeWork</a:t>
            </a:r>
            <a:r>
              <a:rPr lang="it-IT" sz="1800" dirty="0" smtClean="0"/>
              <a:t> 3</a:t>
            </a:r>
            <a:br>
              <a:rPr lang="it-IT" sz="1800" dirty="0" smtClean="0"/>
            </a:br>
            <a:r>
              <a:rPr lang="it-IT" sz="1800" dirty="0" smtClean="0"/>
              <a:t>Ingegneria dei Dati</a:t>
            </a:r>
            <a:endParaRPr lang="it-IT" sz="30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Metodo:</a:t>
            </a:r>
            <a:r>
              <a:rPr lang="it-IT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BERT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 stato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-addestrato utilizzando un ampio  corpus  di  testo  non  etichettato </a:t>
            </a:r>
          </a:p>
          <a:p>
            <a:pPr marL="0" indent="0" algn="just">
              <a:buNone/>
            </a:pP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Fase 1: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mascheramento casuale di una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 percentuale delle parole di input e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addestramento del 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modello  a  predire  quelle  parole  mascherate  in  base  al contesto della frase con un processo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chiamato </a:t>
            </a: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Masked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(MLM). </a:t>
            </a:r>
            <a:endParaRPr lang="it-IT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Fase 2: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Sentence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(NSP), addestra BERT a predire se la seconda frase viene effettivamente dopo la prima frase.</a:t>
            </a:r>
          </a:p>
          <a:p>
            <a:pPr marL="0" indent="0">
              <a:buNone/>
            </a:pPr>
            <a:endParaRPr lang="it-IT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D:\Documenti\UNIVERSITA\Laurea Magistrale\Materiale\Ingegneria dei dati\Corso 2025\Homework\2025\3\IMG\ACME 2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4581128"/>
            <a:ext cx="1714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70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 smtClean="0"/>
              <a:t>HomeWork</a:t>
            </a:r>
            <a:r>
              <a:rPr lang="it-IT" sz="1800" dirty="0" smtClean="0"/>
              <a:t> 3</a:t>
            </a:r>
            <a:br>
              <a:rPr lang="it-IT" sz="1800" dirty="0" smtClean="0"/>
            </a:br>
            <a:r>
              <a:rPr lang="it-IT" sz="1800" dirty="0" smtClean="0"/>
              <a:t>Ingegneria dei Dati</a:t>
            </a:r>
            <a:endParaRPr lang="it-IT" sz="30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Presunzione sul metodo: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lavoro di sperimentazione su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testuali e sporchi  presuppone che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questa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struttura stratificata lo classifica come un modello di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(una sottocategoria del Machine Learning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 </a:t>
            </a:r>
          </a:p>
          <a:p>
            <a:pPr marL="0" indent="0" algn="just">
              <a:buNone/>
            </a:pP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Risultati: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Questo 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lavoro,  conferma i presupposti fornendo i  risultati dell'utilizzo di modelli linguistici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-addestrati su dati strutturati corrispondenti. </a:t>
            </a:r>
          </a:p>
          <a:p>
            <a:pPr marL="0" indent="0" algn="just">
              <a:buNone/>
            </a:pPr>
            <a:endParaRPr lang="it-IT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Conseguenze: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Trattando 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ogni 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tupla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come  una  frase,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possiamo 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sfruttare  le  potenzialità  di  BERT  come  soluzione  per  l'EM </a:t>
            </a:r>
            <a:r>
              <a:rPr lang="it-IT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indipendente  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dallo  schema. </a:t>
            </a:r>
          </a:p>
        </p:txBody>
      </p:sp>
      <p:pic>
        <p:nvPicPr>
          <p:cNvPr id="7170" name="Picture 2" descr="D:\Documenti\UNIVERSITA\Laurea Magistrale\Materiale\Ingegneria dei dati\Corso 2025\Homework\2025\3\IMG\ACME 7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5" y="4509120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7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 smtClean="0"/>
              <a:t>HomeWork</a:t>
            </a:r>
            <a:r>
              <a:rPr lang="it-IT" sz="1800" dirty="0" smtClean="0"/>
              <a:t> 3</a:t>
            </a:r>
            <a:br>
              <a:rPr lang="it-IT" sz="1800" dirty="0" smtClean="0"/>
            </a:br>
            <a:r>
              <a:rPr lang="it-IT" sz="1800" dirty="0" smtClean="0"/>
              <a:t>Ingegneria dei Dati</a:t>
            </a:r>
            <a:endParaRPr lang="it-IT" sz="30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323528" y="2060848"/>
            <a:ext cx="8229600" cy="38492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Confronto con  altri metodi.</a:t>
            </a:r>
          </a:p>
          <a:p>
            <a:pPr marL="0" indent="0" algn="just">
              <a:buNone/>
            </a:pPr>
            <a:endParaRPr lang="it-IT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DeepMatcher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Magellan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 sono modelli linguistici (PLM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Non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hanno una fase di </a:t>
            </a: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-addestramento.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concentrano sull'addestramento supervisionato specifico per la Corrispondenza di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Entità per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compito di classificazione (Match/No Match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it-IT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Magellan</a:t>
            </a:r>
            <a:r>
              <a:rPr lang="it-IT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basa principalmente su metodi di Machine Learning Tradizionale (non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Learning) e sulle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euristiche (Programmazione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Tradizionale). Una volta estratte le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numeriche (Euristica),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queste vengono utilizzate per addestrare un modello di ML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tradizionale.</a:t>
            </a:r>
          </a:p>
          <a:p>
            <a:pPr marL="0" indent="0" algn="just">
              <a:buNone/>
            </a:pPr>
            <a:endParaRPr lang="it-I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DeepMatcher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è stato uno dei primi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sostituire i classificatori ML tradizionali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DeepLearning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Reti Neurali Profonde per il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DeepMatcher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 la necessità per l'uomo di definire esplicitamente le </a:t>
            </a: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rete neurale impara da sola le combinazioni di caratteri e parole che indicano un match.</a:t>
            </a:r>
          </a:p>
          <a:p>
            <a:pPr marL="0" indent="0" algn="just">
              <a:buNone/>
            </a:pP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D:\Documenti\UNIVERSITA\Laurea Magistrale\Materiale\Ingegneria dei dati\Corso 2025\Homework\2025\3\IMG\ACME 9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5474425"/>
            <a:ext cx="2304256" cy="1014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1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dirty="0" err="1" smtClean="0"/>
              <a:t>HomeWork</a:t>
            </a:r>
            <a:r>
              <a:rPr lang="it-IT" sz="1800" dirty="0" smtClean="0"/>
              <a:t> 3</a:t>
            </a:r>
            <a:br>
              <a:rPr lang="it-IT" sz="1800" dirty="0" smtClean="0"/>
            </a:br>
            <a:r>
              <a:rPr lang="it-IT" sz="1800" dirty="0" smtClean="0"/>
              <a:t>Ingegneria dei Dati</a:t>
            </a:r>
            <a:endParaRPr lang="it-IT" sz="30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8" name="Connettore 1 7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egnaposto contenuto 2"/>
          <p:cNvSpPr>
            <a:spLocks noGrp="1"/>
          </p:cNvSpPr>
          <p:nvPr>
            <p:ph idx="1"/>
          </p:nvPr>
        </p:nvSpPr>
        <p:spPr>
          <a:xfrm>
            <a:off x="457200" y="1992653"/>
            <a:ext cx="8510265" cy="38492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Risultati: </a:t>
            </a:r>
          </a:p>
          <a:p>
            <a:pPr marL="0" indent="0" algn="just">
              <a:buNone/>
            </a:pPr>
            <a:endParaRPr lang="it-IT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risultati mostrano che la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soluzione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proposta supera costantemente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 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 metodi  selezionati  di  almeno  il  9%  in  termini  di  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media (SOTA). Questi risultati sono stati condotti su Google</a:t>
            </a:r>
          </a:p>
          <a:p>
            <a:pPr marL="0" indent="0" algn="just">
              <a:buNone/>
            </a:pP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Colaboratory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CPU Intel </a:t>
            </a:r>
            <a:r>
              <a:rPr lang="it-IT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Xeon</a:t>
            </a:r>
            <a:r>
              <a:rPr lang="it-IT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 RAM 12 GB,  GPU Nvidia  Tesla  K80.</a:t>
            </a:r>
          </a:p>
        </p:txBody>
      </p:sp>
      <p:pic>
        <p:nvPicPr>
          <p:cNvPr id="9218" name="Picture 2" descr="C:\Users\DOUGLAS RUFFINI\Desktop\Tab 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53" y="2420888"/>
            <a:ext cx="4323533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DOUGLAS RUFFINI\Desktop\Tab 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398648"/>
            <a:ext cx="4107433" cy="254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D:\Documenti\UNIVERSITA\Laurea Magistrale\Materiale\Ingegneria dei dati\Corso 2025\Homework\2025\3\IMG\ACME 8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407" y="5301208"/>
            <a:ext cx="2381970" cy="125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05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49617" y="2260828"/>
            <a:ext cx="8424936" cy="3600400"/>
          </a:xfrm>
        </p:spPr>
        <p:txBody>
          <a:bodyPr>
            <a:normAutofit fontScale="92500" lnSpcReduction="10000"/>
          </a:bodyPr>
          <a:lstStyle/>
          <a:p>
            <a:endParaRPr lang="it-IT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Grazie a tutti per l’attenzione</a:t>
            </a:r>
            <a:r>
              <a:rPr lang="it-IT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it-IT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itolo 1"/>
          <p:cNvSpPr txBox="1">
            <a:spLocks/>
          </p:cNvSpPr>
          <p:nvPr/>
        </p:nvSpPr>
        <p:spPr>
          <a:xfrm>
            <a:off x="0" y="0"/>
            <a:ext cx="9144000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smtClean="0"/>
              <a:t>HomeWork 3</a:t>
            </a:r>
            <a:br>
              <a:rPr lang="it-IT" sz="1800" smtClean="0"/>
            </a:br>
            <a:r>
              <a:rPr lang="it-IT" sz="1800" smtClean="0"/>
              <a:t>Ingegneria dei Dati</a:t>
            </a:r>
            <a:endParaRPr lang="it-IT" sz="3000" dirty="0"/>
          </a:p>
        </p:txBody>
      </p:sp>
      <p:pic>
        <p:nvPicPr>
          <p:cNvPr id="14" name="Immagin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8640"/>
            <a:ext cx="1645469" cy="1031045"/>
          </a:xfrm>
          <a:prstGeom prst="rect">
            <a:avLst/>
          </a:prstGeom>
        </p:spPr>
      </p:pic>
      <p:cxnSp>
        <p:nvCxnSpPr>
          <p:cNvPr id="15" name="Connettore 1 14"/>
          <p:cNvCxnSpPr/>
          <p:nvPr/>
        </p:nvCxnSpPr>
        <p:spPr>
          <a:xfrm flipV="1">
            <a:off x="-12968" y="148478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15"/>
          <p:cNvCxnSpPr/>
          <p:nvPr/>
        </p:nvCxnSpPr>
        <p:spPr>
          <a:xfrm flipV="1">
            <a:off x="-19830" y="1655186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16"/>
          <p:cNvCxnSpPr/>
          <p:nvPr/>
        </p:nvCxnSpPr>
        <p:spPr>
          <a:xfrm flipV="1">
            <a:off x="-19830" y="1844824"/>
            <a:ext cx="9163830" cy="360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 descr="D:\Documenti\UNIVERSITA\Laurea Magistrale\Materiale\Ingegneria dei dati\Corso 2025\Homework\2025\3\IMG\ACME 5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0" y="2708920"/>
            <a:ext cx="1790700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967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</TotalTime>
  <Words>721</Words>
  <Application>Microsoft Office PowerPoint</Application>
  <PresentationFormat>Presentazione su schermo (4:3)</PresentationFormat>
  <Paragraphs>90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Tema di Office</vt:lpstr>
      <vt:lpstr>HomeWork 3 Ingegneria dei Dati</vt:lpstr>
      <vt:lpstr>Presentazione standard di PowerPoint</vt:lpstr>
      <vt:lpstr>HomeWork 3 Ingegneria dei Dati</vt:lpstr>
      <vt:lpstr>HomeWork 3 Ingegneria dei Dati</vt:lpstr>
      <vt:lpstr>HomeWork 3 Ingegneria dei Dati</vt:lpstr>
      <vt:lpstr>HomeWork 3 Ingegneria dei Dati</vt:lpstr>
      <vt:lpstr>HomeWork 3 Ingegneria dei Dati</vt:lpstr>
      <vt:lpstr>HomeWork 3 Ingegneria dei Dati</vt:lpstr>
      <vt:lpstr>HomeWork 3 Ingegneria dei Dati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Corrispondenza di entità indipendente dallo schema mediante modelli linguistici pre-addestrati</dc:title>
  <dc:creator>DOUGLAS RUFFINI</dc:creator>
  <cp:lastModifiedBy>Microsoft</cp:lastModifiedBy>
  <cp:revision>51</cp:revision>
  <cp:lastPrinted>2025-11-09T18:08:30Z</cp:lastPrinted>
  <dcterms:created xsi:type="dcterms:W3CDTF">2025-11-06T17:22:50Z</dcterms:created>
  <dcterms:modified xsi:type="dcterms:W3CDTF">2025-11-09T20:08:53Z</dcterms:modified>
</cp:coreProperties>
</file>