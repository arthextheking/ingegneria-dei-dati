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6858000" type="screen4x3"/>
  <p:notesSz cx="7104063" cy="10234613"/>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5" d="100"/>
          <a:sy n="105" d="100"/>
        </p:scale>
        <p:origin x="1794" y="10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290A6E8C-7D77-4668-AC33-00D0C117ED25}" type="datetimeFigureOut">
              <a:rPr lang="it-IT" smtClean="0"/>
              <a:t>19/02/2026</a:t>
            </a:fld>
            <a:endParaRPr lang="it-IT"/>
          </a:p>
        </p:txBody>
      </p:sp>
      <p:sp>
        <p:nvSpPr>
          <p:cNvPr id="4" name="Segnaposto immagine diapositiva 3"/>
          <p:cNvSpPr>
            <a:spLocks noGrp="1" noRot="1" noChangeAspect="1"/>
          </p:cNvSpPr>
          <p:nvPr>
            <p:ph type="sldImg" idx="2"/>
          </p:nvPr>
        </p:nvSpPr>
        <p:spPr>
          <a:xfrm>
            <a:off x="1249363" y="1279525"/>
            <a:ext cx="4606925" cy="34544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Segnaposto piè di pagina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444EB9BE-1A66-4D56-9925-D6BA3D97EA3E}" type="slidenum">
              <a:rPr lang="it-IT" smtClean="0"/>
              <a:t>‹N›</a:t>
            </a:fld>
            <a:endParaRPr lang="it-IT"/>
          </a:p>
        </p:txBody>
      </p:sp>
    </p:spTree>
    <p:extLst>
      <p:ext uri="{BB962C8B-B14F-4D97-AF65-F5344CB8AC3E}">
        <p14:creationId xmlns:p14="http://schemas.microsoft.com/office/powerpoint/2010/main" val="7956981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dirty="0"/>
              <a:t>[CLS] Età [SEP] </a:t>
            </a:r>
            <a:r>
              <a:rPr lang="it-IT" dirty="0" err="1"/>
              <a:t>Integer</a:t>
            </a:r>
            <a:r>
              <a:rPr lang="it-IT" dirty="0"/>
              <a:t> [SEP] 25 [SEP] 30 [SEP] 45</a:t>
            </a:r>
            <a:br>
              <a:rPr lang="it-IT" dirty="0"/>
            </a:br>
            <a:r>
              <a:rPr lang="it-IT" dirty="0"/>
              <a:t>[CLS] Colonna: Età [SEP] Tipo: </a:t>
            </a:r>
            <a:r>
              <a:rPr lang="it-IT" dirty="0" err="1"/>
              <a:t>Integer</a:t>
            </a:r>
            <a:r>
              <a:rPr lang="it-IT" dirty="0"/>
              <a:t> [SEP] Valori: 25 [SEP] 30</a:t>
            </a:r>
            <a:br>
              <a:rPr lang="it-IT" dirty="0"/>
            </a:br>
            <a:r>
              <a:rPr lang="it-IT" dirty="0"/>
              <a:t>[CLS] Età [SEP] Età [SEP] Età [SEP] Età [SEP] Età [SEP] </a:t>
            </a:r>
            <a:r>
              <a:rPr lang="it-IT" dirty="0" err="1"/>
              <a:t>Integer</a:t>
            </a:r>
            <a:r>
              <a:rPr lang="it-IT" dirty="0"/>
              <a:t> [SEP] 25</a:t>
            </a:r>
          </a:p>
        </p:txBody>
      </p:sp>
      <p:sp>
        <p:nvSpPr>
          <p:cNvPr id="4" name="Segnaposto numero diapositiva 3"/>
          <p:cNvSpPr>
            <a:spLocks noGrp="1"/>
          </p:cNvSpPr>
          <p:nvPr>
            <p:ph type="sldNum" sz="quarter" idx="5"/>
          </p:nvPr>
        </p:nvSpPr>
        <p:spPr/>
        <p:txBody>
          <a:bodyPr/>
          <a:lstStyle/>
          <a:p>
            <a:fld id="{444EB9BE-1A66-4D56-9925-D6BA3D97EA3E}" type="slidenum">
              <a:rPr lang="it-IT" smtClean="0"/>
              <a:t>7</a:t>
            </a:fld>
            <a:endParaRPr lang="it-IT"/>
          </a:p>
        </p:txBody>
      </p:sp>
    </p:spTree>
    <p:extLst>
      <p:ext uri="{BB962C8B-B14F-4D97-AF65-F5344CB8AC3E}">
        <p14:creationId xmlns:p14="http://schemas.microsoft.com/office/powerpoint/2010/main" val="9876948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p:cNvSpPr>
            <a:spLocks noGrp="1"/>
          </p:cNvSpPr>
          <p:nvPr>
            <p:ph type="ctrTitle"/>
          </p:nvPr>
        </p:nvSpPr>
        <p:spPr>
          <a:xfrm>
            <a:off x="685800" y="2130425"/>
            <a:ext cx="7772400" cy="1470025"/>
          </a:xfrm>
        </p:spPr>
        <p:txBody>
          <a:bodyPr/>
          <a:lstStyle/>
          <a:p>
            <a:r>
              <a:rPr lang="it-IT"/>
              <a:t>Fare clic per modificare lo stile del titolo</a:t>
            </a:r>
          </a:p>
        </p:txBody>
      </p:sp>
      <p:sp>
        <p:nvSpPr>
          <p:cNvPr id="3" name="Sottotitolo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it-IT"/>
              <a:t>Fare clic per modificare lo stile del sottotitolo dello schema</a:t>
            </a:r>
          </a:p>
        </p:txBody>
      </p:sp>
      <p:sp>
        <p:nvSpPr>
          <p:cNvPr id="4" name="Segnaposto data 3"/>
          <p:cNvSpPr>
            <a:spLocks noGrp="1"/>
          </p:cNvSpPr>
          <p:nvPr>
            <p:ph type="dt" sz="half" idx="10"/>
          </p:nvPr>
        </p:nvSpPr>
        <p:spPr/>
        <p:txBody>
          <a:bodyPr/>
          <a:lstStyle/>
          <a:p>
            <a:fld id="{7F49D355-16BD-4E45-BD9A-5EA878CF7CBD}" type="datetimeFigureOut">
              <a:rPr lang="it-IT" smtClean="0"/>
              <a:t>19/02/2026</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E7A41E1B-4F70-4964-A407-84C68BE8251C}" type="slidenum">
              <a:rPr lang="it-IT" smtClean="0"/>
              <a:t>‹N›</a:t>
            </a:fld>
            <a:endParaRPr lang="it-IT"/>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p>
        </p:txBody>
      </p:sp>
      <p:sp>
        <p:nvSpPr>
          <p:cNvPr id="3" name="Segnaposto contenuto 2"/>
          <p:cNvSpPr>
            <a:spLocks noGrp="1"/>
          </p:cNvSpPr>
          <p:nvPr>
            <p:ph idx="1"/>
          </p:nvPr>
        </p:nvSpPr>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p:cNvSpPr>
            <a:spLocks noGrp="1"/>
          </p:cNvSpPr>
          <p:nvPr>
            <p:ph type="dt" sz="half" idx="10"/>
          </p:nvPr>
        </p:nvSpPr>
        <p:spPr/>
        <p:txBody>
          <a:bodyPr/>
          <a:lstStyle/>
          <a:p>
            <a:fld id="{7F49D355-16BD-4E45-BD9A-5EA878CF7CBD}" type="datetimeFigureOut">
              <a:rPr lang="it-IT" smtClean="0"/>
              <a:t>19/02/2026</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E7A41E1B-4F70-4964-A407-84C68BE8251C}" type="slidenum">
              <a:rPr lang="it-IT" smtClean="0"/>
              <a:t>‹N›</a:t>
            </a:fld>
            <a:endParaRPr lang="it-IT"/>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p:cNvSpPr>
            <a:spLocks noGrp="1"/>
          </p:cNvSpPr>
          <p:nvPr>
            <p:ph type="title"/>
          </p:nvPr>
        </p:nvSpPr>
        <p:spPr>
          <a:xfrm>
            <a:off x="722313" y="4406900"/>
            <a:ext cx="7772400" cy="1362075"/>
          </a:xfrm>
        </p:spPr>
        <p:txBody>
          <a:bodyPr anchor="t"/>
          <a:lstStyle>
            <a:lvl1pPr algn="l">
              <a:defRPr sz="4000" b="1" cap="all"/>
            </a:lvl1pPr>
          </a:lstStyle>
          <a:p>
            <a:r>
              <a:rPr lang="it-IT"/>
              <a:t>Fare clic per modificare lo stile del titolo</a:t>
            </a:r>
          </a:p>
        </p:txBody>
      </p:sp>
      <p:sp>
        <p:nvSpPr>
          <p:cNvPr id="3" name="Segnaposto testo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it-IT"/>
              <a:t>Fare clic per modificare stili del testo dello schema</a:t>
            </a:r>
          </a:p>
        </p:txBody>
      </p:sp>
      <p:sp>
        <p:nvSpPr>
          <p:cNvPr id="4" name="Segnaposto data 3"/>
          <p:cNvSpPr>
            <a:spLocks noGrp="1"/>
          </p:cNvSpPr>
          <p:nvPr>
            <p:ph type="dt" sz="half" idx="10"/>
          </p:nvPr>
        </p:nvSpPr>
        <p:spPr/>
        <p:txBody>
          <a:bodyPr/>
          <a:lstStyle/>
          <a:p>
            <a:fld id="{7F49D355-16BD-4E45-BD9A-5EA878CF7CBD}" type="datetimeFigureOut">
              <a:rPr lang="it-IT" smtClean="0"/>
              <a:t>19/02/2026</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E7A41E1B-4F70-4964-A407-84C68BE8251C}" type="slidenum">
              <a:rPr lang="it-IT" smtClean="0"/>
              <a:t>‹N›</a:t>
            </a:fld>
            <a:endParaRPr lang="it-IT"/>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p>
        </p:txBody>
      </p:sp>
      <p:sp>
        <p:nvSpPr>
          <p:cNvPr id="3" name="Segnaposto contenuto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data 4"/>
          <p:cNvSpPr>
            <a:spLocks noGrp="1"/>
          </p:cNvSpPr>
          <p:nvPr>
            <p:ph type="dt" sz="half" idx="10"/>
          </p:nvPr>
        </p:nvSpPr>
        <p:spPr/>
        <p:txBody>
          <a:bodyPr/>
          <a:lstStyle/>
          <a:p>
            <a:fld id="{7F49D355-16BD-4E45-BD9A-5EA878CF7CBD}" type="datetimeFigureOut">
              <a:rPr lang="it-IT" smtClean="0"/>
              <a:t>19/02/2026</a:t>
            </a:fld>
            <a:endParaRPr lang="it-IT"/>
          </a:p>
        </p:txBody>
      </p:sp>
      <p:sp>
        <p:nvSpPr>
          <p:cNvPr id="6" name="Segnaposto piè di pagina 5"/>
          <p:cNvSpPr>
            <a:spLocks noGrp="1"/>
          </p:cNvSpPr>
          <p:nvPr>
            <p:ph type="ftr" sz="quarter" idx="11"/>
          </p:nvPr>
        </p:nvSpPr>
        <p:spPr/>
        <p:txBody>
          <a:bodyPr/>
          <a:lstStyle/>
          <a:p>
            <a:endParaRPr lang="it-IT"/>
          </a:p>
        </p:txBody>
      </p:sp>
      <p:sp>
        <p:nvSpPr>
          <p:cNvPr id="7" name="Segnaposto numero diapositiva 6"/>
          <p:cNvSpPr>
            <a:spLocks noGrp="1"/>
          </p:cNvSpPr>
          <p:nvPr>
            <p:ph type="sldNum" sz="quarter" idx="12"/>
          </p:nvPr>
        </p:nvSpPr>
        <p:spPr/>
        <p:txBody>
          <a:bodyPr/>
          <a:lstStyle/>
          <a:p>
            <a:fld id="{E7A41E1B-4F70-4964-A407-84C68BE8251C}" type="slidenum">
              <a:rPr lang="it-IT" smtClean="0"/>
              <a:t>‹N›</a:t>
            </a:fld>
            <a:endParaRPr lang="it-IT"/>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lvl1pPr>
              <a:defRPr/>
            </a:lvl1pPr>
          </a:lstStyle>
          <a:p>
            <a:r>
              <a:rPr lang="it-IT"/>
              <a:t>Fare clic per modificare lo stile del titolo</a:t>
            </a:r>
          </a:p>
        </p:txBody>
      </p:sp>
      <p:sp>
        <p:nvSpPr>
          <p:cNvPr id="3" name="Segnaposto testo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stili del testo dello schema</a:t>
            </a:r>
          </a:p>
        </p:txBody>
      </p:sp>
      <p:sp>
        <p:nvSpPr>
          <p:cNvPr id="4" name="Segnaposto contenuto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testo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stili del testo dello schema</a:t>
            </a:r>
          </a:p>
        </p:txBody>
      </p:sp>
      <p:sp>
        <p:nvSpPr>
          <p:cNvPr id="6" name="Segnaposto contenuto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7" name="Segnaposto data 6"/>
          <p:cNvSpPr>
            <a:spLocks noGrp="1"/>
          </p:cNvSpPr>
          <p:nvPr>
            <p:ph type="dt" sz="half" idx="10"/>
          </p:nvPr>
        </p:nvSpPr>
        <p:spPr/>
        <p:txBody>
          <a:bodyPr/>
          <a:lstStyle/>
          <a:p>
            <a:fld id="{7F49D355-16BD-4E45-BD9A-5EA878CF7CBD}" type="datetimeFigureOut">
              <a:rPr lang="it-IT" smtClean="0"/>
              <a:t>19/02/2026</a:t>
            </a:fld>
            <a:endParaRPr lang="it-IT"/>
          </a:p>
        </p:txBody>
      </p:sp>
      <p:sp>
        <p:nvSpPr>
          <p:cNvPr id="8" name="Segnaposto piè di pagina 7"/>
          <p:cNvSpPr>
            <a:spLocks noGrp="1"/>
          </p:cNvSpPr>
          <p:nvPr>
            <p:ph type="ftr" sz="quarter" idx="11"/>
          </p:nvPr>
        </p:nvSpPr>
        <p:spPr/>
        <p:txBody>
          <a:bodyPr/>
          <a:lstStyle/>
          <a:p>
            <a:endParaRPr lang="it-IT"/>
          </a:p>
        </p:txBody>
      </p:sp>
      <p:sp>
        <p:nvSpPr>
          <p:cNvPr id="9" name="Segnaposto numero diapositiva 8"/>
          <p:cNvSpPr>
            <a:spLocks noGrp="1"/>
          </p:cNvSpPr>
          <p:nvPr>
            <p:ph type="sldNum" sz="quarter" idx="12"/>
          </p:nvPr>
        </p:nvSpPr>
        <p:spPr/>
        <p:txBody>
          <a:bodyPr/>
          <a:lstStyle/>
          <a:p>
            <a:fld id="{E7A41E1B-4F70-4964-A407-84C68BE8251C}" type="slidenum">
              <a:rPr lang="it-IT" smtClean="0"/>
              <a:t>‹N›</a:t>
            </a:fld>
            <a:endParaRPr lang="it-IT"/>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p>
        </p:txBody>
      </p:sp>
      <p:sp>
        <p:nvSpPr>
          <p:cNvPr id="3" name="Segnaposto data 2"/>
          <p:cNvSpPr>
            <a:spLocks noGrp="1"/>
          </p:cNvSpPr>
          <p:nvPr>
            <p:ph type="dt" sz="half" idx="10"/>
          </p:nvPr>
        </p:nvSpPr>
        <p:spPr/>
        <p:txBody>
          <a:bodyPr/>
          <a:lstStyle/>
          <a:p>
            <a:fld id="{7F49D355-16BD-4E45-BD9A-5EA878CF7CBD}" type="datetimeFigureOut">
              <a:rPr lang="it-IT" smtClean="0"/>
              <a:t>19/02/2026</a:t>
            </a:fld>
            <a:endParaRPr lang="it-IT"/>
          </a:p>
        </p:txBody>
      </p:sp>
      <p:sp>
        <p:nvSpPr>
          <p:cNvPr id="4" name="Segnaposto piè di pagina 3"/>
          <p:cNvSpPr>
            <a:spLocks noGrp="1"/>
          </p:cNvSpPr>
          <p:nvPr>
            <p:ph type="ftr" sz="quarter" idx="11"/>
          </p:nvPr>
        </p:nvSpPr>
        <p:spPr/>
        <p:txBody>
          <a:bodyPr/>
          <a:lstStyle/>
          <a:p>
            <a:endParaRPr lang="it-IT"/>
          </a:p>
        </p:txBody>
      </p:sp>
      <p:sp>
        <p:nvSpPr>
          <p:cNvPr id="5" name="Segnaposto numero diapositiva 4"/>
          <p:cNvSpPr>
            <a:spLocks noGrp="1"/>
          </p:cNvSpPr>
          <p:nvPr>
            <p:ph type="sldNum" sz="quarter" idx="12"/>
          </p:nvPr>
        </p:nvSpPr>
        <p:spPr/>
        <p:txBody>
          <a:bodyPr/>
          <a:lstStyle/>
          <a:p>
            <a:fld id="{E7A41E1B-4F70-4964-A407-84C68BE8251C}" type="slidenum">
              <a:rPr lang="it-IT" smtClean="0"/>
              <a:t>‹N›</a:t>
            </a:fld>
            <a:endParaRPr lang="it-IT"/>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p:cNvSpPr>
            <a:spLocks noGrp="1"/>
          </p:cNvSpPr>
          <p:nvPr>
            <p:ph type="dt" sz="half" idx="10"/>
          </p:nvPr>
        </p:nvSpPr>
        <p:spPr/>
        <p:txBody>
          <a:bodyPr/>
          <a:lstStyle/>
          <a:p>
            <a:fld id="{7F49D355-16BD-4E45-BD9A-5EA878CF7CBD}" type="datetimeFigureOut">
              <a:rPr lang="it-IT" smtClean="0"/>
              <a:t>19/02/2026</a:t>
            </a:fld>
            <a:endParaRPr lang="it-IT"/>
          </a:p>
        </p:txBody>
      </p:sp>
      <p:sp>
        <p:nvSpPr>
          <p:cNvPr id="3" name="Segnaposto piè di pagina 2"/>
          <p:cNvSpPr>
            <a:spLocks noGrp="1"/>
          </p:cNvSpPr>
          <p:nvPr>
            <p:ph type="ftr" sz="quarter" idx="11"/>
          </p:nvPr>
        </p:nvSpPr>
        <p:spPr/>
        <p:txBody>
          <a:bodyPr/>
          <a:lstStyle/>
          <a:p>
            <a:endParaRPr lang="it-IT"/>
          </a:p>
        </p:txBody>
      </p:sp>
      <p:sp>
        <p:nvSpPr>
          <p:cNvPr id="4" name="Segnaposto numero diapositiva 3"/>
          <p:cNvSpPr>
            <a:spLocks noGrp="1"/>
          </p:cNvSpPr>
          <p:nvPr>
            <p:ph type="sldNum" sz="quarter" idx="12"/>
          </p:nvPr>
        </p:nvSpPr>
        <p:spPr/>
        <p:txBody>
          <a:bodyPr/>
          <a:lstStyle/>
          <a:p>
            <a:fld id="{E7A41E1B-4F70-4964-A407-84C68BE8251C}" type="slidenum">
              <a:rPr lang="it-IT" smtClean="0"/>
              <a:t>‹N›</a:t>
            </a:fld>
            <a:endParaRPr lang="it-IT"/>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457200" y="273050"/>
            <a:ext cx="3008313" cy="1162050"/>
          </a:xfrm>
        </p:spPr>
        <p:txBody>
          <a:bodyPr anchor="b"/>
          <a:lstStyle>
            <a:lvl1pPr algn="l">
              <a:defRPr sz="2000" b="1"/>
            </a:lvl1pPr>
          </a:lstStyle>
          <a:p>
            <a:r>
              <a:rPr lang="it-IT"/>
              <a:t>Fare clic per modificare lo stile del titolo</a:t>
            </a:r>
          </a:p>
        </p:txBody>
      </p:sp>
      <p:sp>
        <p:nvSpPr>
          <p:cNvPr id="3" name="Segnaposto contenuto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testo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stili del testo dello schema</a:t>
            </a:r>
          </a:p>
        </p:txBody>
      </p:sp>
      <p:sp>
        <p:nvSpPr>
          <p:cNvPr id="5" name="Segnaposto data 4"/>
          <p:cNvSpPr>
            <a:spLocks noGrp="1"/>
          </p:cNvSpPr>
          <p:nvPr>
            <p:ph type="dt" sz="half" idx="10"/>
          </p:nvPr>
        </p:nvSpPr>
        <p:spPr/>
        <p:txBody>
          <a:bodyPr/>
          <a:lstStyle/>
          <a:p>
            <a:fld id="{7F49D355-16BD-4E45-BD9A-5EA878CF7CBD}" type="datetimeFigureOut">
              <a:rPr lang="it-IT" smtClean="0"/>
              <a:t>19/02/2026</a:t>
            </a:fld>
            <a:endParaRPr lang="it-IT"/>
          </a:p>
        </p:txBody>
      </p:sp>
      <p:sp>
        <p:nvSpPr>
          <p:cNvPr id="6" name="Segnaposto piè di pagina 5"/>
          <p:cNvSpPr>
            <a:spLocks noGrp="1"/>
          </p:cNvSpPr>
          <p:nvPr>
            <p:ph type="ftr" sz="quarter" idx="11"/>
          </p:nvPr>
        </p:nvSpPr>
        <p:spPr/>
        <p:txBody>
          <a:bodyPr/>
          <a:lstStyle/>
          <a:p>
            <a:endParaRPr lang="it-IT"/>
          </a:p>
        </p:txBody>
      </p:sp>
      <p:sp>
        <p:nvSpPr>
          <p:cNvPr id="7" name="Segnaposto numero diapositiva 6"/>
          <p:cNvSpPr>
            <a:spLocks noGrp="1"/>
          </p:cNvSpPr>
          <p:nvPr>
            <p:ph type="sldNum" sz="quarter" idx="12"/>
          </p:nvPr>
        </p:nvSpPr>
        <p:spPr/>
        <p:txBody>
          <a:bodyPr/>
          <a:lstStyle/>
          <a:p>
            <a:fld id="{E7A41E1B-4F70-4964-A407-84C68BE8251C}" type="slidenum">
              <a:rPr lang="it-IT" smtClean="0"/>
              <a:t>‹N›</a:t>
            </a:fld>
            <a:endParaRPr lang="it-IT"/>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1792288" y="4800600"/>
            <a:ext cx="5486400" cy="566738"/>
          </a:xfrm>
        </p:spPr>
        <p:txBody>
          <a:bodyPr anchor="b"/>
          <a:lstStyle>
            <a:lvl1pPr algn="l">
              <a:defRPr sz="2000" b="1"/>
            </a:lvl1pPr>
          </a:lstStyle>
          <a:p>
            <a:r>
              <a:rPr lang="it-IT"/>
              <a:t>Fare clic per modificare lo stile del titolo</a:t>
            </a:r>
          </a:p>
        </p:txBody>
      </p:sp>
      <p:sp>
        <p:nvSpPr>
          <p:cNvPr id="3" name="Segnaposto immagin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a:p>
        </p:txBody>
      </p:sp>
      <p:sp>
        <p:nvSpPr>
          <p:cNvPr id="4" name="Segnaposto testo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stili del testo dello schema</a:t>
            </a:r>
          </a:p>
        </p:txBody>
      </p:sp>
      <p:sp>
        <p:nvSpPr>
          <p:cNvPr id="5" name="Segnaposto data 4"/>
          <p:cNvSpPr>
            <a:spLocks noGrp="1"/>
          </p:cNvSpPr>
          <p:nvPr>
            <p:ph type="dt" sz="half" idx="10"/>
          </p:nvPr>
        </p:nvSpPr>
        <p:spPr/>
        <p:txBody>
          <a:bodyPr/>
          <a:lstStyle/>
          <a:p>
            <a:fld id="{7F49D355-16BD-4E45-BD9A-5EA878CF7CBD}" type="datetimeFigureOut">
              <a:rPr lang="it-IT" smtClean="0"/>
              <a:t>19/02/2026</a:t>
            </a:fld>
            <a:endParaRPr lang="it-IT"/>
          </a:p>
        </p:txBody>
      </p:sp>
      <p:sp>
        <p:nvSpPr>
          <p:cNvPr id="6" name="Segnaposto piè di pagina 5"/>
          <p:cNvSpPr>
            <a:spLocks noGrp="1"/>
          </p:cNvSpPr>
          <p:nvPr>
            <p:ph type="ftr" sz="quarter" idx="11"/>
          </p:nvPr>
        </p:nvSpPr>
        <p:spPr/>
        <p:txBody>
          <a:bodyPr/>
          <a:lstStyle/>
          <a:p>
            <a:endParaRPr lang="it-IT"/>
          </a:p>
        </p:txBody>
      </p:sp>
      <p:sp>
        <p:nvSpPr>
          <p:cNvPr id="7" name="Segnaposto numero diapositiva 6"/>
          <p:cNvSpPr>
            <a:spLocks noGrp="1"/>
          </p:cNvSpPr>
          <p:nvPr>
            <p:ph type="sldNum" sz="quarter" idx="12"/>
          </p:nvPr>
        </p:nvSpPr>
        <p:spPr/>
        <p:txBody>
          <a:bodyPr/>
          <a:lstStyle/>
          <a:p>
            <a:fld id="{E7A41E1B-4F70-4964-A407-84C68BE8251C}" type="slidenum">
              <a:rPr lang="it-IT" smtClean="0"/>
              <a:t>‹N›</a:t>
            </a:fld>
            <a:endParaRPr lang="it-IT"/>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p>
        </p:txBody>
      </p:sp>
      <p:sp>
        <p:nvSpPr>
          <p:cNvPr id="3" name="Segnaposto testo verticale 2"/>
          <p:cNvSpPr>
            <a:spLocks noGrp="1"/>
          </p:cNvSpPr>
          <p:nvPr>
            <p:ph type="body" orient="vert" idx="1"/>
          </p:nvPr>
        </p:nvSpPr>
        <p:spPr/>
        <p:txBody>
          <a:bodyPr vert="eaVert"/>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p:cNvSpPr>
            <a:spLocks noGrp="1"/>
          </p:cNvSpPr>
          <p:nvPr>
            <p:ph type="dt" sz="half" idx="10"/>
          </p:nvPr>
        </p:nvSpPr>
        <p:spPr/>
        <p:txBody>
          <a:bodyPr/>
          <a:lstStyle/>
          <a:p>
            <a:fld id="{7F49D355-16BD-4E45-BD9A-5EA878CF7CBD}" type="datetimeFigureOut">
              <a:rPr lang="it-IT" smtClean="0"/>
              <a:t>19/02/2026</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E7A41E1B-4F70-4964-A407-84C68BE8251C}" type="slidenum">
              <a:rPr lang="it-IT" smtClean="0"/>
              <a:t>‹N›</a:t>
            </a:fld>
            <a:endParaRPr lang="it-IT"/>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olo e testo verticale">
    <p:spTree>
      <p:nvGrpSpPr>
        <p:cNvPr id="1" name=""/>
        <p:cNvGrpSpPr/>
        <p:nvPr/>
      </p:nvGrpSpPr>
      <p:grpSpPr>
        <a:xfrm>
          <a:off x="0" y="0"/>
          <a:ext cx="0" cy="0"/>
          <a:chOff x="0" y="0"/>
          <a:chExt cx="0" cy="0"/>
        </a:xfrm>
      </p:grpSpPr>
      <p:sp>
        <p:nvSpPr>
          <p:cNvPr id="2" name="Titolo verticale 1"/>
          <p:cNvSpPr>
            <a:spLocks noGrp="1"/>
          </p:cNvSpPr>
          <p:nvPr>
            <p:ph type="title" orient="vert"/>
          </p:nvPr>
        </p:nvSpPr>
        <p:spPr>
          <a:xfrm>
            <a:off x="6629400" y="274638"/>
            <a:ext cx="2057400" cy="5851525"/>
          </a:xfrm>
        </p:spPr>
        <p:txBody>
          <a:bodyPr vert="eaVert"/>
          <a:lstStyle/>
          <a:p>
            <a:r>
              <a:rPr lang="it-IT"/>
              <a:t>Fare clic per modificare lo stile del titolo</a:t>
            </a:r>
          </a:p>
        </p:txBody>
      </p:sp>
      <p:sp>
        <p:nvSpPr>
          <p:cNvPr id="3" name="Segnaposto testo verticale 2"/>
          <p:cNvSpPr>
            <a:spLocks noGrp="1"/>
          </p:cNvSpPr>
          <p:nvPr>
            <p:ph type="body" orient="vert" idx="1"/>
          </p:nvPr>
        </p:nvSpPr>
        <p:spPr>
          <a:xfrm>
            <a:off x="457200" y="274638"/>
            <a:ext cx="6019800" cy="5851525"/>
          </a:xfrm>
        </p:spPr>
        <p:txBody>
          <a:bodyPr vert="eaVert"/>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p:cNvSpPr>
            <a:spLocks noGrp="1"/>
          </p:cNvSpPr>
          <p:nvPr>
            <p:ph type="dt" sz="half" idx="10"/>
          </p:nvPr>
        </p:nvSpPr>
        <p:spPr/>
        <p:txBody>
          <a:bodyPr/>
          <a:lstStyle/>
          <a:p>
            <a:fld id="{7F49D355-16BD-4E45-BD9A-5EA878CF7CBD}" type="datetimeFigureOut">
              <a:rPr lang="it-IT" smtClean="0"/>
              <a:t>19/02/2026</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E7A41E1B-4F70-4964-A407-84C68BE8251C}" type="slidenum">
              <a:rPr lang="it-IT" smtClean="0"/>
              <a:t>‹N›</a:t>
            </a:fld>
            <a:endParaRPr lang="it-IT"/>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it-IT"/>
              <a:t>Fare clic per modificare lo stile del titolo</a:t>
            </a:r>
          </a:p>
        </p:txBody>
      </p:sp>
      <p:sp>
        <p:nvSpPr>
          <p:cNvPr id="3" name="Segnaposto testo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F49D355-16BD-4E45-BD9A-5EA878CF7CBD}" type="datetimeFigureOut">
              <a:rPr lang="it-IT" smtClean="0"/>
              <a:t>19/02/2026</a:t>
            </a:fld>
            <a:endParaRPr lang="it-IT"/>
          </a:p>
        </p:txBody>
      </p:sp>
      <p:sp>
        <p:nvSpPr>
          <p:cNvPr id="5" name="Segnaposto piè di pagina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it-IT"/>
          </a:p>
        </p:txBody>
      </p:sp>
      <p:sp>
        <p:nvSpPr>
          <p:cNvPr id="6" name="Segnaposto numero diapositiva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7A41E1B-4F70-4964-A407-84C68BE8251C}" type="slidenum">
              <a:rPr lang="it-IT" smtClean="0"/>
              <a:t>‹N›</a:t>
            </a:fld>
            <a:endParaRPr lang="it-IT"/>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txBox="1">
            <a:spLocks/>
          </p:cNvSpPr>
          <p:nvPr/>
        </p:nvSpPr>
        <p:spPr>
          <a:xfrm>
            <a:off x="0" y="0"/>
            <a:ext cx="9144000" cy="1417638"/>
          </a:xfrm>
          <a:prstGeom prst="rect">
            <a:avLst/>
          </a:prstGeom>
        </p:spPr>
        <p:style>
          <a:lnRef idx="0">
            <a:schemeClr val="accent1"/>
          </a:lnRef>
          <a:fillRef idx="3">
            <a:schemeClr val="accent1"/>
          </a:fillRef>
          <a:effectRef idx="3">
            <a:schemeClr val="accent1"/>
          </a:effectRef>
          <a:fontRef idx="minor">
            <a:schemeClr val="lt1"/>
          </a:fontRef>
        </p:style>
        <p:txBody>
          <a:bodyPr vert="horz" lIns="91440" tIns="45720" rIns="91440" bIns="45720" rtlCol="0" anchor="ctr">
            <a:normAutofit fontScale="97500"/>
          </a:bodyPr>
          <a:lstStyle>
            <a:lvl1pPr algn="ctr" defTabSz="9144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it-IT" sz="1800" dirty="0" err="1"/>
              <a:t>HomeWork</a:t>
            </a:r>
            <a:r>
              <a:rPr lang="it-IT" sz="1800" dirty="0"/>
              <a:t> 3</a:t>
            </a:r>
            <a:br>
              <a:rPr lang="it-IT" sz="1800" dirty="0"/>
            </a:br>
            <a:r>
              <a:rPr lang="it-IT" sz="1800" dirty="0"/>
              <a:t>Ingegneria dei Dati</a:t>
            </a:r>
            <a:endParaRPr lang="it-IT" sz="3000" dirty="0"/>
          </a:p>
        </p:txBody>
      </p:sp>
      <p:pic>
        <p:nvPicPr>
          <p:cNvPr id="3" name="Immagin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9512" y="188640"/>
            <a:ext cx="1645469" cy="1031045"/>
          </a:xfrm>
          <a:prstGeom prst="rect">
            <a:avLst/>
          </a:prstGeom>
        </p:spPr>
      </p:pic>
      <p:cxnSp>
        <p:nvCxnSpPr>
          <p:cNvPr id="4" name="Connettore 1 3"/>
          <p:cNvCxnSpPr/>
          <p:nvPr/>
        </p:nvCxnSpPr>
        <p:spPr>
          <a:xfrm flipV="1">
            <a:off x="-12968" y="1484784"/>
            <a:ext cx="9163830" cy="36004"/>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5" name="Connettore 1 4"/>
          <p:cNvCxnSpPr/>
          <p:nvPr/>
        </p:nvCxnSpPr>
        <p:spPr>
          <a:xfrm flipV="1">
            <a:off x="-19830" y="1655186"/>
            <a:ext cx="9163830" cy="36004"/>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6" name="Connettore 1 5"/>
          <p:cNvCxnSpPr/>
          <p:nvPr/>
        </p:nvCxnSpPr>
        <p:spPr>
          <a:xfrm flipV="1">
            <a:off x="-19830" y="1844824"/>
            <a:ext cx="9163830" cy="36004"/>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7" name="Rettangolo 6"/>
          <p:cNvSpPr/>
          <p:nvPr/>
        </p:nvSpPr>
        <p:spPr>
          <a:xfrm>
            <a:off x="201434" y="2532966"/>
            <a:ext cx="8784976" cy="400110"/>
          </a:xfrm>
          <a:prstGeom prst="rect">
            <a:avLst/>
          </a:prstGeom>
        </p:spPr>
        <p:txBody>
          <a:bodyPr wrap="square">
            <a:spAutoFit/>
          </a:bodyPr>
          <a:lstStyle/>
          <a:p>
            <a:r>
              <a:rPr lang="en-US" sz="2000" b="1" dirty="0">
                <a:latin typeface="Times New Roman" panose="02020603050405020304" pitchFamily="18" charset="0"/>
                <a:cs typeface="Times New Roman" panose="02020603050405020304" pitchFamily="18" charset="0"/>
              </a:rPr>
              <a:t>Magneto: Combining Small and Large Language Models for Schema Matching</a:t>
            </a:r>
          </a:p>
        </p:txBody>
      </p:sp>
      <p:sp>
        <p:nvSpPr>
          <p:cNvPr id="9" name="CasellaDiTesto 8">
            <a:extLst>
              <a:ext uri="{FF2B5EF4-FFF2-40B4-BE49-F238E27FC236}">
                <a16:creationId xmlns:a16="http://schemas.microsoft.com/office/drawing/2014/main" id="{347BDBA4-F90F-279F-FE58-CC904BFBD2D0}"/>
              </a:ext>
            </a:extLst>
          </p:cNvPr>
          <p:cNvSpPr txBox="1"/>
          <p:nvPr/>
        </p:nvSpPr>
        <p:spPr>
          <a:xfrm>
            <a:off x="201434" y="5851782"/>
            <a:ext cx="8114982" cy="677108"/>
          </a:xfrm>
          <a:prstGeom prst="rect">
            <a:avLst/>
          </a:prstGeom>
          <a:noFill/>
        </p:spPr>
        <p:txBody>
          <a:bodyPr wrap="square">
            <a:spAutoFit/>
          </a:bodyPr>
          <a:lstStyle/>
          <a:p>
            <a:pPr marL="0" indent="0">
              <a:buNone/>
            </a:pPr>
            <a:r>
              <a:rPr lang="it-IT" sz="2000" b="1" dirty="0">
                <a:latin typeface="Times New Roman" panose="02020603050405020304" pitchFamily="18" charset="0"/>
                <a:cs typeface="Times New Roman" panose="02020603050405020304" pitchFamily="18" charset="0"/>
              </a:rPr>
              <a:t>Membri</a:t>
            </a:r>
            <a:r>
              <a:rPr lang="it-IT" sz="1800" dirty="0">
                <a:latin typeface="Times New Roman" panose="02020603050405020304" pitchFamily="18" charset="0"/>
                <a:cs typeface="Times New Roman" panose="02020603050405020304" pitchFamily="18" charset="0"/>
              </a:rPr>
              <a:t> </a:t>
            </a:r>
          </a:p>
          <a:p>
            <a:pPr marL="0" indent="0">
              <a:buNone/>
            </a:pPr>
            <a:r>
              <a:rPr lang="it-IT" dirty="0">
                <a:latin typeface="Times New Roman" panose="02020603050405020304" pitchFamily="18" charset="0"/>
                <a:cs typeface="Times New Roman" panose="02020603050405020304" pitchFamily="18" charset="0"/>
              </a:rPr>
              <a:t>Alessandro di Mario, Pietro Barone, Guido </a:t>
            </a:r>
            <a:r>
              <a:rPr lang="it-IT" dirty="0" err="1">
                <a:latin typeface="Times New Roman" panose="02020603050405020304" pitchFamily="18" charset="0"/>
                <a:cs typeface="Times New Roman" panose="02020603050405020304" pitchFamily="18" charset="0"/>
              </a:rPr>
              <a:t>Petrolito</a:t>
            </a:r>
            <a:r>
              <a:rPr lang="it-IT" dirty="0">
                <a:latin typeface="Times New Roman" panose="02020603050405020304" pitchFamily="18" charset="0"/>
                <a:cs typeface="Times New Roman" panose="02020603050405020304" pitchFamily="18" charset="0"/>
              </a:rPr>
              <a:t>, Douglas Ruffini</a:t>
            </a:r>
            <a:endParaRPr lang="it-IT" dirty="0"/>
          </a:p>
        </p:txBody>
      </p:sp>
      <p:sp>
        <p:nvSpPr>
          <p:cNvPr id="11" name="CasellaDiTesto 10">
            <a:extLst>
              <a:ext uri="{FF2B5EF4-FFF2-40B4-BE49-F238E27FC236}">
                <a16:creationId xmlns:a16="http://schemas.microsoft.com/office/drawing/2014/main" id="{441DC5D0-66FB-FCEB-503F-45E00F25B982}"/>
              </a:ext>
            </a:extLst>
          </p:cNvPr>
          <p:cNvSpPr txBox="1"/>
          <p:nvPr/>
        </p:nvSpPr>
        <p:spPr>
          <a:xfrm>
            <a:off x="201434" y="3225711"/>
            <a:ext cx="8640960" cy="2308324"/>
          </a:xfrm>
          <a:prstGeom prst="rect">
            <a:avLst/>
          </a:prstGeom>
          <a:noFill/>
        </p:spPr>
        <p:txBody>
          <a:bodyPr wrap="square">
            <a:spAutoFit/>
          </a:bodyPr>
          <a:lstStyle/>
          <a:p>
            <a:pPr marL="0" indent="0">
              <a:buNone/>
            </a:pPr>
            <a:r>
              <a:rPr lang="it-IT" sz="2000" b="1" dirty="0">
                <a:latin typeface="Times New Roman" panose="02020603050405020304" pitchFamily="18" charset="0"/>
                <a:cs typeface="Times New Roman" panose="02020603050405020304" pitchFamily="18" charset="0"/>
              </a:rPr>
              <a:t>Autori</a:t>
            </a:r>
            <a:endParaRPr lang="it-IT" sz="2400" b="1" dirty="0">
              <a:latin typeface="Times New Roman" panose="02020603050405020304" pitchFamily="18" charset="0"/>
              <a:cs typeface="Times New Roman" panose="02020603050405020304" pitchFamily="18" charset="0"/>
            </a:endParaRPr>
          </a:p>
          <a:p>
            <a:pPr marL="0" indent="0">
              <a:buNone/>
            </a:pPr>
            <a:r>
              <a:rPr lang="it-IT" sz="2000" dirty="0" err="1">
                <a:latin typeface="Times New Roman" panose="02020603050405020304" pitchFamily="18" charset="0"/>
                <a:cs typeface="Times New Roman" panose="02020603050405020304" pitchFamily="18" charset="0"/>
              </a:rPr>
              <a:t>Yurong</a:t>
            </a:r>
            <a:r>
              <a:rPr lang="it-IT" sz="2000" dirty="0">
                <a:latin typeface="Times New Roman" panose="02020603050405020304" pitchFamily="18" charset="0"/>
                <a:cs typeface="Times New Roman" panose="02020603050405020304" pitchFamily="18" charset="0"/>
              </a:rPr>
              <a:t> </a:t>
            </a:r>
            <a:r>
              <a:rPr lang="it-IT" sz="2000" dirty="0" err="1">
                <a:latin typeface="Times New Roman" panose="02020603050405020304" pitchFamily="18" charset="0"/>
                <a:cs typeface="Times New Roman" panose="02020603050405020304" pitchFamily="18" charset="0"/>
              </a:rPr>
              <a:t>Liu</a:t>
            </a:r>
            <a:r>
              <a:rPr lang="it-IT" sz="2000" dirty="0">
                <a:latin typeface="Times New Roman" panose="02020603050405020304" pitchFamily="18" charset="0"/>
                <a:cs typeface="Times New Roman" panose="02020603050405020304" pitchFamily="18" charset="0"/>
              </a:rPr>
              <a:t> (</a:t>
            </a:r>
            <a:r>
              <a:rPr lang="it-IT" sz="2000" dirty="0" err="1">
                <a:latin typeface="Times New Roman" panose="02020603050405020304" pitchFamily="18" charset="0"/>
                <a:cs typeface="Times New Roman" panose="02020603050405020304" pitchFamily="18" charset="0"/>
              </a:rPr>
              <a:t>NewYork</a:t>
            </a:r>
            <a:r>
              <a:rPr lang="it-IT" sz="2000" dirty="0">
                <a:latin typeface="Times New Roman" panose="02020603050405020304" pitchFamily="18" charset="0"/>
                <a:cs typeface="Times New Roman" panose="02020603050405020304" pitchFamily="18" charset="0"/>
              </a:rPr>
              <a:t> University)</a:t>
            </a:r>
          </a:p>
          <a:p>
            <a:r>
              <a:rPr lang="it-IT" sz="2000" dirty="0">
                <a:latin typeface="Times New Roman" panose="02020603050405020304" pitchFamily="18" charset="0"/>
                <a:cs typeface="Times New Roman" panose="02020603050405020304" pitchFamily="18" charset="0"/>
              </a:rPr>
              <a:t>Eden </a:t>
            </a:r>
            <a:r>
              <a:rPr lang="it-IT" sz="2000" dirty="0" err="1">
                <a:latin typeface="Times New Roman" panose="02020603050405020304" pitchFamily="18" charset="0"/>
                <a:cs typeface="Times New Roman" panose="02020603050405020304" pitchFamily="18" charset="0"/>
              </a:rPr>
              <a:t>Wu</a:t>
            </a:r>
            <a:r>
              <a:rPr lang="it-IT" sz="2000" dirty="0">
                <a:latin typeface="Times New Roman" panose="02020603050405020304" pitchFamily="18" charset="0"/>
                <a:cs typeface="Times New Roman" panose="02020603050405020304" pitchFamily="18" charset="0"/>
              </a:rPr>
              <a:t> (</a:t>
            </a:r>
            <a:r>
              <a:rPr lang="it-IT" sz="2000" dirty="0" err="1">
                <a:latin typeface="Times New Roman" panose="02020603050405020304" pitchFamily="18" charset="0"/>
                <a:cs typeface="Times New Roman" panose="02020603050405020304" pitchFamily="18" charset="0"/>
              </a:rPr>
              <a:t>NewYork</a:t>
            </a:r>
            <a:r>
              <a:rPr lang="it-IT" sz="2000" dirty="0">
                <a:latin typeface="Times New Roman" panose="02020603050405020304" pitchFamily="18" charset="0"/>
                <a:cs typeface="Times New Roman" panose="02020603050405020304" pitchFamily="18" charset="0"/>
              </a:rPr>
              <a:t> University)</a:t>
            </a:r>
          </a:p>
          <a:p>
            <a:r>
              <a:rPr lang="it-IT" sz="2000" dirty="0">
                <a:latin typeface="Times New Roman" panose="02020603050405020304" pitchFamily="18" charset="0"/>
                <a:cs typeface="Times New Roman" panose="02020603050405020304" pitchFamily="18" charset="0"/>
              </a:rPr>
              <a:t>Juliana Freire (</a:t>
            </a:r>
            <a:r>
              <a:rPr lang="it-IT" sz="2000" dirty="0" err="1">
                <a:latin typeface="Times New Roman" panose="02020603050405020304" pitchFamily="18" charset="0"/>
                <a:cs typeface="Times New Roman" panose="02020603050405020304" pitchFamily="18" charset="0"/>
              </a:rPr>
              <a:t>NewYork</a:t>
            </a:r>
            <a:r>
              <a:rPr lang="it-IT" sz="2000" dirty="0">
                <a:latin typeface="Times New Roman" panose="02020603050405020304" pitchFamily="18" charset="0"/>
                <a:cs typeface="Times New Roman" panose="02020603050405020304" pitchFamily="18" charset="0"/>
              </a:rPr>
              <a:t> University)</a:t>
            </a:r>
          </a:p>
          <a:p>
            <a:r>
              <a:rPr lang="it-IT" sz="2000" dirty="0" err="1">
                <a:latin typeface="Times New Roman" panose="02020603050405020304" pitchFamily="18" charset="0"/>
                <a:cs typeface="Times New Roman" panose="02020603050405020304" pitchFamily="18" charset="0"/>
              </a:rPr>
              <a:t>Aécio</a:t>
            </a:r>
            <a:r>
              <a:rPr lang="it-IT" sz="2000" dirty="0">
                <a:latin typeface="Times New Roman" panose="02020603050405020304" pitchFamily="18" charset="0"/>
                <a:cs typeface="Times New Roman" panose="02020603050405020304" pitchFamily="18" charset="0"/>
              </a:rPr>
              <a:t> Santos (</a:t>
            </a:r>
            <a:r>
              <a:rPr lang="it-IT" sz="2000" dirty="0" err="1">
                <a:latin typeface="Times New Roman" panose="02020603050405020304" pitchFamily="18" charset="0"/>
                <a:cs typeface="Times New Roman" panose="02020603050405020304" pitchFamily="18" charset="0"/>
              </a:rPr>
              <a:t>NewYork</a:t>
            </a:r>
            <a:r>
              <a:rPr lang="it-IT" sz="2000" dirty="0">
                <a:latin typeface="Times New Roman" panose="02020603050405020304" pitchFamily="18" charset="0"/>
                <a:cs typeface="Times New Roman" panose="02020603050405020304" pitchFamily="18" charset="0"/>
              </a:rPr>
              <a:t> University)</a:t>
            </a:r>
          </a:p>
          <a:p>
            <a:r>
              <a:rPr lang="it-IT" sz="2000" dirty="0">
                <a:latin typeface="Times New Roman" panose="02020603050405020304" pitchFamily="18" charset="0"/>
                <a:cs typeface="Times New Roman" panose="02020603050405020304" pitchFamily="18" charset="0"/>
              </a:rPr>
              <a:t>Eduardo H. M. Pena (</a:t>
            </a:r>
            <a:r>
              <a:rPr lang="en-US" sz="2000" dirty="0">
                <a:latin typeface="Times New Roman" panose="02020603050405020304" pitchFamily="18" charset="0"/>
                <a:cs typeface="Times New Roman" panose="02020603050405020304" pitchFamily="18" charset="0"/>
              </a:rPr>
              <a:t>Federal University of Technology Paraná</a:t>
            </a:r>
            <a:r>
              <a:rPr lang="it-IT" sz="2000" dirty="0">
                <a:latin typeface="Times New Roman" panose="02020603050405020304" pitchFamily="18" charset="0"/>
                <a:cs typeface="Times New Roman" panose="02020603050405020304" pitchFamily="18" charset="0"/>
              </a:rPr>
              <a:t>)</a:t>
            </a:r>
          </a:p>
          <a:p>
            <a:pPr marL="0" indent="0">
              <a:buNone/>
            </a:pPr>
            <a:endParaRPr lang="it-IT"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799815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txBox="1">
            <a:spLocks/>
          </p:cNvSpPr>
          <p:nvPr/>
        </p:nvSpPr>
        <p:spPr>
          <a:xfrm>
            <a:off x="0" y="0"/>
            <a:ext cx="9144000" cy="1417638"/>
          </a:xfrm>
          <a:prstGeom prst="rect">
            <a:avLst/>
          </a:prstGeom>
        </p:spPr>
        <p:style>
          <a:lnRef idx="0">
            <a:schemeClr val="accent1"/>
          </a:lnRef>
          <a:fillRef idx="3">
            <a:schemeClr val="accent1"/>
          </a:fillRef>
          <a:effectRef idx="3">
            <a:schemeClr val="accent1"/>
          </a:effectRef>
          <a:fontRef idx="minor">
            <a:schemeClr val="lt1"/>
          </a:fontRef>
        </p:style>
        <p:txBody>
          <a:bodyPr vert="horz" lIns="91440" tIns="45720" rIns="91440" bIns="45720" rtlCol="0" anchor="ctr">
            <a:normAutofit fontScale="97500"/>
          </a:bodyPr>
          <a:lstStyle>
            <a:lvl1pPr algn="ctr" defTabSz="9144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it-IT" sz="1800" dirty="0" err="1"/>
              <a:t>HomeWork</a:t>
            </a:r>
            <a:r>
              <a:rPr lang="it-IT" sz="1800" dirty="0"/>
              <a:t> 3</a:t>
            </a:r>
            <a:br>
              <a:rPr lang="it-IT" sz="1800" dirty="0"/>
            </a:br>
            <a:r>
              <a:rPr lang="it-IT" sz="1800" dirty="0"/>
              <a:t>Ingegneria dei Dati</a:t>
            </a:r>
            <a:endParaRPr lang="it-IT" sz="3000" dirty="0"/>
          </a:p>
        </p:txBody>
      </p:sp>
      <p:pic>
        <p:nvPicPr>
          <p:cNvPr id="3" name="Immagin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9512" y="188640"/>
            <a:ext cx="1645469" cy="1031045"/>
          </a:xfrm>
          <a:prstGeom prst="rect">
            <a:avLst/>
          </a:prstGeom>
        </p:spPr>
      </p:pic>
      <p:cxnSp>
        <p:nvCxnSpPr>
          <p:cNvPr id="4" name="Connettore 1 3"/>
          <p:cNvCxnSpPr/>
          <p:nvPr/>
        </p:nvCxnSpPr>
        <p:spPr>
          <a:xfrm flipV="1">
            <a:off x="-12968" y="1484784"/>
            <a:ext cx="9163830" cy="36004"/>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5" name="Connettore 1 4"/>
          <p:cNvCxnSpPr/>
          <p:nvPr/>
        </p:nvCxnSpPr>
        <p:spPr>
          <a:xfrm flipV="1">
            <a:off x="-19830" y="1655186"/>
            <a:ext cx="9163830" cy="36004"/>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6" name="Connettore 1 5"/>
          <p:cNvCxnSpPr/>
          <p:nvPr/>
        </p:nvCxnSpPr>
        <p:spPr>
          <a:xfrm flipV="1">
            <a:off x="-19830" y="1844824"/>
            <a:ext cx="9163830" cy="36004"/>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7" name="Rettangolo 6"/>
          <p:cNvSpPr/>
          <p:nvPr/>
        </p:nvSpPr>
        <p:spPr>
          <a:xfrm>
            <a:off x="395536" y="2132856"/>
            <a:ext cx="8424936" cy="1231106"/>
          </a:xfrm>
          <a:prstGeom prst="rect">
            <a:avLst/>
          </a:prstGeom>
        </p:spPr>
        <p:txBody>
          <a:bodyPr wrap="square">
            <a:spAutoFit/>
          </a:bodyPr>
          <a:lstStyle/>
          <a:p>
            <a:r>
              <a:rPr lang="it-IT" sz="2000" b="1" dirty="0">
                <a:latin typeface="Times New Roman" panose="02020603050405020304" pitchFamily="18" charset="0"/>
                <a:cs typeface="Times New Roman" panose="02020603050405020304" pitchFamily="18" charset="0"/>
              </a:rPr>
              <a:t>Il problema (Schema </a:t>
            </a:r>
            <a:r>
              <a:rPr lang="it-IT" sz="2000" b="1" dirty="0" err="1">
                <a:latin typeface="Times New Roman" panose="02020603050405020304" pitchFamily="18" charset="0"/>
                <a:cs typeface="Times New Roman" panose="02020603050405020304" pitchFamily="18" charset="0"/>
              </a:rPr>
              <a:t>Matching</a:t>
            </a:r>
            <a:r>
              <a:rPr lang="it-IT" sz="2000" b="1" dirty="0">
                <a:latin typeface="Times New Roman" panose="02020603050405020304" pitchFamily="18" charset="0"/>
                <a:cs typeface="Times New Roman" panose="02020603050405020304" pitchFamily="18" charset="0"/>
              </a:rPr>
              <a:t>)</a:t>
            </a:r>
          </a:p>
          <a:p>
            <a:endParaRPr lang="it-IT" dirty="0"/>
          </a:p>
          <a:p>
            <a:r>
              <a:rPr lang="it-IT" dirty="0">
                <a:latin typeface="Times New Roman" panose="02020603050405020304" pitchFamily="18" charset="0"/>
                <a:cs typeface="Times New Roman" panose="02020603050405020304" pitchFamily="18" charset="0"/>
              </a:rPr>
              <a:t>Cos’è lo schema </a:t>
            </a:r>
            <a:r>
              <a:rPr lang="it-IT" dirty="0" err="1">
                <a:latin typeface="Times New Roman" panose="02020603050405020304" pitchFamily="18" charset="0"/>
                <a:cs typeface="Times New Roman" panose="02020603050405020304" pitchFamily="18" charset="0"/>
              </a:rPr>
              <a:t>matching</a:t>
            </a:r>
            <a:r>
              <a:rPr lang="it-IT" dirty="0">
                <a:latin typeface="Times New Roman" panose="02020603050405020304" pitchFamily="18" charset="0"/>
                <a:cs typeface="Times New Roman" panose="02020603050405020304" pitchFamily="18" charset="0"/>
              </a:rPr>
              <a:t>: Trovare quali colonne di due </a:t>
            </a:r>
            <a:r>
              <a:rPr lang="it-IT" dirty="0" err="1">
                <a:latin typeface="Times New Roman" panose="02020603050405020304" pitchFamily="18" charset="0"/>
                <a:cs typeface="Times New Roman" panose="02020603050405020304" pitchFamily="18" charset="0"/>
              </a:rPr>
              <a:t>dataset</a:t>
            </a:r>
            <a:r>
              <a:rPr lang="it-IT" dirty="0">
                <a:latin typeface="Times New Roman" panose="02020603050405020304" pitchFamily="18" charset="0"/>
                <a:cs typeface="Times New Roman" panose="02020603050405020304" pitchFamily="18" charset="0"/>
              </a:rPr>
              <a:t> diversi rappresentano lo stesso concetto.</a:t>
            </a:r>
          </a:p>
        </p:txBody>
      </p:sp>
      <p:sp>
        <p:nvSpPr>
          <p:cNvPr id="8" name="Rettangolo 7"/>
          <p:cNvSpPr/>
          <p:nvPr/>
        </p:nvSpPr>
        <p:spPr>
          <a:xfrm>
            <a:off x="359532" y="4077072"/>
            <a:ext cx="8424936" cy="1477328"/>
          </a:xfrm>
          <a:prstGeom prst="rect">
            <a:avLst/>
          </a:prstGeom>
        </p:spPr>
        <p:txBody>
          <a:bodyPr wrap="square">
            <a:spAutoFit/>
          </a:bodyPr>
          <a:lstStyle/>
          <a:p>
            <a:pPr algn="just"/>
            <a:r>
              <a:rPr lang="it-IT" dirty="0">
                <a:latin typeface="Times New Roman" panose="02020603050405020304" pitchFamily="18" charset="0"/>
                <a:cs typeface="Times New Roman" panose="02020603050405020304" pitchFamily="18" charset="0"/>
              </a:rPr>
              <a:t>Lo schema </a:t>
            </a:r>
            <a:r>
              <a:rPr lang="it-IT" dirty="0" err="1">
                <a:latin typeface="Times New Roman" panose="02020603050405020304" pitchFamily="18" charset="0"/>
                <a:cs typeface="Times New Roman" panose="02020603050405020304" pitchFamily="18" charset="0"/>
              </a:rPr>
              <a:t>matching</a:t>
            </a:r>
            <a:r>
              <a:rPr lang="it-IT" dirty="0">
                <a:latin typeface="Times New Roman" panose="02020603050405020304" pitchFamily="18" charset="0"/>
                <a:cs typeface="Times New Roman" panose="02020603050405020304" pitchFamily="18" charset="0"/>
              </a:rPr>
              <a:t> rappresenta uno dei problemi fondamentali nell’ambito dell’integrazione dei dati. Ogni volta che si desidera combinare informazioni provenienti da sorgenti eterogenee, diventa necessario stabilire quali attributi di una tabella corrispondano semanticamente agli attributi di un’altra. Specialmente quando i dati provengono da contesti reali, rumorosi e semanticamente complessi</a:t>
            </a:r>
          </a:p>
        </p:txBody>
      </p:sp>
    </p:spTree>
    <p:extLst>
      <p:ext uri="{BB962C8B-B14F-4D97-AF65-F5344CB8AC3E}">
        <p14:creationId xmlns:p14="http://schemas.microsoft.com/office/powerpoint/2010/main" val="3393742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txBox="1">
            <a:spLocks/>
          </p:cNvSpPr>
          <p:nvPr/>
        </p:nvSpPr>
        <p:spPr>
          <a:xfrm>
            <a:off x="0" y="0"/>
            <a:ext cx="9144000" cy="1417638"/>
          </a:xfrm>
          <a:prstGeom prst="rect">
            <a:avLst/>
          </a:prstGeom>
        </p:spPr>
        <p:style>
          <a:lnRef idx="0">
            <a:schemeClr val="accent1"/>
          </a:lnRef>
          <a:fillRef idx="3">
            <a:schemeClr val="accent1"/>
          </a:fillRef>
          <a:effectRef idx="3">
            <a:schemeClr val="accent1"/>
          </a:effectRef>
          <a:fontRef idx="minor">
            <a:schemeClr val="lt1"/>
          </a:fontRef>
        </p:style>
        <p:txBody>
          <a:bodyPr vert="horz" lIns="91440" tIns="45720" rIns="91440" bIns="45720" rtlCol="0" anchor="ctr">
            <a:normAutofit fontScale="97500"/>
          </a:bodyPr>
          <a:lstStyle>
            <a:lvl1pPr algn="ctr" defTabSz="9144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it-IT" sz="1800" dirty="0" err="1"/>
              <a:t>HomeWork</a:t>
            </a:r>
            <a:r>
              <a:rPr lang="it-IT" sz="1800" dirty="0"/>
              <a:t> 3</a:t>
            </a:r>
            <a:br>
              <a:rPr lang="it-IT" sz="1800" dirty="0"/>
            </a:br>
            <a:r>
              <a:rPr lang="it-IT" sz="1800" dirty="0"/>
              <a:t>Ingegneria dei Dati</a:t>
            </a:r>
            <a:endParaRPr lang="it-IT" sz="3000" dirty="0"/>
          </a:p>
        </p:txBody>
      </p:sp>
      <p:pic>
        <p:nvPicPr>
          <p:cNvPr id="3" name="Immagin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9512" y="188640"/>
            <a:ext cx="1645469" cy="1031045"/>
          </a:xfrm>
          <a:prstGeom prst="rect">
            <a:avLst/>
          </a:prstGeom>
        </p:spPr>
      </p:pic>
      <p:cxnSp>
        <p:nvCxnSpPr>
          <p:cNvPr id="4" name="Connettore 1 3"/>
          <p:cNvCxnSpPr/>
          <p:nvPr/>
        </p:nvCxnSpPr>
        <p:spPr>
          <a:xfrm flipV="1">
            <a:off x="-12968" y="1484784"/>
            <a:ext cx="9163830" cy="36004"/>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5" name="Connettore 1 4"/>
          <p:cNvCxnSpPr/>
          <p:nvPr/>
        </p:nvCxnSpPr>
        <p:spPr>
          <a:xfrm flipV="1">
            <a:off x="-19830" y="1655186"/>
            <a:ext cx="9163830" cy="36004"/>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6" name="Connettore 1 5"/>
          <p:cNvCxnSpPr/>
          <p:nvPr/>
        </p:nvCxnSpPr>
        <p:spPr>
          <a:xfrm flipV="1">
            <a:off x="-19830" y="1844824"/>
            <a:ext cx="9163830" cy="36004"/>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7" name="Rettangolo 6"/>
          <p:cNvSpPr/>
          <p:nvPr/>
        </p:nvSpPr>
        <p:spPr>
          <a:xfrm>
            <a:off x="179512" y="2204864"/>
            <a:ext cx="8640960" cy="400110"/>
          </a:xfrm>
          <a:prstGeom prst="rect">
            <a:avLst/>
          </a:prstGeom>
        </p:spPr>
        <p:txBody>
          <a:bodyPr wrap="square">
            <a:spAutoFit/>
          </a:bodyPr>
          <a:lstStyle/>
          <a:p>
            <a:r>
              <a:rPr lang="it-IT" sz="2000" b="1" dirty="0">
                <a:latin typeface="Times New Roman" panose="02020603050405020304" pitchFamily="18" charset="0"/>
                <a:cs typeface="Times New Roman" panose="02020603050405020304" pitchFamily="18" charset="0"/>
              </a:rPr>
              <a:t>Problema: i nomi sono diversi, i valori diversi, serve comprensione semantica.</a:t>
            </a:r>
          </a:p>
        </p:txBody>
      </p:sp>
      <p:sp>
        <p:nvSpPr>
          <p:cNvPr id="8" name="Rettangolo 7"/>
          <p:cNvSpPr/>
          <p:nvPr/>
        </p:nvSpPr>
        <p:spPr>
          <a:xfrm>
            <a:off x="147296" y="2924944"/>
            <a:ext cx="8673175" cy="2031325"/>
          </a:xfrm>
          <a:prstGeom prst="rect">
            <a:avLst/>
          </a:prstGeom>
        </p:spPr>
        <p:txBody>
          <a:bodyPr wrap="square">
            <a:spAutoFit/>
          </a:bodyPr>
          <a:lstStyle/>
          <a:p>
            <a:pPr algn="just"/>
            <a:r>
              <a:rPr lang="it-IT" dirty="0">
                <a:latin typeface="Times New Roman" panose="02020603050405020304" pitchFamily="18" charset="0"/>
                <a:cs typeface="Times New Roman" panose="02020603050405020304" pitchFamily="18" charset="0"/>
              </a:rPr>
              <a:t>Perché è difficile nei dati reali?</a:t>
            </a:r>
          </a:p>
          <a:p>
            <a:pPr algn="just"/>
            <a:r>
              <a:rPr lang="it-IT" dirty="0">
                <a:latin typeface="Times New Roman" panose="02020603050405020304" pitchFamily="18" charset="0"/>
                <a:cs typeface="Times New Roman" panose="02020603050405020304" pitchFamily="18" charset="0"/>
              </a:rPr>
              <a:t>Caso reale dall’articolo (dominio biomedico):</a:t>
            </a:r>
          </a:p>
          <a:p>
            <a:pPr marL="285750" indent="-285750" algn="just">
              <a:buFont typeface="Arial" panose="020B0604020202020204" pitchFamily="34" charset="0"/>
              <a:buChar char="•"/>
            </a:pPr>
            <a:r>
              <a:rPr lang="it-IT" dirty="0">
                <a:latin typeface="Times New Roman" panose="02020603050405020304" pitchFamily="18" charset="0"/>
                <a:cs typeface="Times New Roman" panose="02020603050405020304" pitchFamily="18" charset="0"/>
              </a:rPr>
              <a:t>10 dataset</a:t>
            </a:r>
          </a:p>
          <a:p>
            <a:pPr marL="285750" indent="-285750" algn="just">
              <a:buFont typeface="Arial" panose="020B0604020202020204" pitchFamily="34" charset="0"/>
              <a:buChar char="•"/>
            </a:pPr>
            <a:r>
              <a:rPr lang="it-IT" dirty="0">
                <a:latin typeface="Times New Roman" panose="02020603050405020304" pitchFamily="18" charset="0"/>
                <a:cs typeface="Times New Roman" panose="02020603050405020304" pitchFamily="18" charset="0"/>
              </a:rPr>
              <a:t>700+ attributi standard</a:t>
            </a:r>
          </a:p>
          <a:p>
            <a:pPr marL="285750" indent="-285750" algn="just">
              <a:buFont typeface="Arial" panose="020B0604020202020204" pitchFamily="34" charset="0"/>
              <a:buChar char="•"/>
            </a:pPr>
            <a:r>
              <a:rPr lang="it-IT" dirty="0">
                <a:latin typeface="Times New Roman" panose="02020603050405020304" pitchFamily="18" charset="0"/>
                <a:cs typeface="Times New Roman" panose="02020603050405020304" pitchFamily="18" charset="0"/>
              </a:rPr>
              <a:t>Colonne con nomi ambigui</a:t>
            </a:r>
          </a:p>
          <a:p>
            <a:pPr marL="285750" indent="-285750" algn="just">
              <a:buFont typeface="Arial" panose="020B0604020202020204" pitchFamily="34" charset="0"/>
              <a:buChar char="•"/>
            </a:pPr>
            <a:r>
              <a:rPr lang="it-IT" dirty="0">
                <a:latin typeface="Times New Roman" panose="02020603050405020304" pitchFamily="18" charset="0"/>
                <a:cs typeface="Times New Roman" panose="02020603050405020304" pitchFamily="18" charset="0"/>
              </a:rPr>
              <a:t>Necessaria conoscenza di dominio</a:t>
            </a:r>
          </a:p>
          <a:p>
            <a:pPr marL="285750" indent="-285750" algn="just">
              <a:buFont typeface="Arial" panose="020B0604020202020204" pitchFamily="34" charset="0"/>
              <a:buChar char="•"/>
            </a:pPr>
            <a:r>
              <a:rPr lang="it-IT" dirty="0">
                <a:latin typeface="Times New Roman" panose="02020603050405020304" pitchFamily="18" charset="0"/>
                <a:cs typeface="Times New Roman" panose="02020603050405020304" pitchFamily="18" charset="0"/>
              </a:rPr>
              <a:t>Metodi classici (stringhe, regole, grafi) → falliscono.</a:t>
            </a:r>
          </a:p>
        </p:txBody>
      </p:sp>
      <p:sp>
        <p:nvSpPr>
          <p:cNvPr id="9" name="Rettangolo 8"/>
          <p:cNvSpPr/>
          <p:nvPr/>
        </p:nvSpPr>
        <p:spPr>
          <a:xfrm>
            <a:off x="147297" y="4999240"/>
            <a:ext cx="8673174" cy="1200329"/>
          </a:xfrm>
          <a:prstGeom prst="rect">
            <a:avLst/>
          </a:prstGeom>
        </p:spPr>
        <p:txBody>
          <a:bodyPr wrap="square">
            <a:spAutoFit/>
          </a:bodyPr>
          <a:lstStyle/>
          <a:p>
            <a:pPr algn="just"/>
            <a:r>
              <a:rPr lang="it-IT" dirty="0">
                <a:latin typeface="Times New Roman" panose="02020603050405020304" pitchFamily="18" charset="0"/>
                <a:cs typeface="Times New Roman" panose="02020603050405020304" pitchFamily="18" charset="0"/>
              </a:rPr>
              <a:t>L’articolo “</a:t>
            </a:r>
            <a:r>
              <a:rPr lang="it-IT" dirty="0" err="1">
                <a:latin typeface="Times New Roman" panose="02020603050405020304" pitchFamily="18" charset="0"/>
                <a:cs typeface="Times New Roman" panose="02020603050405020304" pitchFamily="18" charset="0"/>
              </a:rPr>
              <a:t>Magneto</a:t>
            </a:r>
            <a:r>
              <a:rPr lang="it-IT" dirty="0">
                <a:latin typeface="Times New Roman" panose="02020603050405020304" pitchFamily="18" charset="0"/>
                <a:cs typeface="Times New Roman" panose="02020603050405020304" pitchFamily="18" charset="0"/>
              </a:rPr>
              <a:t>: </a:t>
            </a:r>
            <a:r>
              <a:rPr lang="it-IT" dirty="0" err="1">
                <a:latin typeface="Times New Roman" panose="02020603050405020304" pitchFamily="18" charset="0"/>
                <a:cs typeface="Times New Roman" panose="02020603050405020304" pitchFamily="18" charset="0"/>
              </a:rPr>
              <a:t>Combining</a:t>
            </a:r>
            <a:r>
              <a:rPr lang="it-IT" dirty="0">
                <a:latin typeface="Times New Roman" panose="02020603050405020304" pitchFamily="18" charset="0"/>
                <a:cs typeface="Times New Roman" panose="02020603050405020304" pitchFamily="18" charset="0"/>
              </a:rPr>
              <a:t> Small and Large Language </a:t>
            </a:r>
            <a:r>
              <a:rPr lang="it-IT" dirty="0" err="1">
                <a:latin typeface="Times New Roman" panose="02020603050405020304" pitchFamily="18" charset="0"/>
                <a:cs typeface="Times New Roman" panose="02020603050405020304" pitchFamily="18" charset="0"/>
              </a:rPr>
              <a:t>Models</a:t>
            </a:r>
            <a:r>
              <a:rPr lang="it-IT" dirty="0">
                <a:latin typeface="Times New Roman" panose="02020603050405020304" pitchFamily="18" charset="0"/>
                <a:cs typeface="Times New Roman" panose="02020603050405020304" pitchFamily="18" charset="0"/>
              </a:rPr>
              <a:t> for Schema </a:t>
            </a:r>
            <a:r>
              <a:rPr lang="it-IT" dirty="0" err="1">
                <a:latin typeface="Times New Roman" panose="02020603050405020304" pitchFamily="18" charset="0"/>
                <a:cs typeface="Times New Roman" panose="02020603050405020304" pitchFamily="18" charset="0"/>
              </a:rPr>
              <a:t>Matching</a:t>
            </a:r>
            <a:r>
              <a:rPr lang="it-IT" dirty="0">
                <a:latin typeface="Times New Roman" panose="02020603050405020304" pitchFamily="18" charset="0"/>
                <a:cs typeface="Times New Roman" panose="02020603050405020304" pitchFamily="18" charset="0"/>
              </a:rPr>
              <a:t>” affronta questo problema introducendo un nuovo </a:t>
            </a:r>
            <a:r>
              <a:rPr lang="it-IT" dirty="0" err="1">
                <a:latin typeface="Times New Roman" panose="02020603050405020304" pitchFamily="18" charset="0"/>
                <a:cs typeface="Times New Roman" panose="02020603050405020304" pitchFamily="18" charset="0"/>
              </a:rPr>
              <a:t>framework</a:t>
            </a:r>
            <a:r>
              <a:rPr lang="it-IT" dirty="0">
                <a:latin typeface="Times New Roman" panose="02020603050405020304" pitchFamily="18" charset="0"/>
                <a:cs typeface="Times New Roman" panose="02020603050405020304" pitchFamily="18" charset="0"/>
              </a:rPr>
              <a:t> che sfrutta in modo complementare le capacità dei Small Language </a:t>
            </a:r>
            <a:r>
              <a:rPr lang="it-IT" dirty="0" err="1">
                <a:latin typeface="Times New Roman" panose="02020603050405020304" pitchFamily="18" charset="0"/>
                <a:cs typeface="Times New Roman" panose="02020603050405020304" pitchFamily="18" charset="0"/>
              </a:rPr>
              <a:t>Models</a:t>
            </a:r>
            <a:r>
              <a:rPr lang="it-IT" dirty="0">
                <a:latin typeface="Times New Roman" panose="02020603050405020304" pitchFamily="18" charset="0"/>
                <a:cs typeface="Times New Roman" panose="02020603050405020304" pitchFamily="18" charset="0"/>
              </a:rPr>
              <a:t> (SLM) e dei Large Language </a:t>
            </a:r>
            <a:r>
              <a:rPr lang="it-IT" dirty="0" err="1">
                <a:latin typeface="Times New Roman" panose="02020603050405020304" pitchFamily="18" charset="0"/>
                <a:cs typeface="Times New Roman" panose="02020603050405020304" pitchFamily="18" charset="0"/>
              </a:rPr>
              <a:t>Models</a:t>
            </a:r>
            <a:r>
              <a:rPr lang="it-IT" dirty="0">
                <a:latin typeface="Times New Roman" panose="02020603050405020304" pitchFamily="18" charset="0"/>
                <a:cs typeface="Times New Roman" panose="02020603050405020304" pitchFamily="18" charset="0"/>
              </a:rPr>
              <a:t> (LLM). </a:t>
            </a:r>
          </a:p>
        </p:txBody>
      </p:sp>
    </p:spTree>
    <p:extLst>
      <p:ext uri="{BB962C8B-B14F-4D97-AF65-F5344CB8AC3E}">
        <p14:creationId xmlns:p14="http://schemas.microsoft.com/office/powerpoint/2010/main" val="3393742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txBox="1">
            <a:spLocks/>
          </p:cNvSpPr>
          <p:nvPr/>
        </p:nvSpPr>
        <p:spPr>
          <a:xfrm>
            <a:off x="0" y="0"/>
            <a:ext cx="9144000" cy="1417638"/>
          </a:xfrm>
          <a:prstGeom prst="rect">
            <a:avLst/>
          </a:prstGeom>
        </p:spPr>
        <p:style>
          <a:lnRef idx="0">
            <a:schemeClr val="accent1"/>
          </a:lnRef>
          <a:fillRef idx="3">
            <a:schemeClr val="accent1"/>
          </a:fillRef>
          <a:effectRef idx="3">
            <a:schemeClr val="accent1"/>
          </a:effectRef>
          <a:fontRef idx="minor">
            <a:schemeClr val="lt1"/>
          </a:fontRef>
        </p:style>
        <p:txBody>
          <a:bodyPr vert="horz" lIns="91440" tIns="45720" rIns="91440" bIns="45720" rtlCol="0" anchor="ctr">
            <a:normAutofit fontScale="97500"/>
          </a:bodyPr>
          <a:lstStyle>
            <a:lvl1pPr algn="ctr" defTabSz="9144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it-IT" sz="1800" dirty="0" err="1"/>
              <a:t>HomeWork</a:t>
            </a:r>
            <a:r>
              <a:rPr lang="it-IT" sz="1800" dirty="0"/>
              <a:t> 3</a:t>
            </a:r>
            <a:br>
              <a:rPr lang="it-IT" sz="1800" dirty="0"/>
            </a:br>
            <a:r>
              <a:rPr lang="it-IT" sz="1800" dirty="0"/>
              <a:t>Ingegneria dei Dati</a:t>
            </a:r>
            <a:endParaRPr lang="it-IT" sz="3000" dirty="0"/>
          </a:p>
        </p:txBody>
      </p:sp>
      <p:pic>
        <p:nvPicPr>
          <p:cNvPr id="3" name="Immagin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9512" y="188640"/>
            <a:ext cx="1645469" cy="1031045"/>
          </a:xfrm>
          <a:prstGeom prst="rect">
            <a:avLst/>
          </a:prstGeom>
        </p:spPr>
      </p:pic>
      <p:cxnSp>
        <p:nvCxnSpPr>
          <p:cNvPr id="4" name="Connettore 1 3"/>
          <p:cNvCxnSpPr/>
          <p:nvPr/>
        </p:nvCxnSpPr>
        <p:spPr>
          <a:xfrm flipV="1">
            <a:off x="-12968" y="1484784"/>
            <a:ext cx="9163830" cy="36004"/>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5" name="Connettore 1 4"/>
          <p:cNvCxnSpPr/>
          <p:nvPr/>
        </p:nvCxnSpPr>
        <p:spPr>
          <a:xfrm flipV="1">
            <a:off x="-19830" y="1655186"/>
            <a:ext cx="9163830" cy="36004"/>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6" name="Connettore 1 5"/>
          <p:cNvCxnSpPr/>
          <p:nvPr/>
        </p:nvCxnSpPr>
        <p:spPr>
          <a:xfrm flipV="1">
            <a:off x="-19830" y="1844824"/>
            <a:ext cx="9163830" cy="36004"/>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7" name="Rettangolo 6"/>
          <p:cNvSpPr/>
          <p:nvPr/>
        </p:nvSpPr>
        <p:spPr>
          <a:xfrm>
            <a:off x="251520" y="2132856"/>
            <a:ext cx="8496944" cy="2893100"/>
          </a:xfrm>
          <a:prstGeom prst="rect">
            <a:avLst/>
          </a:prstGeom>
        </p:spPr>
        <p:txBody>
          <a:bodyPr wrap="square">
            <a:spAutoFit/>
          </a:bodyPr>
          <a:lstStyle/>
          <a:p>
            <a:pPr algn="just"/>
            <a:r>
              <a:rPr lang="it-IT" sz="2000" b="1" dirty="0">
                <a:latin typeface="Times New Roman" panose="02020603050405020304" pitchFamily="18" charset="0"/>
                <a:cs typeface="Times New Roman" panose="02020603050405020304" pitchFamily="18" charset="0"/>
              </a:rPr>
              <a:t>Perché usare i Language </a:t>
            </a:r>
            <a:r>
              <a:rPr lang="it-IT" sz="2000" b="1" dirty="0" err="1">
                <a:latin typeface="Times New Roman" panose="02020603050405020304" pitchFamily="18" charset="0"/>
                <a:cs typeface="Times New Roman" panose="02020603050405020304" pitchFamily="18" charset="0"/>
              </a:rPr>
              <a:t>Models</a:t>
            </a:r>
            <a:endParaRPr lang="it-IT" sz="2000" b="1" dirty="0">
              <a:latin typeface="Times New Roman" panose="02020603050405020304" pitchFamily="18" charset="0"/>
              <a:cs typeface="Times New Roman" panose="02020603050405020304" pitchFamily="18" charset="0"/>
            </a:endParaRPr>
          </a:p>
          <a:p>
            <a:pPr algn="just"/>
            <a:endParaRPr lang="it-IT" dirty="0">
              <a:latin typeface="Times New Roman" panose="02020603050405020304" pitchFamily="18" charset="0"/>
              <a:cs typeface="Times New Roman" panose="02020603050405020304" pitchFamily="18" charset="0"/>
            </a:endParaRPr>
          </a:p>
          <a:p>
            <a:pPr algn="just"/>
            <a:r>
              <a:rPr lang="it-IT" dirty="0">
                <a:latin typeface="Times New Roman" panose="02020603050405020304" pitchFamily="18" charset="0"/>
                <a:cs typeface="Times New Roman" panose="02020603050405020304" pitchFamily="18" charset="0"/>
              </a:rPr>
              <a:t>Gli LLM/SLM rappresentano il testo come vettori semantici (</a:t>
            </a:r>
            <a:r>
              <a:rPr lang="it-IT" dirty="0" err="1">
                <a:latin typeface="Times New Roman" panose="02020603050405020304" pitchFamily="18" charset="0"/>
                <a:cs typeface="Times New Roman" panose="02020603050405020304" pitchFamily="18" charset="0"/>
              </a:rPr>
              <a:t>embedding</a:t>
            </a:r>
            <a:r>
              <a:rPr lang="it-IT" dirty="0">
                <a:latin typeface="Times New Roman" panose="02020603050405020304" pitchFamily="18" charset="0"/>
                <a:cs typeface="Times New Roman" panose="02020603050405020304" pitchFamily="18" charset="0"/>
              </a:rPr>
              <a:t>). </a:t>
            </a:r>
          </a:p>
          <a:p>
            <a:pPr algn="just"/>
            <a:r>
              <a:rPr lang="it-IT" dirty="0">
                <a:latin typeface="Times New Roman" panose="02020603050405020304" pitchFamily="18" charset="0"/>
                <a:cs typeface="Times New Roman" panose="02020603050405020304" pitchFamily="18" charset="0"/>
              </a:rPr>
              <a:t>Colonne simili → vettori vicini → cosine </a:t>
            </a:r>
            <a:r>
              <a:rPr lang="it-IT" dirty="0" err="1">
                <a:latin typeface="Times New Roman" panose="02020603050405020304" pitchFamily="18" charset="0"/>
                <a:cs typeface="Times New Roman" panose="02020603050405020304" pitchFamily="18" charset="0"/>
              </a:rPr>
              <a:t>similarity</a:t>
            </a:r>
            <a:r>
              <a:rPr lang="it-IT" dirty="0">
                <a:latin typeface="Times New Roman" panose="02020603050405020304" pitchFamily="18" charset="0"/>
                <a:cs typeface="Times New Roman" panose="02020603050405020304" pitchFamily="18" charset="0"/>
              </a:rPr>
              <a:t> alta.</a:t>
            </a:r>
          </a:p>
          <a:p>
            <a:pPr algn="just"/>
            <a:endParaRPr lang="it-IT" dirty="0">
              <a:latin typeface="Times New Roman" panose="02020603050405020304" pitchFamily="18" charset="0"/>
              <a:cs typeface="Times New Roman" panose="02020603050405020304" pitchFamily="18" charset="0"/>
            </a:endParaRPr>
          </a:p>
          <a:p>
            <a:pPr algn="just"/>
            <a:r>
              <a:rPr lang="it-IT" dirty="0">
                <a:latin typeface="Times New Roman" panose="02020603050405020304" pitchFamily="18" charset="0"/>
                <a:cs typeface="Times New Roman" panose="02020603050405020304" pitchFamily="18" charset="0"/>
              </a:rPr>
              <a:t>Ma:</a:t>
            </a:r>
          </a:p>
          <a:p>
            <a:pPr algn="just"/>
            <a:r>
              <a:rPr lang="it-IT" dirty="0">
                <a:latin typeface="Times New Roman" panose="02020603050405020304" pitchFamily="18" charset="0"/>
                <a:cs typeface="Times New Roman" panose="02020603050405020304" pitchFamily="18" charset="0"/>
              </a:rPr>
              <a:t>                                              SLM	                 LLM</a:t>
            </a:r>
          </a:p>
          <a:p>
            <a:pPr algn="just"/>
            <a:r>
              <a:rPr lang="it-IT" dirty="0">
                <a:latin typeface="Times New Roman" panose="02020603050405020304" pitchFamily="18" charset="0"/>
                <a:cs typeface="Times New Roman" panose="02020603050405020304" pitchFamily="18" charset="0"/>
              </a:rPr>
              <a:t>                                              Veloci	                 Lenti/costosi</a:t>
            </a:r>
          </a:p>
          <a:p>
            <a:pPr algn="just"/>
            <a:r>
              <a:rPr lang="it-IT" dirty="0">
                <a:latin typeface="Times New Roman" panose="02020603050405020304" pitchFamily="18" charset="0"/>
                <a:cs typeface="Times New Roman" panose="02020603050405020304" pitchFamily="18" charset="0"/>
              </a:rPr>
              <a:t>                                              Serve training	 Zero-</a:t>
            </a:r>
            <a:r>
              <a:rPr lang="it-IT" dirty="0" err="1">
                <a:latin typeface="Times New Roman" panose="02020603050405020304" pitchFamily="18" charset="0"/>
                <a:cs typeface="Times New Roman" panose="02020603050405020304" pitchFamily="18" charset="0"/>
              </a:rPr>
              <a:t>shot</a:t>
            </a:r>
            <a:endParaRPr lang="it-IT" dirty="0">
              <a:latin typeface="Times New Roman" panose="02020603050405020304" pitchFamily="18" charset="0"/>
              <a:cs typeface="Times New Roman" panose="02020603050405020304" pitchFamily="18" charset="0"/>
            </a:endParaRPr>
          </a:p>
          <a:p>
            <a:pPr algn="just"/>
            <a:r>
              <a:rPr lang="it-IT" dirty="0">
                <a:latin typeface="Times New Roman" panose="02020603050405020304" pitchFamily="18" charset="0"/>
                <a:cs typeface="Times New Roman" panose="02020603050405020304" pitchFamily="18" charset="0"/>
              </a:rPr>
              <a:t>                                              Poco contesto  	 Forte semantica</a:t>
            </a:r>
          </a:p>
        </p:txBody>
      </p:sp>
      <p:sp>
        <p:nvSpPr>
          <p:cNvPr id="8" name="Rettangolo 7"/>
          <p:cNvSpPr/>
          <p:nvPr/>
        </p:nvSpPr>
        <p:spPr>
          <a:xfrm>
            <a:off x="251520" y="5103674"/>
            <a:ext cx="8496944" cy="923330"/>
          </a:xfrm>
          <a:prstGeom prst="rect">
            <a:avLst/>
          </a:prstGeom>
        </p:spPr>
        <p:txBody>
          <a:bodyPr wrap="square">
            <a:spAutoFit/>
          </a:bodyPr>
          <a:lstStyle/>
          <a:p>
            <a:pPr algn="just"/>
            <a:r>
              <a:rPr lang="it-IT" dirty="0">
                <a:latin typeface="Times New Roman" panose="02020603050405020304" pitchFamily="18" charset="0"/>
                <a:cs typeface="Times New Roman" panose="02020603050405020304" pitchFamily="18" charset="0"/>
              </a:rPr>
              <a:t>Gli SLM, pur essendo efficienti, richiedono dati di addestramento per essere efficaci; gli LLM, invece, pur avendo una conoscenza semantica molto ampia, sono limitati da costi computazionali, latenza e vincoli di finestra di contesto.</a:t>
            </a:r>
          </a:p>
        </p:txBody>
      </p:sp>
    </p:spTree>
    <p:extLst>
      <p:ext uri="{BB962C8B-B14F-4D97-AF65-F5344CB8AC3E}">
        <p14:creationId xmlns:p14="http://schemas.microsoft.com/office/powerpoint/2010/main" val="3393742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txBox="1">
            <a:spLocks/>
          </p:cNvSpPr>
          <p:nvPr/>
        </p:nvSpPr>
        <p:spPr>
          <a:xfrm>
            <a:off x="0" y="0"/>
            <a:ext cx="9144000" cy="1417638"/>
          </a:xfrm>
          <a:prstGeom prst="rect">
            <a:avLst/>
          </a:prstGeom>
        </p:spPr>
        <p:style>
          <a:lnRef idx="0">
            <a:schemeClr val="accent1"/>
          </a:lnRef>
          <a:fillRef idx="3">
            <a:schemeClr val="accent1"/>
          </a:fillRef>
          <a:effectRef idx="3">
            <a:schemeClr val="accent1"/>
          </a:effectRef>
          <a:fontRef idx="minor">
            <a:schemeClr val="lt1"/>
          </a:fontRef>
        </p:style>
        <p:txBody>
          <a:bodyPr vert="horz" lIns="91440" tIns="45720" rIns="91440" bIns="45720" rtlCol="0" anchor="ctr">
            <a:normAutofit fontScale="97500"/>
          </a:bodyPr>
          <a:lstStyle>
            <a:lvl1pPr algn="ctr" defTabSz="9144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it-IT" sz="1800" dirty="0" err="1"/>
              <a:t>HomeWork</a:t>
            </a:r>
            <a:r>
              <a:rPr lang="it-IT" sz="1800" dirty="0"/>
              <a:t> 3</a:t>
            </a:r>
            <a:br>
              <a:rPr lang="it-IT" sz="1800" dirty="0"/>
            </a:br>
            <a:r>
              <a:rPr lang="it-IT" sz="1800" dirty="0"/>
              <a:t>Ingegneria dei Dati</a:t>
            </a:r>
            <a:endParaRPr lang="it-IT" sz="3000" dirty="0"/>
          </a:p>
        </p:txBody>
      </p:sp>
      <p:pic>
        <p:nvPicPr>
          <p:cNvPr id="3" name="Immagin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9512" y="188640"/>
            <a:ext cx="1645469" cy="1031045"/>
          </a:xfrm>
          <a:prstGeom prst="rect">
            <a:avLst/>
          </a:prstGeom>
        </p:spPr>
      </p:pic>
      <p:cxnSp>
        <p:nvCxnSpPr>
          <p:cNvPr id="4" name="Connettore 1 3"/>
          <p:cNvCxnSpPr/>
          <p:nvPr/>
        </p:nvCxnSpPr>
        <p:spPr>
          <a:xfrm flipV="1">
            <a:off x="-12968" y="1484784"/>
            <a:ext cx="9163830" cy="36004"/>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5" name="Connettore 1 4"/>
          <p:cNvCxnSpPr/>
          <p:nvPr/>
        </p:nvCxnSpPr>
        <p:spPr>
          <a:xfrm flipV="1">
            <a:off x="-19830" y="1655186"/>
            <a:ext cx="9163830" cy="36004"/>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6" name="Connettore 1 5"/>
          <p:cNvCxnSpPr/>
          <p:nvPr/>
        </p:nvCxnSpPr>
        <p:spPr>
          <a:xfrm flipV="1">
            <a:off x="-19830" y="1844824"/>
            <a:ext cx="9163830" cy="36004"/>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7" name="Rettangolo 6"/>
          <p:cNvSpPr/>
          <p:nvPr/>
        </p:nvSpPr>
        <p:spPr>
          <a:xfrm>
            <a:off x="323528" y="2204864"/>
            <a:ext cx="8424936" cy="1508105"/>
          </a:xfrm>
          <a:prstGeom prst="rect">
            <a:avLst/>
          </a:prstGeom>
        </p:spPr>
        <p:txBody>
          <a:bodyPr wrap="square">
            <a:spAutoFit/>
          </a:bodyPr>
          <a:lstStyle/>
          <a:p>
            <a:r>
              <a:rPr lang="it-IT" sz="2000" b="1" dirty="0">
                <a:latin typeface="Times New Roman" panose="02020603050405020304" pitchFamily="18" charset="0"/>
                <a:cs typeface="Times New Roman" panose="02020603050405020304" pitchFamily="18" charset="0"/>
              </a:rPr>
              <a:t>Idea chiave di </a:t>
            </a:r>
            <a:r>
              <a:rPr lang="it-IT" sz="2000" b="1" dirty="0" err="1">
                <a:latin typeface="Times New Roman" panose="02020603050405020304" pitchFamily="18" charset="0"/>
                <a:cs typeface="Times New Roman" panose="02020603050405020304" pitchFamily="18" charset="0"/>
              </a:rPr>
              <a:t>Magneto</a:t>
            </a:r>
            <a:endParaRPr lang="it-IT" sz="2000" b="1"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it-IT" dirty="0">
                <a:latin typeface="Times New Roman" panose="02020603050405020304" pitchFamily="18" charset="0"/>
                <a:cs typeface="Times New Roman" panose="02020603050405020304" pitchFamily="18" charset="0"/>
              </a:rPr>
              <a:t>Combinare SLM e LLM in una pipeline a due fasi</a:t>
            </a:r>
          </a:p>
          <a:p>
            <a:pPr marL="742950" lvl="1" indent="-285750">
              <a:buFont typeface="Wingdings" panose="05000000000000000000" pitchFamily="2" charset="2"/>
              <a:buChar char="Ø"/>
            </a:pPr>
            <a:r>
              <a:rPr lang="it-IT" dirty="0">
                <a:latin typeface="Times New Roman" panose="02020603050405020304" pitchFamily="18" charset="0"/>
                <a:cs typeface="Times New Roman" panose="02020603050405020304" pitchFamily="18" charset="0"/>
              </a:rPr>
              <a:t>SLM → Candidate </a:t>
            </a:r>
            <a:r>
              <a:rPr lang="it-IT" dirty="0" err="1">
                <a:latin typeface="Times New Roman" panose="02020603050405020304" pitchFamily="18" charset="0"/>
                <a:cs typeface="Times New Roman" panose="02020603050405020304" pitchFamily="18" charset="0"/>
              </a:rPr>
              <a:t>Retrieval</a:t>
            </a:r>
            <a:r>
              <a:rPr lang="it-IT" dirty="0">
                <a:latin typeface="Times New Roman" panose="02020603050405020304" pitchFamily="18" charset="0"/>
                <a:cs typeface="Times New Roman" panose="02020603050405020304" pitchFamily="18" charset="0"/>
              </a:rPr>
              <a:t> (veloce, filtra)</a:t>
            </a:r>
          </a:p>
          <a:p>
            <a:pPr marL="742950" lvl="1" indent="-285750">
              <a:buFont typeface="Wingdings" panose="05000000000000000000" pitchFamily="2" charset="2"/>
              <a:buChar char="Ø"/>
            </a:pPr>
            <a:r>
              <a:rPr lang="it-IT" dirty="0">
                <a:latin typeface="Times New Roman" panose="02020603050405020304" pitchFamily="18" charset="0"/>
                <a:cs typeface="Times New Roman" panose="02020603050405020304" pitchFamily="18" charset="0"/>
              </a:rPr>
              <a:t>LLM → </a:t>
            </a:r>
            <a:r>
              <a:rPr lang="it-IT" dirty="0" err="1">
                <a:latin typeface="Times New Roman" panose="02020603050405020304" pitchFamily="18" charset="0"/>
                <a:cs typeface="Times New Roman" panose="02020603050405020304" pitchFamily="18" charset="0"/>
              </a:rPr>
              <a:t>Reranking</a:t>
            </a:r>
            <a:r>
              <a:rPr lang="it-IT" dirty="0">
                <a:latin typeface="Times New Roman" panose="02020603050405020304" pitchFamily="18" charset="0"/>
                <a:cs typeface="Times New Roman" panose="02020603050405020304" pitchFamily="18" charset="0"/>
              </a:rPr>
              <a:t> (preciso, </a:t>
            </a:r>
            <a:r>
              <a:rPr lang="it-IT">
                <a:latin typeface="Times New Roman" panose="02020603050405020304" pitchFamily="18" charset="0"/>
                <a:cs typeface="Times New Roman" panose="02020603050405020304" pitchFamily="18" charset="0"/>
              </a:rPr>
              <a:t>semantico)</a:t>
            </a:r>
            <a:endParaRPr lang="it-IT"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it-IT" dirty="0">
                <a:latin typeface="Times New Roman" panose="02020603050405020304" pitchFamily="18" charset="0"/>
                <a:cs typeface="Times New Roman" panose="02020603050405020304" pitchFamily="18" charset="0"/>
              </a:rPr>
              <a:t>LLM usati solo dove servono.</a:t>
            </a:r>
          </a:p>
        </p:txBody>
      </p:sp>
      <p:sp>
        <p:nvSpPr>
          <p:cNvPr id="8" name="Rettangolo 7"/>
          <p:cNvSpPr/>
          <p:nvPr/>
        </p:nvSpPr>
        <p:spPr>
          <a:xfrm>
            <a:off x="294434" y="4653136"/>
            <a:ext cx="8208912" cy="1754326"/>
          </a:xfrm>
          <a:prstGeom prst="rect">
            <a:avLst/>
          </a:prstGeom>
        </p:spPr>
        <p:txBody>
          <a:bodyPr wrap="square">
            <a:spAutoFit/>
          </a:bodyPr>
          <a:lstStyle/>
          <a:p>
            <a:pPr algn="just"/>
            <a:r>
              <a:rPr lang="it-IT" dirty="0">
                <a:latin typeface="Times New Roman" panose="02020603050405020304" pitchFamily="18" charset="0"/>
                <a:cs typeface="Times New Roman" panose="02020603050405020304" pitchFamily="18" charset="0"/>
              </a:rPr>
              <a:t>Magneto propone quindi una pipeline a due fasi, </a:t>
            </a:r>
            <a:r>
              <a:rPr lang="it-IT" dirty="0" err="1">
                <a:latin typeface="Times New Roman" panose="02020603050405020304" pitchFamily="18" charset="0"/>
                <a:cs typeface="Times New Roman" panose="02020603050405020304" pitchFamily="18" charset="0"/>
              </a:rPr>
              <a:t>retrieval</a:t>
            </a:r>
            <a:r>
              <a:rPr lang="it-IT" dirty="0">
                <a:latin typeface="Times New Roman" panose="02020603050405020304" pitchFamily="18" charset="0"/>
                <a:cs typeface="Times New Roman" panose="02020603050405020304" pitchFamily="18" charset="0"/>
              </a:rPr>
              <a:t> e </a:t>
            </a:r>
            <a:r>
              <a:rPr lang="it-IT" dirty="0" err="1">
                <a:latin typeface="Times New Roman" panose="02020603050405020304" pitchFamily="18" charset="0"/>
                <a:cs typeface="Times New Roman" panose="02020603050405020304" pitchFamily="18" charset="0"/>
              </a:rPr>
              <a:t>reranking</a:t>
            </a:r>
            <a:r>
              <a:rPr lang="it-IT" dirty="0">
                <a:latin typeface="Times New Roman" panose="02020603050405020304" pitchFamily="18" charset="0"/>
                <a:cs typeface="Times New Roman" panose="02020603050405020304" pitchFamily="18" charset="0"/>
              </a:rPr>
              <a:t>, in cui gli SLM vengono utilizzati per filtrare un insieme ristretto di candidati e gli LLM per riclassificare tali candidati con maggiore precisione semantica. A questo si aggiunge un elemento innovativo: l’utilizzo degli LLM per generare automaticamente i dati di training necessari al fine-</a:t>
            </a:r>
            <a:r>
              <a:rPr lang="it-IT" dirty="0" err="1">
                <a:latin typeface="Times New Roman" panose="02020603050405020304" pitchFamily="18" charset="0"/>
                <a:cs typeface="Times New Roman" panose="02020603050405020304" pitchFamily="18" charset="0"/>
              </a:rPr>
              <a:t>tuning</a:t>
            </a:r>
            <a:r>
              <a:rPr lang="it-IT" dirty="0">
                <a:latin typeface="Times New Roman" panose="02020603050405020304" pitchFamily="18" charset="0"/>
                <a:cs typeface="Times New Roman" panose="02020603050405020304" pitchFamily="18" charset="0"/>
              </a:rPr>
              <a:t> degli SLM, eliminando la necessità di </a:t>
            </a:r>
            <a:r>
              <a:rPr lang="it-IT" dirty="0" err="1">
                <a:latin typeface="Times New Roman" panose="02020603050405020304" pitchFamily="18" charset="0"/>
                <a:cs typeface="Times New Roman" panose="02020603050405020304" pitchFamily="18" charset="0"/>
              </a:rPr>
              <a:t>dataset</a:t>
            </a:r>
            <a:r>
              <a:rPr lang="it-IT" dirty="0">
                <a:latin typeface="Times New Roman" panose="02020603050405020304" pitchFamily="18" charset="0"/>
                <a:cs typeface="Times New Roman" panose="02020603050405020304" pitchFamily="18" charset="0"/>
              </a:rPr>
              <a:t> annotati manualmente. </a:t>
            </a:r>
          </a:p>
        </p:txBody>
      </p:sp>
    </p:spTree>
    <p:extLst>
      <p:ext uri="{BB962C8B-B14F-4D97-AF65-F5344CB8AC3E}">
        <p14:creationId xmlns:p14="http://schemas.microsoft.com/office/powerpoint/2010/main" val="3393742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txBox="1">
            <a:spLocks/>
          </p:cNvSpPr>
          <p:nvPr/>
        </p:nvSpPr>
        <p:spPr>
          <a:xfrm>
            <a:off x="0" y="0"/>
            <a:ext cx="9144000" cy="1417638"/>
          </a:xfrm>
          <a:prstGeom prst="rect">
            <a:avLst/>
          </a:prstGeom>
        </p:spPr>
        <p:style>
          <a:lnRef idx="0">
            <a:schemeClr val="accent1"/>
          </a:lnRef>
          <a:fillRef idx="3">
            <a:schemeClr val="accent1"/>
          </a:fillRef>
          <a:effectRef idx="3">
            <a:schemeClr val="accent1"/>
          </a:effectRef>
          <a:fontRef idx="minor">
            <a:schemeClr val="lt1"/>
          </a:fontRef>
        </p:style>
        <p:txBody>
          <a:bodyPr vert="horz" lIns="91440" tIns="45720" rIns="91440" bIns="45720" rtlCol="0" anchor="ctr">
            <a:normAutofit fontScale="97500"/>
          </a:bodyPr>
          <a:lstStyle>
            <a:lvl1pPr algn="ctr" defTabSz="9144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it-IT" sz="1800" dirty="0" err="1"/>
              <a:t>HomeWork</a:t>
            </a:r>
            <a:r>
              <a:rPr lang="it-IT" sz="1800" dirty="0"/>
              <a:t> 3</a:t>
            </a:r>
            <a:br>
              <a:rPr lang="it-IT" sz="1800" dirty="0"/>
            </a:br>
            <a:r>
              <a:rPr lang="it-IT" sz="1800" dirty="0"/>
              <a:t>Ingegneria dei Dati</a:t>
            </a:r>
            <a:endParaRPr lang="it-IT" sz="3000" dirty="0"/>
          </a:p>
        </p:txBody>
      </p:sp>
      <p:pic>
        <p:nvPicPr>
          <p:cNvPr id="3" name="Immagin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9512" y="188640"/>
            <a:ext cx="1645469" cy="1031045"/>
          </a:xfrm>
          <a:prstGeom prst="rect">
            <a:avLst/>
          </a:prstGeom>
        </p:spPr>
      </p:pic>
      <p:cxnSp>
        <p:nvCxnSpPr>
          <p:cNvPr id="4" name="Connettore 1 3"/>
          <p:cNvCxnSpPr/>
          <p:nvPr/>
        </p:nvCxnSpPr>
        <p:spPr>
          <a:xfrm flipV="1">
            <a:off x="-12968" y="1484784"/>
            <a:ext cx="9163830" cy="36004"/>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5" name="Connettore 1 4"/>
          <p:cNvCxnSpPr/>
          <p:nvPr/>
        </p:nvCxnSpPr>
        <p:spPr>
          <a:xfrm flipV="1">
            <a:off x="-19830" y="1655186"/>
            <a:ext cx="9163830" cy="36004"/>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6" name="Connettore 1 5"/>
          <p:cNvCxnSpPr/>
          <p:nvPr/>
        </p:nvCxnSpPr>
        <p:spPr>
          <a:xfrm flipV="1">
            <a:off x="-19830" y="1844824"/>
            <a:ext cx="9163830" cy="36004"/>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7" name="Rettangolo 6"/>
          <p:cNvSpPr/>
          <p:nvPr/>
        </p:nvSpPr>
        <p:spPr>
          <a:xfrm>
            <a:off x="323528" y="2204864"/>
            <a:ext cx="8424936" cy="3724096"/>
          </a:xfrm>
          <a:prstGeom prst="rect">
            <a:avLst/>
          </a:prstGeom>
        </p:spPr>
        <p:txBody>
          <a:bodyPr wrap="square">
            <a:spAutoFit/>
          </a:bodyPr>
          <a:lstStyle/>
          <a:p>
            <a:r>
              <a:rPr lang="it-IT" sz="2000" b="1" dirty="0">
                <a:latin typeface="Times New Roman" panose="02020603050405020304" pitchFamily="18" charset="0"/>
                <a:cs typeface="Times New Roman" panose="02020603050405020304" pitchFamily="18" charset="0"/>
              </a:rPr>
              <a:t>Fase 1: Candidate </a:t>
            </a:r>
            <a:r>
              <a:rPr lang="it-IT" sz="2000" b="1" dirty="0" err="1">
                <a:latin typeface="Times New Roman" panose="02020603050405020304" pitchFamily="18" charset="0"/>
                <a:cs typeface="Times New Roman" panose="02020603050405020304" pitchFamily="18" charset="0"/>
              </a:rPr>
              <a:t>Retriever</a:t>
            </a:r>
            <a:r>
              <a:rPr lang="it-IT" sz="2000" b="1" dirty="0">
                <a:latin typeface="Times New Roman" panose="02020603050405020304" pitchFamily="18" charset="0"/>
                <a:cs typeface="Times New Roman" panose="02020603050405020304" pitchFamily="18" charset="0"/>
              </a:rPr>
              <a:t> (SLM)</a:t>
            </a:r>
          </a:p>
          <a:p>
            <a:endParaRPr lang="it-IT" dirty="0">
              <a:latin typeface="Times New Roman" panose="02020603050405020304" pitchFamily="18" charset="0"/>
              <a:cs typeface="Times New Roman" panose="02020603050405020304" pitchFamily="18" charset="0"/>
            </a:endParaRPr>
          </a:p>
          <a:p>
            <a:pPr algn="just"/>
            <a:r>
              <a:rPr lang="it-IT" dirty="0">
                <a:latin typeface="Times New Roman" panose="02020603050405020304" pitchFamily="18" charset="0"/>
                <a:cs typeface="Times New Roman" panose="02020603050405020304" pitchFamily="18" charset="0"/>
              </a:rPr>
              <a:t>Gli SLM vengono utilizzati per calcolare </a:t>
            </a:r>
            <a:r>
              <a:rPr lang="it-IT" dirty="0" err="1">
                <a:latin typeface="Times New Roman" panose="02020603050405020304" pitchFamily="18" charset="0"/>
                <a:cs typeface="Times New Roman" panose="02020603050405020304" pitchFamily="18" charset="0"/>
              </a:rPr>
              <a:t>embedding</a:t>
            </a:r>
            <a:r>
              <a:rPr lang="it-IT" dirty="0">
                <a:latin typeface="Times New Roman" panose="02020603050405020304" pitchFamily="18" charset="0"/>
                <a:cs typeface="Times New Roman" panose="02020603050405020304" pitchFamily="18" charset="0"/>
              </a:rPr>
              <a:t> di colonna e produrre, per ogni colonna sorgente, una lista classificata di possibili colonne target.</a:t>
            </a:r>
          </a:p>
          <a:p>
            <a:endParaRPr lang="it-IT" dirty="0">
              <a:latin typeface="Times New Roman" panose="02020603050405020304" pitchFamily="18" charset="0"/>
              <a:cs typeface="Times New Roman" panose="02020603050405020304" pitchFamily="18" charset="0"/>
            </a:endParaRPr>
          </a:p>
          <a:p>
            <a:r>
              <a:rPr lang="it-IT" dirty="0">
                <a:latin typeface="Times New Roman" panose="02020603050405020304" pitchFamily="18" charset="0"/>
                <a:cs typeface="Times New Roman" panose="02020603050405020304" pitchFamily="18" charset="0"/>
              </a:rPr>
              <a:t>Ogni colonna: </a:t>
            </a:r>
          </a:p>
          <a:p>
            <a:pPr marL="342900" indent="-342900">
              <a:buFont typeface="+mj-lt"/>
              <a:buAutoNum type="arabicPeriod"/>
            </a:pPr>
            <a:r>
              <a:rPr lang="it-IT" dirty="0">
                <a:latin typeface="Times New Roman" panose="02020603050405020304" pitchFamily="18" charset="0"/>
                <a:cs typeface="Times New Roman" panose="02020603050405020304" pitchFamily="18" charset="0"/>
              </a:rPr>
              <a:t>serializzata (nome + valori)</a:t>
            </a:r>
          </a:p>
          <a:p>
            <a:pPr marL="342900" indent="-342900">
              <a:buFont typeface="+mj-lt"/>
              <a:buAutoNum type="arabicPeriod"/>
            </a:pPr>
            <a:r>
              <a:rPr lang="it-IT" dirty="0">
                <a:latin typeface="Times New Roman" panose="02020603050405020304" pitchFamily="18" charset="0"/>
                <a:cs typeface="Times New Roman" panose="02020603050405020304" pitchFamily="18" charset="0"/>
              </a:rPr>
              <a:t>Convertita in </a:t>
            </a:r>
            <a:r>
              <a:rPr lang="it-IT" dirty="0" err="1">
                <a:latin typeface="Times New Roman" panose="02020603050405020304" pitchFamily="18" charset="0"/>
                <a:cs typeface="Times New Roman" panose="02020603050405020304" pitchFamily="18" charset="0"/>
              </a:rPr>
              <a:t>embedding</a:t>
            </a:r>
            <a:endParaRPr lang="it-IT" dirty="0">
              <a:latin typeface="Times New Roman" panose="02020603050405020304" pitchFamily="18" charset="0"/>
              <a:cs typeface="Times New Roman" panose="02020603050405020304" pitchFamily="18" charset="0"/>
            </a:endParaRPr>
          </a:p>
          <a:p>
            <a:pPr marL="342900" indent="-342900">
              <a:buFont typeface="+mj-lt"/>
              <a:buAutoNum type="arabicPeriod"/>
            </a:pPr>
            <a:r>
              <a:rPr lang="it-IT" dirty="0">
                <a:latin typeface="Times New Roman" panose="02020603050405020304" pitchFamily="18" charset="0"/>
                <a:cs typeface="Times New Roman" panose="02020603050405020304" pitchFamily="18" charset="0"/>
              </a:rPr>
              <a:t>Confronto tramite cosine </a:t>
            </a:r>
            <a:r>
              <a:rPr lang="it-IT" dirty="0" err="1">
                <a:latin typeface="Times New Roman" panose="02020603050405020304" pitchFamily="18" charset="0"/>
                <a:cs typeface="Times New Roman" panose="02020603050405020304" pitchFamily="18" charset="0"/>
              </a:rPr>
              <a:t>similarity</a:t>
            </a:r>
            <a:endParaRPr lang="it-IT" dirty="0">
              <a:latin typeface="Times New Roman" panose="02020603050405020304" pitchFamily="18" charset="0"/>
              <a:cs typeface="Times New Roman" panose="02020603050405020304" pitchFamily="18" charset="0"/>
            </a:endParaRPr>
          </a:p>
          <a:p>
            <a:pPr marL="342900" indent="-342900">
              <a:buFont typeface="+mj-lt"/>
              <a:buAutoNum type="arabicPeriod"/>
            </a:pPr>
            <a:r>
              <a:rPr lang="it-IT" dirty="0">
                <a:latin typeface="Times New Roman" panose="02020603050405020304" pitchFamily="18" charset="0"/>
                <a:cs typeface="Times New Roman" panose="02020603050405020304" pitchFamily="18" charset="0"/>
              </a:rPr>
              <a:t>Produce top-k candidati</a:t>
            </a:r>
          </a:p>
          <a:p>
            <a:endParaRPr lang="it-IT" dirty="0">
              <a:latin typeface="Times New Roman" panose="02020603050405020304" pitchFamily="18" charset="0"/>
              <a:cs typeface="Times New Roman" panose="02020603050405020304" pitchFamily="18" charset="0"/>
            </a:endParaRPr>
          </a:p>
          <a:p>
            <a:endParaRPr lang="it-IT" dirty="0">
              <a:latin typeface="Times New Roman" panose="02020603050405020304" pitchFamily="18" charset="0"/>
              <a:cs typeface="Times New Roman" panose="02020603050405020304" pitchFamily="18" charset="0"/>
            </a:endParaRPr>
          </a:p>
          <a:p>
            <a:r>
              <a:rPr lang="it-IT" dirty="0">
                <a:latin typeface="Times New Roman" panose="02020603050405020304" pitchFamily="18" charset="0"/>
                <a:cs typeface="Times New Roman" panose="02020603050405020304" pitchFamily="18" charset="0"/>
              </a:rPr>
              <a:t>Riduce drasticamente lo spazio di ricerca.</a:t>
            </a:r>
          </a:p>
        </p:txBody>
      </p:sp>
    </p:spTree>
    <p:extLst>
      <p:ext uri="{BB962C8B-B14F-4D97-AF65-F5344CB8AC3E}">
        <p14:creationId xmlns:p14="http://schemas.microsoft.com/office/powerpoint/2010/main" val="3393742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txBox="1">
            <a:spLocks/>
          </p:cNvSpPr>
          <p:nvPr/>
        </p:nvSpPr>
        <p:spPr>
          <a:xfrm>
            <a:off x="0" y="0"/>
            <a:ext cx="9144000" cy="1417638"/>
          </a:xfrm>
          <a:prstGeom prst="rect">
            <a:avLst/>
          </a:prstGeom>
        </p:spPr>
        <p:style>
          <a:lnRef idx="0">
            <a:schemeClr val="accent1"/>
          </a:lnRef>
          <a:fillRef idx="3">
            <a:schemeClr val="accent1"/>
          </a:fillRef>
          <a:effectRef idx="3">
            <a:schemeClr val="accent1"/>
          </a:effectRef>
          <a:fontRef idx="minor">
            <a:schemeClr val="lt1"/>
          </a:fontRef>
        </p:style>
        <p:txBody>
          <a:bodyPr vert="horz" lIns="91440" tIns="45720" rIns="91440" bIns="45720" rtlCol="0" anchor="ctr">
            <a:normAutofit fontScale="97500"/>
          </a:bodyPr>
          <a:lstStyle>
            <a:lvl1pPr algn="ctr" defTabSz="9144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it-IT" sz="1800" dirty="0" err="1"/>
              <a:t>HomeWork</a:t>
            </a:r>
            <a:r>
              <a:rPr lang="it-IT" sz="1800" dirty="0"/>
              <a:t> 3</a:t>
            </a:r>
            <a:br>
              <a:rPr lang="it-IT" sz="1800" dirty="0"/>
            </a:br>
            <a:r>
              <a:rPr lang="it-IT" sz="1800" dirty="0"/>
              <a:t>Ingegneria dei Dati</a:t>
            </a:r>
            <a:endParaRPr lang="it-IT" sz="3000" dirty="0"/>
          </a:p>
        </p:txBody>
      </p:sp>
      <p:pic>
        <p:nvPicPr>
          <p:cNvPr id="3" name="Immagin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9512" y="188640"/>
            <a:ext cx="1645469" cy="1031045"/>
          </a:xfrm>
          <a:prstGeom prst="rect">
            <a:avLst/>
          </a:prstGeom>
        </p:spPr>
      </p:pic>
      <p:cxnSp>
        <p:nvCxnSpPr>
          <p:cNvPr id="4" name="Connettore 1 3"/>
          <p:cNvCxnSpPr/>
          <p:nvPr/>
        </p:nvCxnSpPr>
        <p:spPr>
          <a:xfrm flipV="1">
            <a:off x="-12968" y="1484784"/>
            <a:ext cx="9163830" cy="36004"/>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5" name="Connettore 1 4"/>
          <p:cNvCxnSpPr/>
          <p:nvPr/>
        </p:nvCxnSpPr>
        <p:spPr>
          <a:xfrm flipV="1">
            <a:off x="-19830" y="1655186"/>
            <a:ext cx="9163830" cy="36004"/>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6" name="Connettore 1 5"/>
          <p:cNvCxnSpPr/>
          <p:nvPr/>
        </p:nvCxnSpPr>
        <p:spPr>
          <a:xfrm flipV="1">
            <a:off x="-19830" y="1844824"/>
            <a:ext cx="9163830" cy="36004"/>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7" name="Rettangolo 6"/>
          <p:cNvSpPr/>
          <p:nvPr/>
        </p:nvSpPr>
        <p:spPr>
          <a:xfrm>
            <a:off x="358806" y="2132856"/>
            <a:ext cx="8245642" cy="5109091"/>
          </a:xfrm>
          <a:prstGeom prst="rect">
            <a:avLst/>
          </a:prstGeom>
        </p:spPr>
        <p:txBody>
          <a:bodyPr wrap="square">
            <a:spAutoFit/>
          </a:bodyPr>
          <a:lstStyle/>
          <a:p>
            <a:r>
              <a:rPr lang="it-IT" sz="2000" b="1" dirty="0">
                <a:latin typeface="Times New Roman" panose="02020603050405020304" pitchFamily="18" charset="0"/>
                <a:cs typeface="Times New Roman" panose="02020603050405020304" pitchFamily="18" charset="0"/>
              </a:rPr>
              <a:t>Serializzazione e campionamento</a:t>
            </a:r>
          </a:p>
          <a:p>
            <a:r>
              <a:rPr lang="it-IT" dirty="0">
                <a:latin typeface="Times New Roman" panose="02020603050405020304" pitchFamily="18" charset="0"/>
                <a:cs typeface="Times New Roman" panose="02020603050405020304" pitchFamily="18" charset="0"/>
              </a:rPr>
              <a:t>Un aspetto cruciale è come trasformare una colonna tabellare in una sequenza di </a:t>
            </a:r>
            <a:r>
              <a:rPr lang="it-IT" dirty="0" err="1">
                <a:latin typeface="Times New Roman" panose="02020603050405020304" pitchFamily="18" charset="0"/>
                <a:cs typeface="Times New Roman" panose="02020603050405020304" pitchFamily="18" charset="0"/>
              </a:rPr>
              <a:t>token</a:t>
            </a:r>
            <a:r>
              <a:rPr lang="it-IT" dirty="0">
                <a:latin typeface="Times New Roman" panose="02020603050405020304" pitchFamily="18" charset="0"/>
                <a:cs typeface="Times New Roman" panose="02020603050405020304" pitchFamily="18" charset="0"/>
              </a:rPr>
              <a:t> interpretabile dal modello.</a:t>
            </a:r>
          </a:p>
          <a:p>
            <a:endParaRPr lang="it-IT" dirty="0">
              <a:latin typeface="Times New Roman" panose="02020603050405020304" pitchFamily="18" charset="0"/>
              <a:cs typeface="Times New Roman" panose="02020603050405020304" pitchFamily="18" charset="0"/>
            </a:endParaRPr>
          </a:p>
          <a:p>
            <a:r>
              <a:rPr lang="it-IT" dirty="0" err="1">
                <a:latin typeface="Times New Roman" panose="02020603050405020304" pitchFamily="18" charset="0"/>
                <a:cs typeface="Times New Roman" panose="02020603050405020304" pitchFamily="18" charset="0"/>
              </a:rPr>
              <a:t>Magneto</a:t>
            </a:r>
            <a:r>
              <a:rPr lang="it-IT" dirty="0">
                <a:latin typeface="Times New Roman" panose="02020603050405020304" pitchFamily="18" charset="0"/>
                <a:cs typeface="Times New Roman" panose="02020603050405020304" pitchFamily="18" charset="0"/>
              </a:rPr>
              <a:t> introduce diverse strategie di serializzazione:</a:t>
            </a:r>
          </a:p>
          <a:p>
            <a:pPr marL="285750" indent="-285750">
              <a:buFont typeface="Arial" panose="020B0604020202020204" pitchFamily="34" charset="0"/>
              <a:buChar char="•"/>
            </a:pPr>
            <a:r>
              <a:rPr lang="it-IT" dirty="0">
                <a:latin typeface="Times New Roman" panose="02020603050405020304" pitchFamily="18" charset="0"/>
                <a:cs typeface="Times New Roman" panose="02020603050405020304" pitchFamily="18" charset="0"/>
              </a:rPr>
              <a:t>S default: nome colonna + valori separati da [SEP]</a:t>
            </a:r>
          </a:p>
          <a:p>
            <a:pPr marL="285750" indent="-285750">
              <a:buFont typeface="Arial" panose="020B0604020202020204" pitchFamily="34" charset="0"/>
              <a:buChar char="•"/>
            </a:pPr>
            <a:r>
              <a:rPr lang="it-IT" dirty="0">
                <a:latin typeface="Times New Roman" panose="02020603050405020304" pitchFamily="18" charset="0"/>
                <a:cs typeface="Times New Roman" panose="02020603050405020304" pitchFamily="18" charset="0"/>
              </a:rPr>
              <a:t>S verbose: aggiunta di prefissi descrittivi</a:t>
            </a:r>
          </a:p>
          <a:p>
            <a:pPr marL="285750" indent="-285750">
              <a:buFont typeface="Arial" panose="020B0604020202020204" pitchFamily="34" charset="0"/>
              <a:buChar char="•"/>
            </a:pPr>
            <a:r>
              <a:rPr lang="it-IT" dirty="0">
                <a:latin typeface="Times New Roman" panose="02020603050405020304" pitchFamily="18" charset="0"/>
                <a:cs typeface="Times New Roman" panose="02020603050405020304" pitchFamily="18" charset="0"/>
              </a:rPr>
              <a:t>S </a:t>
            </a:r>
            <a:r>
              <a:rPr lang="it-IT" dirty="0" err="1">
                <a:latin typeface="Times New Roman" panose="02020603050405020304" pitchFamily="18" charset="0"/>
                <a:cs typeface="Times New Roman" panose="02020603050405020304" pitchFamily="18" charset="0"/>
              </a:rPr>
              <a:t>repeat</a:t>
            </a:r>
            <a:r>
              <a:rPr lang="it-IT" dirty="0">
                <a:latin typeface="Times New Roman" panose="02020603050405020304" pitchFamily="18" charset="0"/>
                <a:cs typeface="Times New Roman" panose="02020603050405020304" pitchFamily="18" charset="0"/>
              </a:rPr>
              <a:t>: ripetizione del nome colonna per enfatizzarlo</a:t>
            </a:r>
          </a:p>
          <a:p>
            <a:pPr marL="285750" indent="-285750">
              <a:buFont typeface="Arial" panose="020B0604020202020204" pitchFamily="34" charset="0"/>
              <a:buChar char="•"/>
            </a:pPr>
            <a:endParaRPr lang="it-IT" dirty="0">
              <a:latin typeface="Times New Roman" panose="02020603050405020304" pitchFamily="18" charset="0"/>
              <a:cs typeface="Times New Roman" panose="02020603050405020304" pitchFamily="18" charset="0"/>
            </a:endParaRPr>
          </a:p>
          <a:p>
            <a:r>
              <a:rPr lang="it-IT" dirty="0">
                <a:latin typeface="Times New Roman" panose="02020603050405020304" pitchFamily="18" charset="0"/>
                <a:cs typeface="Times New Roman" panose="02020603050405020304" pitchFamily="18" charset="0"/>
              </a:rPr>
              <a:t>Viene inoltre introdotto un campionamento prioritario dei valori basato su frequenza (valori che compaiono più spesso nella colonna) e min </a:t>
            </a:r>
            <a:r>
              <a:rPr lang="it-IT" dirty="0" err="1">
                <a:latin typeface="Times New Roman" panose="02020603050405020304" pitchFamily="18" charset="0"/>
                <a:cs typeface="Times New Roman" panose="02020603050405020304" pitchFamily="18" charset="0"/>
              </a:rPr>
              <a:t>hashing</a:t>
            </a:r>
            <a:r>
              <a:rPr lang="it-IT" dirty="0">
                <a:latin typeface="Times New Roman" panose="02020603050405020304" pitchFamily="18" charset="0"/>
                <a:cs typeface="Times New Roman" panose="02020603050405020304" pitchFamily="18" charset="0"/>
              </a:rPr>
              <a:t> (</a:t>
            </a:r>
            <a:r>
              <a:rPr lang="it-IT" dirty="0" err="1">
                <a:latin typeface="Times New Roman" panose="02020603050405020304" pitchFamily="18" charset="0"/>
                <a:cs typeface="Times New Roman" panose="02020603050405020304" pitchFamily="18" charset="0"/>
              </a:rPr>
              <a:t>hash</a:t>
            </a:r>
            <a:r>
              <a:rPr lang="it-IT" dirty="0">
                <a:latin typeface="Times New Roman" panose="02020603050405020304" pitchFamily="18" charset="0"/>
                <a:cs typeface="Times New Roman" panose="02020603050405020304" pitchFamily="18" charset="0"/>
              </a:rPr>
              <a:t> di ogni parola per poi prendere i più bassi), per selezionare valori rappresentativi riducendo il rumore.</a:t>
            </a:r>
          </a:p>
          <a:p>
            <a:endParaRPr lang="it-IT" dirty="0">
              <a:latin typeface="Times New Roman" panose="02020603050405020304" pitchFamily="18" charset="0"/>
              <a:cs typeface="Times New Roman" panose="02020603050405020304" pitchFamily="18" charset="0"/>
            </a:endParaRPr>
          </a:p>
          <a:p>
            <a:r>
              <a:rPr lang="it-IT" dirty="0">
                <a:latin typeface="Times New Roman" panose="02020603050405020304" pitchFamily="18" charset="0"/>
                <a:cs typeface="Times New Roman" panose="02020603050405020304" pitchFamily="18" charset="0"/>
              </a:rPr>
              <a:t>Tecniche:</a:t>
            </a:r>
          </a:p>
          <a:p>
            <a:pPr marL="285750" indent="-285750">
              <a:buFont typeface="Arial" panose="020B0604020202020204" pitchFamily="34" charset="0"/>
              <a:buChar char="•"/>
            </a:pPr>
            <a:r>
              <a:rPr lang="it-IT" dirty="0">
                <a:latin typeface="Times New Roman" panose="02020603050405020304" pitchFamily="18" charset="0"/>
                <a:cs typeface="Times New Roman" panose="02020603050405020304" pitchFamily="18" charset="0"/>
              </a:rPr>
              <a:t>serializzazione intelligente</a:t>
            </a:r>
          </a:p>
          <a:p>
            <a:pPr marL="285750" indent="-285750">
              <a:buFont typeface="Arial" panose="020B0604020202020204" pitchFamily="34" charset="0"/>
              <a:buChar char="•"/>
            </a:pPr>
            <a:r>
              <a:rPr lang="it-IT" dirty="0">
                <a:latin typeface="Times New Roman" panose="02020603050405020304" pitchFamily="18" charset="0"/>
                <a:cs typeface="Times New Roman" panose="02020603050405020304" pitchFamily="18" charset="0"/>
              </a:rPr>
              <a:t>campionamento valori rappresentativi</a:t>
            </a:r>
          </a:p>
          <a:p>
            <a:pPr marL="285750" indent="-285750">
              <a:buFont typeface="Arial" panose="020B0604020202020204" pitchFamily="34" charset="0"/>
              <a:buChar char="•"/>
            </a:pPr>
            <a:r>
              <a:rPr lang="it-IT" dirty="0">
                <a:latin typeface="Times New Roman" panose="02020603050405020304" pitchFamily="18" charset="0"/>
                <a:cs typeface="Times New Roman" panose="02020603050405020304" pitchFamily="18" charset="0"/>
              </a:rPr>
              <a:t>riduzione rumore</a:t>
            </a:r>
          </a:p>
          <a:p>
            <a:pPr marL="285750" indent="-285750">
              <a:buFont typeface="Arial" panose="020B0604020202020204" pitchFamily="34" charset="0"/>
              <a:buChar char="•"/>
            </a:pPr>
            <a:endParaRPr lang="it-IT" dirty="0"/>
          </a:p>
        </p:txBody>
      </p:sp>
    </p:spTree>
    <p:extLst>
      <p:ext uri="{BB962C8B-B14F-4D97-AF65-F5344CB8AC3E}">
        <p14:creationId xmlns:p14="http://schemas.microsoft.com/office/powerpoint/2010/main" val="3393742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txBox="1">
            <a:spLocks/>
          </p:cNvSpPr>
          <p:nvPr/>
        </p:nvSpPr>
        <p:spPr>
          <a:xfrm>
            <a:off x="0" y="0"/>
            <a:ext cx="9144000" cy="1417638"/>
          </a:xfrm>
          <a:prstGeom prst="rect">
            <a:avLst/>
          </a:prstGeom>
        </p:spPr>
        <p:style>
          <a:lnRef idx="0">
            <a:schemeClr val="accent1"/>
          </a:lnRef>
          <a:fillRef idx="3">
            <a:schemeClr val="accent1"/>
          </a:fillRef>
          <a:effectRef idx="3">
            <a:schemeClr val="accent1"/>
          </a:effectRef>
          <a:fontRef idx="minor">
            <a:schemeClr val="lt1"/>
          </a:fontRef>
        </p:style>
        <p:txBody>
          <a:bodyPr vert="horz" lIns="91440" tIns="45720" rIns="91440" bIns="45720" rtlCol="0" anchor="ctr">
            <a:normAutofit fontScale="97500"/>
          </a:bodyPr>
          <a:lstStyle>
            <a:lvl1pPr algn="ctr" defTabSz="9144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it-IT" sz="1800" dirty="0" err="1"/>
              <a:t>HomeWork</a:t>
            </a:r>
            <a:r>
              <a:rPr lang="it-IT" sz="1800" dirty="0"/>
              <a:t> 3</a:t>
            </a:r>
            <a:br>
              <a:rPr lang="it-IT" sz="1800" dirty="0"/>
            </a:br>
            <a:r>
              <a:rPr lang="it-IT" sz="1800" dirty="0"/>
              <a:t>Ingegneria dei Dati</a:t>
            </a:r>
            <a:endParaRPr lang="it-IT" sz="3000" dirty="0"/>
          </a:p>
        </p:txBody>
      </p:sp>
      <p:pic>
        <p:nvPicPr>
          <p:cNvPr id="3" name="Immagin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9512" y="188640"/>
            <a:ext cx="1645469" cy="1031045"/>
          </a:xfrm>
          <a:prstGeom prst="rect">
            <a:avLst/>
          </a:prstGeom>
        </p:spPr>
      </p:pic>
      <p:cxnSp>
        <p:nvCxnSpPr>
          <p:cNvPr id="4" name="Connettore 1 3"/>
          <p:cNvCxnSpPr/>
          <p:nvPr/>
        </p:nvCxnSpPr>
        <p:spPr>
          <a:xfrm flipV="1">
            <a:off x="-12968" y="1484784"/>
            <a:ext cx="9163830" cy="36004"/>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5" name="Connettore 1 4"/>
          <p:cNvCxnSpPr/>
          <p:nvPr/>
        </p:nvCxnSpPr>
        <p:spPr>
          <a:xfrm flipV="1">
            <a:off x="-19830" y="1655186"/>
            <a:ext cx="9163830" cy="36004"/>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6" name="Connettore 1 5"/>
          <p:cNvCxnSpPr/>
          <p:nvPr/>
        </p:nvCxnSpPr>
        <p:spPr>
          <a:xfrm flipV="1">
            <a:off x="-19830" y="1844824"/>
            <a:ext cx="9163830" cy="36004"/>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7" name="Rettangolo 6"/>
          <p:cNvSpPr/>
          <p:nvPr/>
        </p:nvSpPr>
        <p:spPr>
          <a:xfrm>
            <a:off x="323528" y="2204864"/>
            <a:ext cx="8136904" cy="4001095"/>
          </a:xfrm>
          <a:prstGeom prst="rect">
            <a:avLst/>
          </a:prstGeom>
        </p:spPr>
        <p:txBody>
          <a:bodyPr wrap="square">
            <a:spAutoFit/>
          </a:bodyPr>
          <a:lstStyle/>
          <a:p>
            <a:pPr algn="just"/>
            <a:r>
              <a:rPr lang="it-IT" sz="2000" b="1" dirty="0">
                <a:latin typeface="Times New Roman" panose="02020603050405020304" pitchFamily="18" charset="0"/>
                <a:cs typeface="Times New Roman" panose="02020603050405020304" pitchFamily="18" charset="0"/>
              </a:rPr>
              <a:t>Fase 2: </a:t>
            </a:r>
            <a:r>
              <a:rPr lang="it-IT" sz="2000" b="1" dirty="0" err="1">
                <a:latin typeface="Times New Roman" panose="02020603050405020304" pitchFamily="18" charset="0"/>
                <a:cs typeface="Times New Roman" panose="02020603050405020304" pitchFamily="18" charset="0"/>
              </a:rPr>
              <a:t>Reranking</a:t>
            </a:r>
            <a:r>
              <a:rPr lang="it-IT" sz="2000" b="1" dirty="0">
                <a:latin typeface="Times New Roman" panose="02020603050405020304" pitchFamily="18" charset="0"/>
                <a:cs typeface="Times New Roman" panose="02020603050405020304" pitchFamily="18" charset="0"/>
              </a:rPr>
              <a:t> (LLM)</a:t>
            </a:r>
          </a:p>
          <a:p>
            <a:pPr algn="just"/>
            <a:endParaRPr lang="it-IT" dirty="0">
              <a:latin typeface="Times New Roman" panose="02020603050405020304" pitchFamily="18" charset="0"/>
              <a:cs typeface="Times New Roman" panose="02020603050405020304" pitchFamily="18" charset="0"/>
            </a:endParaRPr>
          </a:p>
          <a:p>
            <a:pPr algn="just"/>
            <a:r>
              <a:rPr lang="it-IT" dirty="0">
                <a:latin typeface="Times New Roman" panose="02020603050405020304" pitchFamily="18" charset="0"/>
                <a:cs typeface="Times New Roman" panose="02020603050405020304" pitchFamily="18" charset="0"/>
              </a:rPr>
              <a:t>LLM riceve solo i top-k candidati:</a:t>
            </a:r>
          </a:p>
          <a:p>
            <a:pPr algn="just"/>
            <a:r>
              <a:rPr lang="it-IT" dirty="0" err="1">
                <a:latin typeface="Times New Roman" panose="02020603050405020304" pitchFamily="18" charset="0"/>
                <a:cs typeface="Times New Roman" panose="02020603050405020304" pitchFamily="18" charset="0"/>
              </a:rPr>
              <a:t>Prompt</a:t>
            </a:r>
            <a:r>
              <a:rPr lang="it-IT" dirty="0">
                <a:latin typeface="Times New Roman" panose="02020603050405020304" pitchFamily="18" charset="0"/>
                <a:cs typeface="Times New Roman" panose="02020603050405020304" pitchFamily="18" charset="0"/>
              </a:rPr>
              <a:t>:“Quanto sono semanticamente simili queste due colonne? Score [0,1]”</a:t>
            </a:r>
          </a:p>
          <a:p>
            <a:pPr algn="just"/>
            <a:endParaRPr lang="it-IT" dirty="0">
              <a:latin typeface="Times New Roman" panose="02020603050405020304" pitchFamily="18" charset="0"/>
              <a:cs typeface="Times New Roman" panose="02020603050405020304" pitchFamily="18" charset="0"/>
            </a:endParaRPr>
          </a:p>
          <a:p>
            <a:pPr algn="just"/>
            <a:r>
              <a:rPr lang="it-IT" dirty="0">
                <a:latin typeface="Times New Roman" panose="02020603050405020304" pitchFamily="18" charset="0"/>
                <a:cs typeface="Times New Roman" panose="02020603050405020304" pitchFamily="18" charset="0"/>
              </a:rPr>
              <a:t>Gli LLM intervengono solo sui migliori k candidati per ogni colonna, assegnando punteggi di similarità tramite </a:t>
            </a:r>
            <a:r>
              <a:rPr lang="it-IT" dirty="0" err="1">
                <a:latin typeface="Times New Roman" panose="02020603050405020304" pitchFamily="18" charset="0"/>
                <a:cs typeface="Times New Roman" panose="02020603050405020304" pitchFamily="18" charset="0"/>
              </a:rPr>
              <a:t>prompt</a:t>
            </a:r>
            <a:r>
              <a:rPr lang="it-IT" dirty="0">
                <a:latin typeface="Times New Roman" panose="02020603050405020304" pitchFamily="18" charset="0"/>
                <a:cs typeface="Times New Roman" panose="02020603050405020304" pitchFamily="18" charset="0"/>
              </a:rPr>
              <a:t> progettati ad hoc.</a:t>
            </a:r>
          </a:p>
          <a:p>
            <a:pPr algn="just"/>
            <a:r>
              <a:rPr lang="it-IT" dirty="0">
                <a:latin typeface="Times New Roman" panose="02020603050405020304" pitchFamily="18" charset="0"/>
                <a:cs typeface="Times New Roman" panose="02020603050405020304" pitchFamily="18" charset="0"/>
              </a:rPr>
              <a:t>Questo consente di sfruttare la conoscenza semantica dell’LLM minimizzando il numero di chiamate API e rispettando i limiti di contesto.</a:t>
            </a:r>
          </a:p>
          <a:p>
            <a:pPr algn="just"/>
            <a:endParaRPr lang="it-IT" dirty="0">
              <a:latin typeface="Times New Roman" panose="02020603050405020304" pitchFamily="18" charset="0"/>
              <a:cs typeface="Times New Roman" panose="02020603050405020304" pitchFamily="18" charset="0"/>
            </a:endParaRPr>
          </a:p>
          <a:p>
            <a:pPr algn="just"/>
            <a:r>
              <a:rPr lang="it-IT" dirty="0" err="1">
                <a:latin typeface="Times New Roman" panose="02020603050405020304" pitchFamily="18" charset="0"/>
                <a:cs typeface="Times New Roman" panose="02020603050405020304" pitchFamily="18" charset="0"/>
              </a:rPr>
              <a:t>Few</a:t>
            </a:r>
            <a:r>
              <a:rPr lang="it-IT" dirty="0">
                <a:latin typeface="Times New Roman" panose="02020603050405020304" pitchFamily="18" charset="0"/>
                <a:cs typeface="Times New Roman" panose="02020603050405020304" pitchFamily="18" charset="0"/>
              </a:rPr>
              <a:t>-shot learning (invece di </a:t>
            </a:r>
            <a:r>
              <a:rPr lang="it-IT" dirty="0" err="1">
                <a:latin typeface="Times New Roman" panose="02020603050405020304" pitchFamily="18" charset="0"/>
                <a:cs typeface="Times New Roman" panose="02020603050405020304" pitchFamily="18" charset="0"/>
              </a:rPr>
              <a:t>ri</a:t>
            </a:r>
            <a:r>
              <a:rPr lang="it-IT" dirty="0">
                <a:latin typeface="Times New Roman" panose="02020603050405020304" pitchFamily="18" charset="0"/>
                <a:cs typeface="Times New Roman" panose="02020603050405020304" pitchFamily="18" charset="0"/>
              </a:rPr>
              <a:t>-addestrare il modello da zero, gli si fornisce nel prompt un esempio pratico di come deve rispondere)</a:t>
            </a:r>
          </a:p>
          <a:p>
            <a:pPr algn="just"/>
            <a:endParaRPr lang="it-IT" dirty="0">
              <a:latin typeface="Times New Roman" panose="02020603050405020304" pitchFamily="18" charset="0"/>
              <a:cs typeface="Times New Roman" panose="02020603050405020304" pitchFamily="18" charset="0"/>
            </a:endParaRPr>
          </a:p>
          <a:p>
            <a:pPr algn="just"/>
            <a:r>
              <a:rPr lang="it-IT" dirty="0">
                <a:latin typeface="Times New Roman" panose="02020603050405020304" pitchFamily="18" charset="0"/>
                <a:cs typeface="Times New Roman" panose="02020603050405020304" pitchFamily="18" charset="0"/>
              </a:rPr>
              <a:t>LLM fa confronti semantici profondi impossibili per SLM.</a:t>
            </a:r>
          </a:p>
        </p:txBody>
      </p:sp>
    </p:spTree>
    <p:extLst>
      <p:ext uri="{BB962C8B-B14F-4D97-AF65-F5344CB8AC3E}">
        <p14:creationId xmlns:p14="http://schemas.microsoft.com/office/powerpoint/2010/main" val="3393742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txBox="1">
            <a:spLocks/>
          </p:cNvSpPr>
          <p:nvPr/>
        </p:nvSpPr>
        <p:spPr>
          <a:xfrm>
            <a:off x="0" y="0"/>
            <a:ext cx="9144000" cy="1417638"/>
          </a:xfrm>
          <a:prstGeom prst="rect">
            <a:avLst/>
          </a:prstGeom>
        </p:spPr>
        <p:style>
          <a:lnRef idx="0">
            <a:schemeClr val="accent1"/>
          </a:lnRef>
          <a:fillRef idx="3">
            <a:schemeClr val="accent1"/>
          </a:fillRef>
          <a:effectRef idx="3">
            <a:schemeClr val="accent1"/>
          </a:effectRef>
          <a:fontRef idx="minor">
            <a:schemeClr val="lt1"/>
          </a:fontRef>
        </p:style>
        <p:txBody>
          <a:bodyPr vert="horz" lIns="91440" tIns="45720" rIns="91440" bIns="45720" rtlCol="0" anchor="ctr">
            <a:normAutofit fontScale="97500"/>
          </a:bodyPr>
          <a:lstStyle>
            <a:lvl1pPr algn="ctr" defTabSz="9144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it-IT" sz="1800" dirty="0" err="1"/>
              <a:t>HomeWork</a:t>
            </a:r>
            <a:r>
              <a:rPr lang="it-IT" sz="1800" dirty="0"/>
              <a:t> 3</a:t>
            </a:r>
            <a:br>
              <a:rPr lang="it-IT" sz="1800" dirty="0"/>
            </a:br>
            <a:r>
              <a:rPr lang="it-IT" sz="1800" dirty="0"/>
              <a:t>Ingegneria dei Dati</a:t>
            </a:r>
            <a:endParaRPr lang="it-IT" sz="3000" dirty="0"/>
          </a:p>
        </p:txBody>
      </p:sp>
      <p:pic>
        <p:nvPicPr>
          <p:cNvPr id="3" name="Immagin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9512" y="188640"/>
            <a:ext cx="1645469" cy="1031045"/>
          </a:xfrm>
          <a:prstGeom prst="rect">
            <a:avLst/>
          </a:prstGeom>
        </p:spPr>
      </p:pic>
      <p:cxnSp>
        <p:nvCxnSpPr>
          <p:cNvPr id="4" name="Connettore 1 3"/>
          <p:cNvCxnSpPr/>
          <p:nvPr/>
        </p:nvCxnSpPr>
        <p:spPr>
          <a:xfrm flipV="1">
            <a:off x="-12968" y="1484784"/>
            <a:ext cx="9163830" cy="36004"/>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5" name="Connettore 1 4"/>
          <p:cNvCxnSpPr/>
          <p:nvPr/>
        </p:nvCxnSpPr>
        <p:spPr>
          <a:xfrm flipV="1">
            <a:off x="-19830" y="1655186"/>
            <a:ext cx="9163830" cy="36004"/>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6" name="Connettore 1 5"/>
          <p:cNvCxnSpPr/>
          <p:nvPr/>
        </p:nvCxnSpPr>
        <p:spPr>
          <a:xfrm flipV="1">
            <a:off x="-19830" y="1844824"/>
            <a:ext cx="9163830" cy="36004"/>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7" name="Rettangolo 6"/>
          <p:cNvSpPr/>
          <p:nvPr/>
        </p:nvSpPr>
        <p:spPr>
          <a:xfrm>
            <a:off x="182604" y="2246145"/>
            <a:ext cx="8640960" cy="4278094"/>
          </a:xfrm>
          <a:prstGeom prst="rect">
            <a:avLst/>
          </a:prstGeom>
        </p:spPr>
        <p:txBody>
          <a:bodyPr wrap="square">
            <a:spAutoFit/>
          </a:bodyPr>
          <a:lstStyle/>
          <a:p>
            <a:pPr algn="just"/>
            <a:r>
              <a:rPr lang="it-IT" sz="2000" b="1" dirty="0">
                <a:latin typeface="Times New Roman" panose="02020603050405020304" pitchFamily="18" charset="0"/>
                <a:cs typeface="Times New Roman" panose="02020603050405020304" pitchFamily="18" charset="0"/>
              </a:rPr>
              <a:t>Addestrare gli SLM senza dati annotati</a:t>
            </a:r>
          </a:p>
          <a:p>
            <a:pPr algn="just"/>
            <a:endParaRPr lang="it-IT" dirty="0">
              <a:latin typeface="Times New Roman" panose="02020603050405020304" pitchFamily="18" charset="0"/>
              <a:cs typeface="Times New Roman" panose="02020603050405020304" pitchFamily="18" charset="0"/>
            </a:endParaRPr>
          </a:p>
          <a:p>
            <a:pPr algn="just"/>
            <a:r>
              <a:rPr lang="it-IT" dirty="0">
                <a:latin typeface="Times New Roman" panose="02020603050405020304" pitchFamily="18" charset="0"/>
                <a:cs typeface="Times New Roman" panose="02020603050405020304" pitchFamily="18" charset="0"/>
              </a:rPr>
              <a:t>Questa è una delle innovazioni più importanti.</a:t>
            </a:r>
          </a:p>
          <a:p>
            <a:pPr algn="just"/>
            <a:r>
              <a:rPr lang="it-IT" dirty="0">
                <a:latin typeface="Times New Roman" panose="02020603050405020304" pitchFamily="18" charset="0"/>
                <a:cs typeface="Times New Roman" panose="02020603050405020304" pitchFamily="18" charset="0"/>
              </a:rPr>
              <a:t>Gli LLM vengono utilizzati per generare colonne sinteticamente diverse ma semanticamente equivalenti, che fungono da esempi positivi per un processo di apprendimento auto supervisionato.</a:t>
            </a:r>
          </a:p>
          <a:p>
            <a:pPr algn="just"/>
            <a:endParaRPr lang="it-IT" dirty="0">
              <a:latin typeface="Times New Roman" panose="02020603050405020304" pitchFamily="18" charset="0"/>
              <a:cs typeface="Times New Roman" panose="02020603050405020304" pitchFamily="18" charset="0"/>
            </a:endParaRPr>
          </a:p>
          <a:p>
            <a:pPr algn="just"/>
            <a:r>
              <a:rPr lang="it-IT" dirty="0">
                <a:latin typeface="Times New Roman" panose="02020603050405020304" pitchFamily="18" charset="0"/>
                <a:cs typeface="Times New Roman" panose="02020603050405020304" pitchFamily="18" charset="0"/>
              </a:rPr>
              <a:t>Il training utilizza:</a:t>
            </a:r>
          </a:p>
          <a:p>
            <a:pPr marL="285750" indent="-285750" algn="just">
              <a:buFont typeface="Arial" panose="020B0604020202020204" pitchFamily="34" charset="0"/>
              <a:buChar char="•"/>
            </a:pPr>
            <a:r>
              <a:rPr lang="it-IT" dirty="0" err="1">
                <a:latin typeface="Times New Roman" panose="02020603050405020304" pitchFamily="18" charset="0"/>
                <a:cs typeface="Times New Roman" panose="02020603050405020304" pitchFamily="18" charset="0"/>
              </a:rPr>
              <a:t>Triplet</a:t>
            </a:r>
            <a:r>
              <a:rPr lang="it-IT" dirty="0">
                <a:latin typeface="Times New Roman" panose="02020603050405020304" pitchFamily="18" charset="0"/>
                <a:cs typeface="Times New Roman" panose="02020603050405020304" pitchFamily="18" charset="0"/>
              </a:rPr>
              <a:t> Loss: il modello lavora con triplette di colonne anchor (colonna originale es. "Prezzo"), positive (colonna generata dall'LLM es. "Costo") e negative (colonna presa a caso es. "Città") con l’obiettivo di avvicinare nello spazio vettoriale l’ancora al positivo e allontanare il più possibile il negativo</a:t>
            </a:r>
          </a:p>
          <a:p>
            <a:pPr marL="285750" indent="-285750" algn="just">
              <a:buFont typeface="Arial" panose="020B0604020202020204" pitchFamily="34" charset="0"/>
              <a:buChar char="•"/>
            </a:pPr>
            <a:r>
              <a:rPr lang="it-IT" dirty="0">
                <a:latin typeface="Times New Roman" panose="02020603050405020304" pitchFamily="18" charset="0"/>
                <a:cs typeface="Times New Roman" panose="02020603050405020304" pitchFamily="18" charset="0"/>
              </a:rPr>
              <a:t>Online </a:t>
            </a:r>
            <a:r>
              <a:rPr lang="it-IT" dirty="0" err="1">
                <a:latin typeface="Times New Roman" panose="02020603050405020304" pitchFamily="18" charset="0"/>
                <a:cs typeface="Times New Roman" panose="02020603050405020304" pitchFamily="18" charset="0"/>
              </a:rPr>
              <a:t>Triplet</a:t>
            </a:r>
            <a:r>
              <a:rPr lang="it-IT" dirty="0">
                <a:latin typeface="Times New Roman" panose="02020603050405020304" pitchFamily="18" charset="0"/>
                <a:cs typeface="Times New Roman" panose="02020603050405020304" pitchFamily="18" charset="0"/>
              </a:rPr>
              <a:t> Mining: cerca apposta gli esempi difficili costringendo il modello a distinguere tra concetti simili ma diversi e rendendo gli </a:t>
            </a:r>
            <a:r>
              <a:rPr lang="it-IT" dirty="0" err="1">
                <a:latin typeface="Times New Roman" panose="02020603050405020304" pitchFamily="18" charset="0"/>
                <a:cs typeface="Times New Roman" panose="02020603050405020304" pitchFamily="18" charset="0"/>
              </a:rPr>
              <a:t>embeddings</a:t>
            </a:r>
            <a:r>
              <a:rPr lang="it-IT" dirty="0">
                <a:latin typeface="Times New Roman" panose="02020603050405020304" pitchFamily="18" charset="0"/>
                <a:cs typeface="Times New Roman" panose="02020603050405020304" pitchFamily="18" charset="0"/>
              </a:rPr>
              <a:t> molto discriminanti</a:t>
            </a:r>
          </a:p>
          <a:p>
            <a:pPr marL="285750" indent="-285750" algn="just">
              <a:buFont typeface="Arial" panose="020B0604020202020204" pitchFamily="34" charset="0"/>
              <a:buChar char="•"/>
            </a:pPr>
            <a:r>
              <a:rPr lang="it-IT" dirty="0">
                <a:latin typeface="Times New Roman" panose="02020603050405020304" pitchFamily="18" charset="0"/>
                <a:cs typeface="Times New Roman" panose="02020603050405020304" pitchFamily="18" charset="0"/>
              </a:rPr>
              <a:t>Classi di colonne derivate dalla stessa ancora</a:t>
            </a:r>
          </a:p>
        </p:txBody>
      </p:sp>
    </p:spTree>
    <p:extLst>
      <p:ext uri="{BB962C8B-B14F-4D97-AF65-F5344CB8AC3E}">
        <p14:creationId xmlns:p14="http://schemas.microsoft.com/office/powerpoint/2010/main" val="3393742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txBox="1">
            <a:spLocks/>
          </p:cNvSpPr>
          <p:nvPr/>
        </p:nvSpPr>
        <p:spPr>
          <a:xfrm>
            <a:off x="0" y="0"/>
            <a:ext cx="9144000" cy="1417638"/>
          </a:xfrm>
          <a:prstGeom prst="rect">
            <a:avLst/>
          </a:prstGeom>
        </p:spPr>
        <p:style>
          <a:lnRef idx="0">
            <a:schemeClr val="accent1"/>
          </a:lnRef>
          <a:fillRef idx="3">
            <a:schemeClr val="accent1"/>
          </a:fillRef>
          <a:effectRef idx="3">
            <a:schemeClr val="accent1"/>
          </a:effectRef>
          <a:fontRef idx="minor">
            <a:schemeClr val="lt1"/>
          </a:fontRef>
        </p:style>
        <p:txBody>
          <a:bodyPr vert="horz" lIns="91440" tIns="45720" rIns="91440" bIns="45720" rtlCol="0" anchor="ctr">
            <a:normAutofit fontScale="97500"/>
          </a:bodyPr>
          <a:lstStyle>
            <a:lvl1pPr algn="ctr" defTabSz="9144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it-IT" sz="1800" dirty="0" err="1"/>
              <a:t>HomeWork</a:t>
            </a:r>
            <a:r>
              <a:rPr lang="it-IT" sz="1800" dirty="0"/>
              <a:t> 3</a:t>
            </a:r>
            <a:br>
              <a:rPr lang="it-IT" sz="1800" dirty="0"/>
            </a:br>
            <a:r>
              <a:rPr lang="it-IT" sz="1800" dirty="0"/>
              <a:t>Ingegneria dei Dati</a:t>
            </a:r>
            <a:endParaRPr lang="it-IT" sz="3000" dirty="0"/>
          </a:p>
        </p:txBody>
      </p:sp>
      <p:pic>
        <p:nvPicPr>
          <p:cNvPr id="3" name="Immagin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9512" y="188640"/>
            <a:ext cx="1645469" cy="1031045"/>
          </a:xfrm>
          <a:prstGeom prst="rect">
            <a:avLst/>
          </a:prstGeom>
        </p:spPr>
      </p:pic>
      <p:cxnSp>
        <p:nvCxnSpPr>
          <p:cNvPr id="4" name="Connettore 1 3"/>
          <p:cNvCxnSpPr/>
          <p:nvPr/>
        </p:nvCxnSpPr>
        <p:spPr>
          <a:xfrm flipV="1">
            <a:off x="-12968" y="1484784"/>
            <a:ext cx="9163830" cy="36004"/>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5" name="Connettore 1 4"/>
          <p:cNvCxnSpPr/>
          <p:nvPr/>
        </p:nvCxnSpPr>
        <p:spPr>
          <a:xfrm flipV="1">
            <a:off x="-19830" y="1655186"/>
            <a:ext cx="9163830" cy="36004"/>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6" name="Connettore 1 5"/>
          <p:cNvCxnSpPr/>
          <p:nvPr/>
        </p:nvCxnSpPr>
        <p:spPr>
          <a:xfrm flipV="1">
            <a:off x="-19830" y="1844824"/>
            <a:ext cx="9163830" cy="36004"/>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7" name="Rettangolo 6"/>
          <p:cNvSpPr/>
          <p:nvPr/>
        </p:nvSpPr>
        <p:spPr>
          <a:xfrm>
            <a:off x="395536" y="2132856"/>
            <a:ext cx="8280920" cy="2616101"/>
          </a:xfrm>
          <a:prstGeom prst="rect">
            <a:avLst/>
          </a:prstGeom>
        </p:spPr>
        <p:txBody>
          <a:bodyPr wrap="square">
            <a:spAutoFit/>
          </a:bodyPr>
          <a:lstStyle/>
          <a:p>
            <a:r>
              <a:rPr lang="it-IT" sz="2000" b="1" dirty="0">
                <a:latin typeface="Times New Roman" panose="02020603050405020304" pitchFamily="18" charset="0"/>
                <a:cs typeface="Times New Roman" panose="02020603050405020304" pitchFamily="18" charset="0"/>
              </a:rPr>
              <a:t>Verifica sperimentale</a:t>
            </a:r>
            <a:r>
              <a:rPr lang="it-IT" b="1" dirty="0">
                <a:latin typeface="Times New Roman" panose="02020603050405020304" pitchFamily="18" charset="0"/>
                <a:cs typeface="Times New Roman" panose="02020603050405020304" pitchFamily="18" charset="0"/>
              </a:rPr>
              <a:t>:</a:t>
            </a:r>
            <a:r>
              <a:rPr lang="it-IT" dirty="0">
                <a:latin typeface="Times New Roman" panose="02020603050405020304" pitchFamily="18" charset="0"/>
                <a:cs typeface="Times New Roman" panose="02020603050405020304" pitchFamily="18" charset="0"/>
              </a:rPr>
              <a:t> </a:t>
            </a:r>
          </a:p>
          <a:p>
            <a:endParaRPr lang="it-IT" dirty="0">
              <a:latin typeface="Times New Roman" panose="02020603050405020304" pitchFamily="18" charset="0"/>
              <a:cs typeface="Times New Roman" panose="02020603050405020304" pitchFamily="18" charset="0"/>
            </a:endParaRPr>
          </a:p>
          <a:p>
            <a:pPr algn="just"/>
            <a:r>
              <a:rPr lang="it-IT" dirty="0">
                <a:latin typeface="Times New Roman" panose="02020603050405020304" pitchFamily="18" charset="0"/>
                <a:cs typeface="Times New Roman" panose="02020603050405020304" pitchFamily="18" charset="0"/>
              </a:rPr>
              <a:t>Il nuovo benchmark rappresenta uno scenario reale estremamente complesso:</a:t>
            </a:r>
          </a:p>
          <a:p>
            <a:pPr marL="285750" indent="-285750" algn="just">
              <a:buFont typeface="Arial" panose="020B0604020202020204" pitchFamily="34" charset="0"/>
              <a:buChar char="•"/>
            </a:pPr>
            <a:r>
              <a:rPr lang="it-IT" dirty="0">
                <a:latin typeface="Times New Roman" panose="02020603050405020304" pitchFamily="18" charset="0"/>
                <a:cs typeface="Times New Roman" panose="02020603050405020304" pitchFamily="18" charset="0"/>
              </a:rPr>
              <a:t>10 dataset reali biomedici</a:t>
            </a:r>
          </a:p>
          <a:p>
            <a:pPr marL="285750" indent="-285750" algn="just">
              <a:buFont typeface="Arial" panose="020B0604020202020204" pitchFamily="34" charset="0"/>
              <a:buChar char="•"/>
            </a:pPr>
            <a:r>
              <a:rPr lang="it-IT" dirty="0">
                <a:latin typeface="Times New Roman" panose="02020603050405020304" pitchFamily="18" charset="0"/>
                <a:cs typeface="Times New Roman" panose="02020603050405020304" pitchFamily="18" charset="0"/>
              </a:rPr>
              <a:t>fino a 179 colonne sorgente</a:t>
            </a:r>
          </a:p>
          <a:p>
            <a:pPr marL="285750" indent="-285750" algn="just">
              <a:buFont typeface="Arial" panose="020B0604020202020204" pitchFamily="34" charset="0"/>
              <a:buChar char="•"/>
            </a:pPr>
            <a:r>
              <a:rPr lang="it-IT" dirty="0">
                <a:latin typeface="Times New Roman" panose="02020603050405020304" pitchFamily="18" charset="0"/>
                <a:cs typeface="Times New Roman" panose="02020603050405020304" pitchFamily="18" charset="0"/>
              </a:rPr>
              <a:t>736 colonne target</a:t>
            </a:r>
          </a:p>
          <a:p>
            <a:pPr marL="285750" indent="-285750" algn="just">
              <a:buFont typeface="Arial" panose="020B0604020202020204" pitchFamily="34" charset="0"/>
              <a:buChar char="•"/>
            </a:pPr>
            <a:r>
              <a:rPr lang="it-IT" dirty="0">
                <a:latin typeface="Times New Roman" panose="02020603050405020304" pitchFamily="18" charset="0"/>
                <a:cs typeface="Times New Roman" panose="02020603050405020304" pitchFamily="18" charset="0"/>
              </a:rPr>
              <a:t> alta variabilità sintattica e semantica</a:t>
            </a:r>
          </a:p>
          <a:p>
            <a:pPr algn="just"/>
            <a:r>
              <a:rPr lang="it-IT" dirty="0">
                <a:latin typeface="Times New Roman" panose="02020603050405020304" pitchFamily="18" charset="0"/>
                <a:cs typeface="Times New Roman" panose="02020603050405020304" pitchFamily="18" charset="0"/>
              </a:rPr>
              <a:t>A differenza dei benchmark esistenti, questo non è “saturato” e mette realmente alla prova gli algoritmi.</a:t>
            </a:r>
          </a:p>
        </p:txBody>
      </p:sp>
      <p:sp>
        <p:nvSpPr>
          <p:cNvPr id="8" name="Rettangolo 7"/>
          <p:cNvSpPr/>
          <p:nvPr/>
        </p:nvSpPr>
        <p:spPr>
          <a:xfrm>
            <a:off x="395536" y="4941168"/>
            <a:ext cx="8280920" cy="1477328"/>
          </a:xfrm>
          <a:prstGeom prst="rect">
            <a:avLst/>
          </a:prstGeom>
        </p:spPr>
        <p:txBody>
          <a:bodyPr wrap="square">
            <a:spAutoFit/>
          </a:bodyPr>
          <a:lstStyle/>
          <a:p>
            <a:pPr algn="just"/>
            <a:r>
              <a:rPr lang="it-IT" dirty="0" err="1">
                <a:latin typeface="Times New Roman" panose="02020603050405020304" pitchFamily="18" charset="0"/>
                <a:cs typeface="Times New Roman" panose="02020603050405020304" pitchFamily="18" charset="0"/>
              </a:rPr>
              <a:t>Magneto</a:t>
            </a:r>
            <a:r>
              <a:rPr lang="it-IT" dirty="0">
                <a:latin typeface="Times New Roman" panose="02020603050405020304" pitchFamily="18" charset="0"/>
                <a:cs typeface="Times New Roman" panose="02020603050405020304" pitchFamily="18" charset="0"/>
              </a:rPr>
              <a:t> supera tutte le baseline tradizionali e recenti (COMA, </a:t>
            </a:r>
            <a:r>
              <a:rPr lang="it-IT" dirty="0" err="1">
                <a:latin typeface="Times New Roman" panose="02020603050405020304" pitchFamily="18" charset="0"/>
                <a:cs typeface="Times New Roman" panose="02020603050405020304" pitchFamily="18" charset="0"/>
              </a:rPr>
              <a:t>SimFlooding</a:t>
            </a:r>
            <a:r>
              <a:rPr lang="it-IT" dirty="0">
                <a:latin typeface="Times New Roman" panose="02020603050405020304" pitchFamily="18" charset="0"/>
                <a:cs typeface="Times New Roman" panose="02020603050405020304" pitchFamily="18" charset="0"/>
              </a:rPr>
              <a:t>, </a:t>
            </a:r>
            <a:r>
              <a:rPr lang="it-IT" dirty="0" err="1">
                <a:latin typeface="Times New Roman" panose="02020603050405020304" pitchFamily="18" charset="0"/>
                <a:cs typeface="Times New Roman" panose="02020603050405020304" pitchFamily="18" charset="0"/>
              </a:rPr>
              <a:t>ISResMat</a:t>
            </a:r>
            <a:r>
              <a:rPr lang="it-IT" dirty="0">
                <a:latin typeface="Times New Roman" panose="02020603050405020304" pitchFamily="18" charset="0"/>
                <a:cs typeface="Times New Roman" panose="02020603050405020304" pitchFamily="18" charset="0"/>
              </a:rPr>
              <a:t>, </a:t>
            </a:r>
            <a:r>
              <a:rPr lang="it-IT" dirty="0" err="1">
                <a:latin typeface="Times New Roman" panose="02020603050405020304" pitchFamily="18" charset="0"/>
                <a:cs typeface="Times New Roman" panose="02020603050405020304" pitchFamily="18" charset="0"/>
              </a:rPr>
              <a:t>Unicorn</a:t>
            </a:r>
            <a:r>
              <a:rPr lang="it-IT" dirty="0">
                <a:latin typeface="Times New Roman" panose="02020603050405020304" pitchFamily="18" charset="0"/>
                <a:cs typeface="Times New Roman" panose="02020603050405020304" pitchFamily="18" charset="0"/>
              </a:rPr>
              <a:t>) sia su GDC che su Valentine.</a:t>
            </a:r>
          </a:p>
          <a:p>
            <a:pPr algn="just"/>
            <a:r>
              <a:rPr lang="it-IT" dirty="0">
                <a:latin typeface="Times New Roman" panose="02020603050405020304" pitchFamily="18" charset="0"/>
                <a:cs typeface="Times New Roman" panose="02020603050405020304" pitchFamily="18" charset="0"/>
              </a:rPr>
              <a:t>La configurazione migliore risulta essere </a:t>
            </a:r>
            <a:r>
              <a:rPr lang="it-IT" dirty="0" err="1">
                <a:latin typeface="Times New Roman" panose="02020603050405020304" pitchFamily="18" charset="0"/>
                <a:cs typeface="Times New Roman" panose="02020603050405020304" pitchFamily="18" charset="0"/>
              </a:rPr>
              <a:t>Magneto-ft-llm</a:t>
            </a:r>
            <a:r>
              <a:rPr lang="it-IT" dirty="0">
                <a:latin typeface="Times New Roman" panose="02020603050405020304" pitchFamily="18" charset="0"/>
                <a:cs typeface="Times New Roman" panose="02020603050405020304" pitchFamily="18" charset="0"/>
              </a:rPr>
              <a:t>.</a:t>
            </a:r>
          </a:p>
          <a:p>
            <a:pPr algn="just"/>
            <a:r>
              <a:rPr lang="it-IT" dirty="0">
                <a:latin typeface="Times New Roman" panose="02020603050405020304" pitchFamily="18" charset="0"/>
                <a:cs typeface="Times New Roman" panose="02020603050405020304" pitchFamily="18" charset="0"/>
              </a:rPr>
              <a:t>Anche le versioni zero-</a:t>
            </a:r>
            <a:r>
              <a:rPr lang="it-IT" dirty="0" err="1">
                <a:latin typeface="Times New Roman" panose="02020603050405020304" pitchFamily="18" charset="0"/>
                <a:cs typeface="Times New Roman" panose="02020603050405020304" pitchFamily="18" charset="0"/>
              </a:rPr>
              <a:t>shot</a:t>
            </a:r>
            <a:r>
              <a:rPr lang="it-IT" dirty="0">
                <a:latin typeface="Times New Roman" panose="02020603050405020304" pitchFamily="18" charset="0"/>
                <a:cs typeface="Times New Roman" panose="02020603050405020304" pitchFamily="18" charset="0"/>
              </a:rPr>
              <a:t> mostrano prestazioni superiori grazie alle tecniche di serializzazione e campionamento.</a:t>
            </a:r>
          </a:p>
        </p:txBody>
      </p:sp>
    </p:spTree>
    <p:extLst>
      <p:ext uri="{BB962C8B-B14F-4D97-AF65-F5344CB8AC3E}">
        <p14:creationId xmlns:p14="http://schemas.microsoft.com/office/powerpoint/2010/main" val="3393742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txBox="1">
            <a:spLocks/>
          </p:cNvSpPr>
          <p:nvPr/>
        </p:nvSpPr>
        <p:spPr>
          <a:xfrm>
            <a:off x="0" y="0"/>
            <a:ext cx="9144000" cy="1417638"/>
          </a:xfrm>
          <a:prstGeom prst="rect">
            <a:avLst/>
          </a:prstGeom>
        </p:spPr>
        <p:style>
          <a:lnRef idx="0">
            <a:schemeClr val="accent1"/>
          </a:lnRef>
          <a:fillRef idx="3">
            <a:schemeClr val="accent1"/>
          </a:fillRef>
          <a:effectRef idx="3">
            <a:schemeClr val="accent1"/>
          </a:effectRef>
          <a:fontRef idx="minor">
            <a:schemeClr val="lt1"/>
          </a:fontRef>
        </p:style>
        <p:txBody>
          <a:bodyPr vert="horz" lIns="91440" tIns="45720" rIns="91440" bIns="45720" rtlCol="0" anchor="ctr">
            <a:normAutofit fontScale="97500"/>
          </a:bodyPr>
          <a:lstStyle>
            <a:lvl1pPr algn="ctr" defTabSz="9144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it-IT" sz="1800" dirty="0" err="1"/>
              <a:t>HomeWork</a:t>
            </a:r>
            <a:r>
              <a:rPr lang="it-IT" sz="1800" dirty="0"/>
              <a:t> 3</a:t>
            </a:r>
            <a:br>
              <a:rPr lang="it-IT" sz="1800" dirty="0"/>
            </a:br>
            <a:r>
              <a:rPr lang="it-IT" sz="1800" dirty="0"/>
              <a:t>Ingegneria dei Dati</a:t>
            </a:r>
            <a:endParaRPr lang="it-IT" sz="3000" dirty="0"/>
          </a:p>
        </p:txBody>
      </p:sp>
      <p:pic>
        <p:nvPicPr>
          <p:cNvPr id="3" name="Immagin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9512" y="188640"/>
            <a:ext cx="1645469" cy="1031045"/>
          </a:xfrm>
          <a:prstGeom prst="rect">
            <a:avLst/>
          </a:prstGeom>
        </p:spPr>
      </p:pic>
      <p:cxnSp>
        <p:nvCxnSpPr>
          <p:cNvPr id="4" name="Connettore 1 3"/>
          <p:cNvCxnSpPr/>
          <p:nvPr/>
        </p:nvCxnSpPr>
        <p:spPr>
          <a:xfrm flipV="1">
            <a:off x="-12968" y="1484784"/>
            <a:ext cx="9163830" cy="36004"/>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5" name="Connettore 1 4"/>
          <p:cNvCxnSpPr/>
          <p:nvPr/>
        </p:nvCxnSpPr>
        <p:spPr>
          <a:xfrm flipV="1">
            <a:off x="-19830" y="1655186"/>
            <a:ext cx="9163830" cy="36004"/>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6" name="Connettore 1 5"/>
          <p:cNvCxnSpPr/>
          <p:nvPr/>
        </p:nvCxnSpPr>
        <p:spPr>
          <a:xfrm flipV="1">
            <a:off x="-19830" y="1844824"/>
            <a:ext cx="9163830" cy="36004"/>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7" name="Rettangolo 6"/>
          <p:cNvSpPr/>
          <p:nvPr/>
        </p:nvSpPr>
        <p:spPr>
          <a:xfrm>
            <a:off x="392483" y="2074740"/>
            <a:ext cx="5115621" cy="1785104"/>
          </a:xfrm>
          <a:prstGeom prst="rect">
            <a:avLst/>
          </a:prstGeom>
        </p:spPr>
        <p:txBody>
          <a:bodyPr wrap="square">
            <a:spAutoFit/>
          </a:bodyPr>
          <a:lstStyle/>
          <a:p>
            <a:r>
              <a:rPr lang="it-IT" sz="2000" b="1" dirty="0">
                <a:latin typeface="Times New Roman" panose="02020603050405020304" pitchFamily="18" charset="0"/>
                <a:cs typeface="Times New Roman" panose="02020603050405020304" pitchFamily="18" charset="0"/>
              </a:rPr>
              <a:t>Compromesso tra accuratezza e costo</a:t>
            </a:r>
          </a:p>
          <a:p>
            <a:pPr algn="just"/>
            <a:r>
              <a:rPr lang="it-IT" dirty="0">
                <a:latin typeface="Times New Roman" panose="02020603050405020304" pitchFamily="18" charset="0"/>
                <a:cs typeface="Times New Roman" panose="02020603050405020304" pitchFamily="18" charset="0"/>
              </a:rPr>
              <a:t>Uno dei contributi chiave dell’articolo è dimostrare che è possibile ottenere alta accuratezza senza costi proibitivi, usando gli LLM solo dove necessario. Magneto riesce a posizionarsi in una zona ottimale del trade-off tra </a:t>
            </a:r>
            <a:r>
              <a:rPr lang="it-IT" dirty="0" err="1">
                <a:latin typeface="Times New Roman" panose="02020603050405020304" pitchFamily="18" charset="0"/>
                <a:cs typeface="Times New Roman" panose="02020603050405020304" pitchFamily="18" charset="0"/>
              </a:rPr>
              <a:t>runtime</a:t>
            </a:r>
            <a:r>
              <a:rPr lang="it-IT" dirty="0">
                <a:latin typeface="Times New Roman" panose="02020603050405020304" pitchFamily="18" charset="0"/>
                <a:cs typeface="Times New Roman" panose="02020603050405020304" pitchFamily="18" charset="0"/>
              </a:rPr>
              <a:t> e accuratezza.</a:t>
            </a:r>
          </a:p>
        </p:txBody>
      </p:sp>
      <p:pic>
        <p:nvPicPr>
          <p:cNvPr id="9" name="Immagine 8" descr="Immagine che contiene testo, schermata, diagramma, Diagramma&#10;&#10;Il contenuto generato dall'IA potrebbe non essere corretto.">
            <a:extLst>
              <a:ext uri="{FF2B5EF4-FFF2-40B4-BE49-F238E27FC236}">
                <a16:creationId xmlns:a16="http://schemas.microsoft.com/office/drawing/2014/main" id="{7FA65F39-B03D-3B0A-B5C0-A23B778C0655}"/>
              </a:ext>
            </a:extLst>
          </p:cNvPr>
          <p:cNvPicPr>
            <a:picLocks noChangeAspect="1"/>
          </p:cNvPicPr>
          <p:nvPr/>
        </p:nvPicPr>
        <p:blipFill>
          <a:blip r:embed="rId3"/>
          <a:stretch>
            <a:fillRect/>
          </a:stretch>
        </p:blipFill>
        <p:spPr>
          <a:xfrm>
            <a:off x="392483" y="3878657"/>
            <a:ext cx="3635091" cy="2784326"/>
          </a:xfrm>
          <a:prstGeom prst="rect">
            <a:avLst/>
          </a:prstGeom>
        </p:spPr>
      </p:pic>
      <p:pic>
        <p:nvPicPr>
          <p:cNvPr id="10" name="Immagine 9" descr="Immagine che contiene schermata, testo, diagramma, Parallelo&#10;&#10;Il contenuto generato dall'IA potrebbe non essere corretto.">
            <a:extLst>
              <a:ext uri="{FF2B5EF4-FFF2-40B4-BE49-F238E27FC236}">
                <a16:creationId xmlns:a16="http://schemas.microsoft.com/office/drawing/2014/main" id="{AF30FBD1-6D46-8AE5-98DA-A7F83C10C82F}"/>
              </a:ext>
            </a:extLst>
          </p:cNvPr>
          <p:cNvPicPr>
            <a:picLocks noChangeAspect="1"/>
          </p:cNvPicPr>
          <p:nvPr/>
        </p:nvPicPr>
        <p:blipFill>
          <a:blip r:embed="rId4"/>
          <a:stretch>
            <a:fillRect/>
          </a:stretch>
        </p:blipFill>
        <p:spPr>
          <a:xfrm>
            <a:off x="5528648" y="2034462"/>
            <a:ext cx="3491732" cy="4592067"/>
          </a:xfrm>
          <a:prstGeom prst="rect">
            <a:avLst/>
          </a:prstGeom>
        </p:spPr>
      </p:pic>
    </p:spTree>
    <p:extLst>
      <p:ext uri="{BB962C8B-B14F-4D97-AF65-F5344CB8AC3E}">
        <p14:creationId xmlns:p14="http://schemas.microsoft.com/office/powerpoint/2010/main" val="3393742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txBox="1">
            <a:spLocks/>
          </p:cNvSpPr>
          <p:nvPr/>
        </p:nvSpPr>
        <p:spPr>
          <a:xfrm>
            <a:off x="0" y="0"/>
            <a:ext cx="9144000" cy="1417638"/>
          </a:xfrm>
          <a:prstGeom prst="rect">
            <a:avLst/>
          </a:prstGeom>
        </p:spPr>
        <p:style>
          <a:lnRef idx="0">
            <a:schemeClr val="accent1"/>
          </a:lnRef>
          <a:fillRef idx="3">
            <a:schemeClr val="accent1"/>
          </a:fillRef>
          <a:effectRef idx="3">
            <a:schemeClr val="accent1"/>
          </a:effectRef>
          <a:fontRef idx="minor">
            <a:schemeClr val="lt1"/>
          </a:fontRef>
        </p:style>
        <p:txBody>
          <a:bodyPr vert="horz" lIns="91440" tIns="45720" rIns="91440" bIns="45720" rtlCol="0" anchor="ctr">
            <a:normAutofit fontScale="97500"/>
          </a:bodyPr>
          <a:lstStyle>
            <a:lvl1pPr algn="ctr" defTabSz="9144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it-IT" sz="1800" dirty="0" err="1"/>
              <a:t>HomeWork</a:t>
            </a:r>
            <a:r>
              <a:rPr lang="it-IT" sz="1800" dirty="0"/>
              <a:t> 3</a:t>
            </a:r>
            <a:br>
              <a:rPr lang="it-IT" sz="1800" dirty="0"/>
            </a:br>
            <a:r>
              <a:rPr lang="it-IT" sz="1800" dirty="0"/>
              <a:t>Ingegneria dei Dati</a:t>
            </a:r>
            <a:endParaRPr lang="it-IT" sz="3000" dirty="0"/>
          </a:p>
        </p:txBody>
      </p:sp>
      <p:pic>
        <p:nvPicPr>
          <p:cNvPr id="3" name="Immagin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9512" y="188640"/>
            <a:ext cx="1645469" cy="1031045"/>
          </a:xfrm>
          <a:prstGeom prst="rect">
            <a:avLst/>
          </a:prstGeom>
        </p:spPr>
      </p:pic>
      <p:cxnSp>
        <p:nvCxnSpPr>
          <p:cNvPr id="4" name="Connettore 1 3"/>
          <p:cNvCxnSpPr/>
          <p:nvPr/>
        </p:nvCxnSpPr>
        <p:spPr>
          <a:xfrm flipV="1">
            <a:off x="-12968" y="1484784"/>
            <a:ext cx="9163830" cy="36004"/>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5" name="Connettore 1 4"/>
          <p:cNvCxnSpPr/>
          <p:nvPr/>
        </p:nvCxnSpPr>
        <p:spPr>
          <a:xfrm flipV="1">
            <a:off x="-19830" y="1655186"/>
            <a:ext cx="9163830" cy="36004"/>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6" name="Connettore 1 5"/>
          <p:cNvCxnSpPr/>
          <p:nvPr/>
        </p:nvCxnSpPr>
        <p:spPr>
          <a:xfrm flipV="1">
            <a:off x="-19830" y="1844824"/>
            <a:ext cx="9163830" cy="36004"/>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7" name="Rettangolo 6"/>
          <p:cNvSpPr/>
          <p:nvPr/>
        </p:nvSpPr>
        <p:spPr>
          <a:xfrm>
            <a:off x="457629" y="2492896"/>
            <a:ext cx="8208912" cy="3693319"/>
          </a:xfrm>
          <a:prstGeom prst="rect">
            <a:avLst/>
          </a:prstGeom>
        </p:spPr>
        <p:txBody>
          <a:bodyPr wrap="square">
            <a:spAutoFit/>
          </a:bodyPr>
          <a:lstStyle/>
          <a:p>
            <a:pPr algn="just"/>
            <a:r>
              <a:rPr lang="it-IT" b="1" dirty="0" err="1">
                <a:latin typeface="Times New Roman" panose="02020603050405020304" pitchFamily="18" charset="0"/>
                <a:cs typeface="Times New Roman" panose="02020603050405020304" pitchFamily="18" charset="0"/>
              </a:rPr>
              <a:t>Magneto</a:t>
            </a:r>
            <a:r>
              <a:rPr lang="it-IT" b="1" dirty="0">
                <a:latin typeface="Times New Roman" panose="02020603050405020304" pitchFamily="18" charset="0"/>
                <a:cs typeface="Times New Roman" panose="02020603050405020304" pitchFamily="18" charset="0"/>
              </a:rPr>
              <a:t> rappresenta un passo avanti significativo nello schema </a:t>
            </a:r>
            <a:r>
              <a:rPr lang="it-IT" b="1" dirty="0" err="1">
                <a:latin typeface="Times New Roman" panose="02020603050405020304" pitchFamily="18" charset="0"/>
                <a:cs typeface="Times New Roman" panose="02020603050405020304" pitchFamily="18" charset="0"/>
              </a:rPr>
              <a:t>matching</a:t>
            </a:r>
            <a:r>
              <a:rPr lang="it-IT" dirty="0">
                <a:latin typeface="Times New Roman" panose="02020603050405020304" pitchFamily="18" charset="0"/>
                <a:cs typeface="Times New Roman" panose="02020603050405020304" pitchFamily="18" charset="0"/>
              </a:rPr>
              <a:t>,</a:t>
            </a:r>
          </a:p>
          <a:p>
            <a:pPr algn="just"/>
            <a:endParaRPr lang="it-IT" dirty="0">
              <a:latin typeface="Times New Roman" panose="02020603050405020304" pitchFamily="18" charset="0"/>
              <a:cs typeface="Times New Roman" panose="02020603050405020304" pitchFamily="18" charset="0"/>
            </a:endParaRPr>
          </a:p>
          <a:p>
            <a:pPr algn="just"/>
            <a:r>
              <a:rPr lang="it-IT" dirty="0">
                <a:latin typeface="Times New Roman" panose="02020603050405020304" pitchFamily="18" charset="0"/>
                <a:cs typeface="Times New Roman" panose="02020603050405020304" pitchFamily="18" charset="0"/>
              </a:rPr>
              <a:t>dimostrando che la combinazione intelligente di SLM e LLM può superare i limiti di entrambi.</a:t>
            </a:r>
          </a:p>
          <a:p>
            <a:pPr algn="just"/>
            <a:endParaRPr lang="it-IT" dirty="0">
              <a:latin typeface="Times New Roman" panose="02020603050405020304" pitchFamily="18" charset="0"/>
              <a:cs typeface="Times New Roman" panose="02020603050405020304" pitchFamily="18" charset="0"/>
            </a:endParaRPr>
          </a:p>
          <a:p>
            <a:pPr algn="just"/>
            <a:r>
              <a:rPr lang="it-IT" dirty="0">
                <a:latin typeface="Times New Roman" panose="02020603050405020304" pitchFamily="18" charset="0"/>
                <a:cs typeface="Times New Roman" panose="02020603050405020304" pitchFamily="18" charset="0"/>
              </a:rPr>
              <a:t>L’uso degli LLM per generare dati di training, la pipeline a due fasi, le tecniche di serializzazione e il nuovo benchmark rendono questo lavoro particolarmente rilevante per applicazioni reali di integrazione dei dati, specialmente in domini complessi come quello biomedico.</a:t>
            </a:r>
          </a:p>
          <a:p>
            <a:pPr algn="just"/>
            <a:endParaRPr lang="it-IT" dirty="0">
              <a:latin typeface="Times New Roman" panose="02020603050405020304" pitchFamily="18" charset="0"/>
              <a:cs typeface="Times New Roman" panose="02020603050405020304" pitchFamily="18" charset="0"/>
            </a:endParaRPr>
          </a:p>
          <a:p>
            <a:pPr algn="just"/>
            <a:r>
              <a:rPr lang="it-IT" dirty="0">
                <a:latin typeface="Times New Roman" panose="02020603050405020304" pitchFamily="18" charset="0"/>
                <a:cs typeface="Times New Roman" panose="02020603050405020304" pitchFamily="18" charset="0"/>
              </a:rPr>
              <a:t>Gli LLM non sostituiscono gli algoritmi tradizionali. Li potenziano quando usati nel punto giusto della pipeline. Questa è l’idea centrale dell’articolo.</a:t>
            </a:r>
          </a:p>
          <a:p>
            <a:pPr algn="just"/>
            <a:endParaRPr lang="it-IT" dirty="0"/>
          </a:p>
        </p:txBody>
      </p:sp>
    </p:spTree>
    <p:extLst>
      <p:ext uri="{BB962C8B-B14F-4D97-AF65-F5344CB8AC3E}">
        <p14:creationId xmlns:p14="http://schemas.microsoft.com/office/powerpoint/2010/main" val="339374257"/>
      </p:ext>
    </p:extLst>
  </p:cSld>
  <p:clrMapOvr>
    <a:masterClrMapping/>
  </p:clrMapOvr>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286</TotalTime>
  <Words>1225</Words>
  <Application>Microsoft Office PowerPoint</Application>
  <PresentationFormat>Presentazione su schermo (4:3)</PresentationFormat>
  <Paragraphs>119</Paragraphs>
  <Slides>12</Slides>
  <Notes>1</Notes>
  <HiddenSlides>0</HiddenSlides>
  <MMClips>0</MMClips>
  <ScaleCrop>false</ScaleCrop>
  <HeadingPairs>
    <vt:vector size="6" baseType="variant">
      <vt:variant>
        <vt:lpstr>Caratteri utilizzati</vt:lpstr>
      </vt:variant>
      <vt:variant>
        <vt:i4>5</vt:i4>
      </vt:variant>
      <vt:variant>
        <vt:lpstr>Tema</vt:lpstr>
      </vt:variant>
      <vt:variant>
        <vt:i4>1</vt:i4>
      </vt:variant>
      <vt:variant>
        <vt:lpstr>Titoli diapositive</vt:lpstr>
      </vt:variant>
      <vt:variant>
        <vt:i4>12</vt:i4>
      </vt:variant>
    </vt:vector>
  </HeadingPairs>
  <TitlesOfParts>
    <vt:vector size="18" baseType="lpstr">
      <vt:lpstr>Aptos</vt:lpstr>
      <vt:lpstr>Arial</vt:lpstr>
      <vt:lpstr>Calibri</vt:lpstr>
      <vt:lpstr>Times New Roman</vt:lpstr>
      <vt:lpstr>Wingdings</vt:lpstr>
      <vt:lpstr>Tema di Office</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Presentazione standard di PowerPoint</dc:title>
  <dc:creator>DOUGLAS RUFFINI</dc:creator>
  <cp:lastModifiedBy>PIETRO BARONE</cp:lastModifiedBy>
  <cp:revision>26</cp:revision>
  <cp:lastPrinted>2026-01-30T20:06:55Z</cp:lastPrinted>
  <dcterms:created xsi:type="dcterms:W3CDTF">2026-01-30T17:57:05Z</dcterms:created>
  <dcterms:modified xsi:type="dcterms:W3CDTF">2026-02-19T18:47:32Z</dcterms:modified>
</cp:coreProperties>
</file>