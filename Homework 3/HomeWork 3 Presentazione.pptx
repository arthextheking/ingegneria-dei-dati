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6858000" type="screen4x3"/>
  <p:notesSz cx="7104063" cy="102346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8" d="100"/>
          <a:sy n="68" d="100"/>
        </p:scale>
        <p:origin x="-102" y="-846"/>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685800" y="2130425"/>
            <a:ext cx="7772400" cy="1470025"/>
          </a:xfrm>
        </p:spPr>
        <p:txBody>
          <a:bodyPr/>
          <a:lstStyle/>
          <a:p>
            <a:r>
              <a:rPr lang="it-IT" smtClean="0"/>
              <a:t>Fare clic per modificare lo stile del titolo</a:t>
            </a:r>
            <a:endParaRPr lang="it-IT"/>
          </a:p>
        </p:txBody>
      </p:sp>
      <p:sp>
        <p:nvSpPr>
          <p:cNvPr id="3" name="Sottotito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smtClean="0"/>
              <a:t>Fare clic per modificare lo stile del sottotitolo dello schema</a:t>
            </a:r>
            <a:endParaRPr lang="it-IT"/>
          </a:p>
        </p:txBody>
      </p:sp>
      <p:sp>
        <p:nvSpPr>
          <p:cNvPr id="4" name="Segnaposto data 3"/>
          <p:cNvSpPr>
            <a:spLocks noGrp="1"/>
          </p:cNvSpPr>
          <p:nvPr>
            <p:ph type="dt" sz="half" idx="10"/>
          </p:nvPr>
        </p:nvSpPr>
        <p:spPr/>
        <p:txBody>
          <a:bodyPr/>
          <a:lstStyle/>
          <a:p>
            <a:fld id="{7F49D355-16BD-4E45-BD9A-5EA878CF7CBD}" type="datetimeFigureOut">
              <a:rPr lang="it-IT" smtClean="0"/>
              <a:t>30/01/2026</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contenuto 2"/>
          <p:cNvSpPr>
            <a:spLocks noGrp="1"/>
          </p:cNvSpPr>
          <p:nvPr>
            <p:ph idx="1"/>
          </p:nvPr>
        </p:nvSpPr>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p>
            <a:fld id="{7F49D355-16BD-4E45-BD9A-5EA878CF7CBD}" type="datetimeFigureOut">
              <a:rPr lang="it-IT" smtClean="0"/>
              <a:t>30/01/2026</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722313" y="4406900"/>
            <a:ext cx="7772400" cy="1362075"/>
          </a:xfrm>
        </p:spPr>
        <p:txBody>
          <a:bodyPr anchor="t"/>
          <a:lstStyle>
            <a:lvl1pPr algn="l">
              <a:defRPr sz="4000" b="1" cap="all"/>
            </a:lvl1pPr>
          </a:lstStyle>
          <a:p>
            <a:r>
              <a:rPr lang="it-IT" smtClean="0"/>
              <a:t>Fare clic per modificare lo stile del titolo</a:t>
            </a:r>
            <a:endParaRPr lang="it-IT"/>
          </a:p>
        </p:txBody>
      </p:sp>
      <p:sp>
        <p:nvSpPr>
          <p:cNvPr id="3" name="Segnaposto tes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smtClean="0"/>
              <a:t>Fare clic per modificare stili del testo dello schema</a:t>
            </a:r>
          </a:p>
        </p:txBody>
      </p:sp>
      <p:sp>
        <p:nvSpPr>
          <p:cNvPr id="4" name="Segnaposto data 3"/>
          <p:cNvSpPr>
            <a:spLocks noGrp="1"/>
          </p:cNvSpPr>
          <p:nvPr>
            <p:ph type="dt" sz="half" idx="10"/>
          </p:nvPr>
        </p:nvSpPr>
        <p:spPr/>
        <p:txBody>
          <a:bodyPr/>
          <a:lstStyle/>
          <a:p>
            <a:fld id="{7F49D355-16BD-4E45-BD9A-5EA878CF7CBD}" type="datetimeFigureOut">
              <a:rPr lang="it-IT" smtClean="0"/>
              <a:t>30/01/2026</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contenut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contenut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5" name="Segnaposto data 4"/>
          <p:cNvSpPr>
            <a:spLocks noGrp="1"/>
          </p:cNvSpPr>
          <p:nvPr>
            <p:ph type="dt" sz="half" idx="10"/>
          </p:nvPr>
        </p:nvSpPr>
        <p:spPr/>
        <p:txBody>
          <a:bodyPr/>
          <a:lstStyle/>
          <a:p>
            <a:fld id="{7F49D355-16BD-4E45-BD9A-5EA878CF7CBD}" type="datetimeFigureOut">
              <a:rPr lang="it-IT" smtClean="0"/>
              <a:t>30/01/2026</a:t>
            </a:fld>
            <a:endParaRPr lang="it-IT"/>
          </a:p>
        </p:txBody>
      </p:sp>
      <p:sp>
        <p:nvSpPr>
          <p:cNvPr id="6" name="Segnaposto piè di pagina 5"/>
          <p:cNvSpPr>
            <a:spLocks noGrp="1"/>
          </p:cNvSpPr>
          <p:nvPr>
            <p:ph type="ftr" sz="quarter" idx="11"/>
          </p:nvPr>
        </p:nvSpPr>
        <p:spPr/>
        <p:txBody>
          <a:bodyPr/>
          <a:lstStyle/>
          <a:p>
            <a:endParaRPr lang="it-IT"/>
          </a:p>
        </p:txBody>
      </p:sp>
      <p:sp>
        <p:nvSpPr>
          <p:cNvPr id="7" name="Segnaposto numero diapositiva 6"/>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lvl1pPr>
              <a:defRPr/>
            </a:lvl1pPr>
          </a:lstStyle>
          <a:p>
            <a:r>
              <a:rPr lang="it-IT" smtClean="0"/>
              <a:t>Fare clic per modificare lo stile del titolo</a:t>
            </a:r>
            <a:endParaRPr lang="it-IT"/>
          </a:p>
        </p:txBody>
      </p:sp>
      <p:sp>
        <p:nvSpPr>
          <p:cNvPr id="3" name="Segnaposto tes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smtClean="0"/>
              <a:t>Fare clic per modificare stili del testo dello schema</a:t>
            </a:r>
          </a:p>
        </p:txBody>
      </p:sp>
      <p:sp>
        <p:nvSpPr>
          <p:cNvPr id="4" name="Segnaposto contenut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5" name="Segnaposto tes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smtClean="0"/>
              <a:t>Fare clic per modificare stili del testo dello schema</a:t>
            </a:r>
          </a:p>
        </p:txBody>
      </p:sp>
      <p:sp>
        <p:nvSpPr>
          <p:cNvPr id="6" name="Segnaposto contenut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7" name="Segnaposto data 6"/>
          <p:cNvSpPr>
            <a:spLocks noGrp="1"/>
          </p:cNvSpPr>
          <p:nvPr>
            <p:ph type="dt" sz="half" idx="10"/>
          </p:nvPr>
        </p:nvSpPr>
        <p:spPr/>
        <p:txBody>
          <a:bodyPr/>
          <a:lstStyle/>
          <a:p>
            <a:fld id="{7F49D355-16BD-4E45-BD9A-5EA878CF7CBD}" type="datetimeFigureOut">
              <a:rPr lang="it-IT" smtClean="0"/>
              <a:t>30/01/2026</a:t>
            </a:fld>
            <a:endParaRPr lang="it-IT"/>
          </a:p>
        </p:txBody>
      </p:sp>
      <p:sp>
        <p:nvSpPr>
          <p:cNvPr id="8" name="Segnaposto piè di pagina 7"/>
          <p:cNvSpPr>
            <a:spLocks noGrp="1"/>
          </p:cNvSpPr>
          <p:nvPr>
            <p:ph type="ftr" sz="quarter" idx="11"/>
          </p:nvPr>
        </p:nvSpPr>
        <p:spPr/>
        <p:txBody>
          <a:bodyPr/>
          <a:lstStyle/>
          <a:p>
            <a:endParaRPr lang="it-IT"/>
          </a:p>
        </p:txBody>
      </p:sp>
      <p:sp>
        <p:nvSpPr>
          <p:cNvPr id="9" name="Segnaposto numero diapositiva 8"/>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data 2"/>
          <p:cNvSpPr>
            <a:spLocks noGrp="1"/>
          </p:cNvSpPr>
          <p:nvPr>
            <p:ph type="dt" sz="half" idx="10"/>
          </p:nvPr>
        </p:nvSpPr>
        <p:spPr/>
        <p:txBody>
          <a:bodyPr/>
          <a:lstStyle/>
          <a:p>
            <a:fld id="{7F49D355-16BD-4E45-BD9A-5EA878CF7CBD}" type="datetimeFigureOut">
              <a:rPr lang="it-IT" smtClean="0"/>
              <a:t>30/01/2026</a:t>
            </a:fld>
            <a:endParaRPr lang="it-IT"/>
          </a:p>
        </p:txBody>
      </p:sp>
      <p:sp>
        <p:nvSpPr>
          <p:cNvPr id="4" name="Segnaposto piè di pagina 3"/>
          <p:cNvSpPr>
            <a:spLocks noGrp="1"/>
          </p:cNvSpPr>
          <p:nvPr>
            <p:ph type="ftr" sz="quarter" idx="11"/>
          </p:nvPr>
        </p:nvSpPr>
        <p:spPr/>
        <p:txBody>
          <a:bodyPr/>
          <a:lstStyle/>
          <a:p>
            <a:endParaRPr lang="it-IT"/>
          </a:p>
        </p:txBody>
      </p:sp>
      <p:sp>
        <p:nvSpPr>
          <p:cNvPr id="5" name="Segnaposto numero diapositiva 4"/>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p:cNvSpPr>
            <a:spLocks noGrp="1"/>
          </p:cNvSpPr>
          <p:nvPr>
            <p:ph type="dt" sz="half" idx="10"/>
          </p:nvPr>
        </p:nvSpPr>
        <p:spPr/>
        <p:txBody>
          <a:bodyPr/>
          <a:lstStyle/>
          <a:p>
            <a:fld id="{7F49D355-16BD-4E45-BD9A-5EA878CF7CBD}" type="datetimeFigureOut">
              <a:rPr lang="it-IT" smtClean="0"/>
              <a:t>30/01/2026</a:t>
            </a:fld>
            <a:endParaRPr lang="it-IT"/>
          </a:p>
        </p:txBody>
      </p:sp>
      <p:sp>
        <p:nvSpPr>
          <p:cNvPr id="3" name="Segnaposto piè di pagina 2"/>
          <p:cNvSpPr>
            <a:spLocks noGrp="1"/>
          </p:cNvSpPr>
          <p:nvPr>
            <p:ph type="ftr" sz="quarter" idx="11"/>
          </p:nvPr>
        </p:nvSpPr>
        <p:spPr/>
        <p:txBody>
          <a:bodyPr/>
          <a:lstStyle/>
          <a:p>
            <a:endParaRPr lang="it-IT"/>
          </a:p>
        </p:txBody>
      </p:sp>
      <p:sp>
        <p:nvSpPr>
          <p:cNvPr id="4" name="Segnaposto numero diapositiva 3"/>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457200" y="273050"/>
            <a:ext cx="3008313" cy="1162050"/>
          </a:xfrm>
        </p:spPr>
        <p:txBody>
          <a:bodyPr anchor="b"/>
          <a:lstStyle>
            <a:lvl1pPr algn="l">
              <a:defRPr sz="2000" b="1"/>
            </a:lvl1pPr>
          </a:lstStyle>
          <a:p>
            <a:r>
              <a:rPr lang="it-IT" smtClean="0"/>
              <a:t>Fare clic per modificare lo stile del titolo</a:t>
            </a:r>
            <a:endParaRPr lang="it-IT"/>
          </a:p>
        </p:txBody>
      </p:sp>
      <p:sp>
        <p:nvSpPr>
          <p:cNvPr id="3" name="Segnaposto contenut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tes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smtClean="0"/>
              <a:t>Fare clic per modificare stili del testo dello schema</a:t>
            </a:r>
          </a:p>
        </p:txBody>
      </p:sp>
      <p:sp>
        <p:nvSpPr>
          <p:cNvPr id="5" name="Segnaposto data 4"/>
          <p:cNvSpPr>
            <a:spLocks noGrp="1"/>
          </p:cNvSpPr>
          <p:nvPr>
            <p:ph type="dt" sz="half" idx="10"/>
          </p:nvPr>
        </p:nvSpPr>
        <p:spPr/>
        <p:txBody>
          <a:bodyPr/>
          <a:lstStyle/>
          <a:p>
            <a:fld id="{7F49D355-16BD-4E45-BD9A-5EA878CF7CBD}" type="datetimeFigureOut">
              <a:rPr lang="it-IT" smtClean="0"/>
              <a:t>30/01/2026</a:t>
            </a:fld>
            <a:endParaRPr lang="it-IT"/>
          </a:p>
        </p:txBody>
      </p:sp>
      <p:sp>
        <p:nvSpPr>
          <p:cNvPr id="6" name="Segnaposto piè di pagina 5"/>
          <p:cNvSpPr>
            <a:spLocks noGrp="1"/>
          </p:cNvSpPr>
          <p:nvPr>
            <p:ph type="ftr" sz="quarter" idx="11"/>
          </p:nvPr>
        </p:nvSpPr>
        <p:spPr/>
        <p:txBody>
          <a:bodyPr/>
          <a:lstStyle/>
          <a:p>
            <a:endParaRPr lang="it-IT"/>
          </a:p>
        </p:txBody>
      </p:sp>
      <p:sp>
        <p:nvSpPr>
          <p:cNvPr id="7" name="Segnaposto numero diapositiva 6"/>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1792288" y="4800600"/>
            <a:ext cx="5486400" cy="566738"/>
          </a:xfrm>
        </p:spPr>
        <p:txBody>
          <a:bodyPr anchor="b"/>
          <a:lstStyle>
            <a:lvl1pPr algn="l">
              <a:defRPr sz="2000" b="1"/>
            </a:lvl1pPr>
          </a:lstStyle>
          <a:p>
            <a:r>
              <a:rPr lang="it-IT" smtClean="0"/>
              <a:t>Fare clic per modificare lo stile del titolo</a:t>
            </a:r>
            <a:endParaRPr lang="it-IT"/>
          </a:p>
        </p:txBody>
      </p:sp>
      <p:sp>
        <p:nvSpPr>
          <p:cNvPr id="3" name="Segnaposto immagin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smtClean="0"/>
              <a:t>Fare clic per modificare stili del testo dello schema</a:t>
            </a:r>
          </a:p>
        </p:txBody>
      </p:sp>
      <p:sp>
        <p:nvSpPr>
          <p:cNvPr id="5" name="Segnaposto data 4"/>
          <p:cNvSpPr>
            <a:spLocks noGrp="1"/>
          </p:cNvSpPr>
          <p:nvPr>
            <p:ph type="dt" sz="half" idx="10"/>
          </p:nvPr>
        </p:nvSpPr>
        <p:spPr/>
        <p:txBody>
          <a:bodyPr/>
          <a:lstStyle/>
          <a:p>
            <a:fld id="{7F49D355-16BD-4E45-BD9A-5EA878CF7CBD}" type="datetimeFigureOut">
              <a:rPr lang="it-IT" smtClean="0"/>
              <a:t>30/01/2026</a:t>
            </a:fld>
            <a:endParaRPr lang="it-IT"/>
          </a:p>
        </p:txBody>
      </p:sp>
      <p:sp>
        <p:nvSpPr>
          <p:cNvPr id="6" name="Segnaposto piè di pagina 5"/>
          <p:cNvSpPr>
            <a:spLocks noGrp="1"/>
          </p:cNvSpPr>
          <p:nvPr>
            <p:ph type="ftr" sz="quarter" idx="11"/>
          </p:nvPr>
        </p:nvSpPr>
        <p:spPr/>
        <p:txBody>
          <a:bodyPr/>
          <a:lstStyle/>
          <a:p>
            <a:endParaRPr lang="it-IT"/>
          </a:p>
        </p:txBody>
      </p:sp>
      <p:sp>
        <p:nvSpPr>
          <p:cNvPr id="7" name="Segnaposto numero diapositiva 6"/>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testo verticale 2"/>
          <p:cNvSpPr>
            <a:spLocks noGrp="1"/>
          </p:cNvSpPr>
          <p:nvPr>
            <p:ph type="body" orient="vert" idx="1"/>
          </p:nvPr>
        </p:nvSpPr>
        <p:spPr/>
        <p:txBody>
          <a:bodyPr vert="eaVert"/>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p>
            <a:fld id="{7F49D355-16BD-4E45-BD9A-5EA878CF7CBD}" type="datetimeFigureOut">
              <a:rPr lang="it-IT" smtClean="0"/>
              <a:t>30/01/2026</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6629400" y="274638"/>
            <a:ext cx="2057400" cy="5851525"/>
          </a:xfrm>
        </p:spPr>
        <p:txBody>
          <a:bodyPr vert="eaVert"/>
          <a:lstStyle/>
          <a:p>
            <a:r>
              <a:rPr lang="it-IT" smtClean="0"/>
              <a:t>Fare clic per modificare lo stile del titolo</a:t>
            </a:r>
            <a:endParaRPr lang="it-IT"/>
          </a:p>
        </p:txBody>
      </p:sp>
      <p:sp>
        <p:nvSpPr>
          <p:cNvPr id="3" name="Segnaposto testo verticale 2"/>
          <p:cNvSpPr>
            <a:spLocks noGrp="1"/>
          </p:cNvSpPr>
          <p:nvPr>
            <p:ph type="body" orient="vert" idx="1"/>
          </p:nvPr>
        </p:nvSpPr>
        <p:spPr>
          <a:xfrm>
            <a:off x="457200" y="274638"/>
            <a:ext cx="6019800" cy="5851525"/>
          </a:xfrm>
        </p:spPr>
        <p:txBody>
          <a:bodyPr vert="eaVert"/>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p>
            <a:fld id="{7F49D355-16BD-4E45-BD9A-5EA878CF7CBD}" type="datetimeFigureOut">
              <a:rPr lang="it-IT" smtClean="0"/>
              <a:t>30/01/2026</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E7A41E1B-4F70-4964-A407-84C68BE8251C}" type="slidenum">
              <a:rPr lang="it-IT" smtClean="0"/>
              <a:t>‹N›</a:t>
            </a:fld>
            <a:endParaRPr lang="it-IT"/>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it-IT" smtClean="0"/>
              <a:t>Fare clic per modificare lo stile del titolo</a:t>
            </a:r>
            <a:endParaRPr lang="it-IT"/>
          </a:p>
        </p:txBody>
      </p:sp>
      <p:sp>
        <p:nvSpPr>
          <p:cNvPr id="3" name="Segnaposto tes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49D355-16BD-4E45-BD9A-5EA878CF7CBD}" type="datetimeFigureOut">
              <a:rPr lang="it-IT" smtClean="0"/>
              <a:t>30/01/2026</a:t>
            </a:fld>
            <a:endParaRPr lang="it-IT"/>
          </a:p>
        </p:txBody>
      </p:sp>
      <p:sp>
        <p:nvSpPr>
          <p:cNvPr id="5" name="Segnaposto piè di pagina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a:p>
        </p:txBody>
      </p:sp>
      <p:sp>
        <p:nvSpPr>
          <p:cNvPr id="6" name="Segnaposto numero diapositiva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A41E1B-4F70-4964-A407-84C68BE8251C}" type="slidenum">
              <a:rPr lang="it-IT" smtClean="0"/>
              <a:t>‹N›</a:t>
            </a:fld>
            <a:endParaRPr lang="it-I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201434" y="2532966"/>
            <a:ext cx="8784976" cy="400110"/>
          </a:xfrm>
          <a:prstGeom prst="rect">
            <a:avLst/>
          </a:prstGeom>
        </p:spPr>
        <p:txBody>
          <a:bodyPr wrap="square">
            <a:spAutoFit/>
          </a:bodyPr>
          <a:lstStyle/>
          <a:p>
            <a:r>
              <a:rPr lang="en-US" sz="2000" b="1" dirty="0">
                <a:latin typeface="Times New Roman" panose="02020603050405020304" pitchFamily="18" charset="0"/>
                <a:cs typeface="Times New Roman" panose="02020603050405020304" pitchFamily="18" charset="0"/>
              </a:rPr>
              <a:t>Magneto: Combining Small and Large Language Models for Schema Matching</a:t>
            </a:r>
            <a:endParaRPr lang="it-IT"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799815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395536" y="2132856"/>
            <a:ext cx="8424936" cy="1231106"/>
          </a:xfrm>
          <a:prstGeom prst="rect">
            <a:avLst/>
          </a:prstGeom>
        </p:spPr>
        <p:txBody>
          <a:bodyPr wrap="square">
            <a:spAutoFit/>
          </a:bodyPr>
          <a:lstStyle/>
          <a:p>
            <a:r>
              <a:rPr lang="it-IT" sz="2000" b="1" dirty="0">
                <a:latin typeface="Times New Roman" panose="02020603050405020304" pitchFamily="18" charset="0"/>
                <a:cs typeface="Times New Roman" panose="02020603050405020304" pitchFamily="18" charset="0"/>
              </a:rPr>
              <a:t>Il problema (Schema </a:t>
            </a:r>
            <a:r>
              <a:rPr lang="it-IT" sz="2000" b="1" dirty="0" err="1">
                <a:latin typeface="Times New Roman" panose="02020603050405020304" pitchFamily="18" charset="0"/>
                <a:cs typeface="Times New Roman" panose="02020603050405020304" pitchFamily="18" charset="0"/>
              </a:rPr>
              <a:t>Matching</a:t>
            </a:r>
            <a:r>
              <a:rPr lang="it-IT" sz="2000" b="1" dirty="0" smtClean="0">
                <a:latin typeface="Times New Roman" panose="02020603050405020304" pitchFamily="18" charset="0"/>
                <a:cs typeface="Times New Roman" panose="02020603050405020304" pitchFamily="18" charset="0"/>
              </a:rPr>
              <a:t>)</a:t>
            </a:r>
          </a:p>
          <a:p>
            <a:endParaRPr lang="it-IT" dirty="0" smtClean="0"/>
          </a:p>
          <a:p>
            <a:r>
              <a:rPr lang="it-IT" dirty="0" smtClean="0">
                <a:latin typeface="Times New Roman" panose="02020603050405020304" pitchFamily="18" charset="0"/>
                <a:cs typeface="Times New Roman" panose="02020603050405020304" pitchFamily="18" charset="0"/>
              </a:rPr>
              <a:t>Cos’è </a:t>
            </a:r>
            <a:r>
              <a:rPr lang="it-IT" dirty="0">
                <a:latin typeface="Times New Roman" panose="02020603050405020304" pitchFamily="18" charset="0"/>
                <a:cs typeface="Times New Roman" panose="02020603050405020304" pitchFamily="18" charset="0"/>
              </a:rPr>
              <a:t>lo schema </a:t>
            </a:r>
            <a:r>
              <a:rPr lang="it-IT" dirty="0" err="1" smtClean="0">
                <a:latin typeface="Times New Roman" panose="02020603050405020304" pitchFamily="18" charset="0"/>
                <a:cs typeface="Times New Roman" panose="02020603050405020304" pitchFamily="18" charset="0"/>
              </a:rPr>
              <a:t>matching</a:t>
            </a:r>
            <a:r>
              <a:rPr lang="it-IT" dirty="0">
                <a:latin typeface="Times New Roman" panose="02020603050405020304" pitchFamily="18" charset="0"/>
                <a:cs typeface="Times New Roman" panose="02020603050405020304" pitchFamily="18" charset="0"/>
              </a:rPr>
              <a:t>: Trovare quali colonne di due </a:t>
            </a:r>
            <a:r>
              <a:rPr lang="it-IT" dirty="0" err="1">
                <a:latin typeface="Times New Roman" panose="02020603050405020304" pitchFamily="18" charset="0"/>
                <a:cs typeface="Times New Roman" panose="02020603050405020304" pitchFamily="18" charset="0"/>
              </a:rPr>
              <a:t>dataset</a:t>
            </a:r>
            <a:r>
              <a:rPr lang="it-IT" dirty="0">
                <a:latin typeface="Times New Roman" panose="02020603050405020304" pitchFamily="18" charset="0"/>
                <a:cs typeface="Times New Roman" panose="02020603050405020304" pitchFamily="18" charset="0"/>
              </a:rPr>
              <a:t> diversi rappresentano lo stesso concetto.</a:t>
            </a:r>
          </a:p>
        </p:txBody>
      </p:sp>
      <p:sp>
        <p:nvSpPr>
          <p:cNvPr id="8" name="Rettangolo 7"/>
          <p:cNvSpPr/>
          <p:nvPr/>
        </p:nvSpPr>
        <p:spPr>
          <a:xfrm>
            <a:off x="359532" y="4077072"/>
            <a:ext cx="8424936" cy="1477328"/>
          </a:xfrm>
          <a:prstGeom prst="rect">
            <a:avLst/>
          </a:prstGeom>
        </p:spPr>
        <p:txBody>
          <a:bodyPr wrap="square">
            <a:spAutoFit/>
          </a:bodyPr>
          <a:lstStyle/>
          <a:p>
            <a:pPr algn="just"/>
            <a:r>
              <a:rPr lang="it-IT" dirty="0">
                <a:latin typeface="Times New Roman" panose="02020603050405020304" pitchFamily="18" charset="0"/>
                <a:cs typeface="Times New Roman" panose="02020603050405020304" pitchFamily="18" charset="0"/>
              </a:rPr>
              <a:t>Lo schema </a:t>
            </a:r>
            <a:r>
              <a:rPr lang="it-IT" dirty="0" err="1">
                <a:latin typeface="Times New Roman" panose="02020603050405020304" pitchFamily="18" charset="0"/>
                <a:cs typeface="Times New Roman" panose="02020603050405020304" pitchFamily="18" charset="0"/>
              </a:rPr>
              <a:t>matching</a:t>
            </a:r>
            <a:r>
              <a:rPr lang="it-IT" dirty="0">
                <a:latin typeface="Times New Roman" panose="02020603050405020304" pitchFamily="18" charset="0"/>
                <a:cs typeface="Times New Roman" panose="02020603050405020304" pitchFamily="18" charset="0"/>
              </a:rPr>
              <a:t> rappresenta uno dei problemi fondamentali nell’ambito dell’integrazione dei dati. Ogni volta che si desidera combinare informazioni provenienti da sorgenti eterogenee, diventa necessario stabilire quali attributi di una tabella corrispondano semanticamente agli attributi di un’altra. </a:t>
            </a:r>
            <a:r>
              <a:rPr lang="it-IT" dirty="0" smtClean="0">
                <a:latin typeface="Times New Roman" panose="02020603050405020304" pitchFamily="18" charset="0"/>
                <a:cs typeface="Times New Roman" panose="02020603050405020304" pitchFamily="18" charset="0"/>
              </a:rPr>
              <a:t>Specialmente </a:t>
            </a:r>
            <a:r>
              <a:rPr lang="it-IT" dirty="0">
                <a:latin typeface="Times New Roman" panose="02020603050405020304" pitchFamily="18" charset="0"/>
                <a:cs typeface="Times New Roman" panose="02020603050405020304" pitchFamily="18" charset="0"/>
              </a:rPr>
              <a:t>quando i dati provengono da contesti reali, rumorosi e semanticamente complessi</a:t>
            </a:r>
          </a:p>
        </p:txBody>
      </p:sp>
    </p:spTree>
    <p:extLst>
      <p:ext uri="{BB962C8B-B14F-4D97-AF65-F5344CB8AC3E}">
        <p14:creationId xmlns:p14="http://schemas.microsoft.com/office/powerpoint/2010/main" val="339374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179512" y="2204864"/>
            <a:ext cx="8640960" cy="400110"/>
          </a:xfrm>
          <a:prstGeom prst="rect">
            <a:avLst/>
          </a:prstGeom>
        </p:spPr>
        <p:txBody>
          <a:bodyPr wrap="square">
            <a:spAutoFit/>
          </a:bodyPr>
          <a:lstStyle/>
          <a:p>
            <a:r>
              <a:rPr lang="it-IT" sz="2000" b="1" dirty="0">
                <a:latin typeface="Times New Roman" panose="02020603050405020304" pitchFamily="18" charset="0"/>
                <a:cs typeface="Times New Roman" panose="02020603050405020304" pitchFamily="18" charset="0"/>
              </a:rPr>
              <a:t>Problema: i nomi sono diversi, i valori diversi, serve comprensione semantica.</a:t>
            </a:r>
          </a:p>
        </p:txBody>
      </p:sp>
      <p:sp>
        <p:nvSpPr>
          <p:cNvPr id="8" name="Rettangolo 7"/>
          <p:cNvSpPr/>
          <p:nvPr/>
        </p:nvSpPr>
        <p:spPr>
          <a:xfrm>
            <a:off x="147296" y="2924944"/>
            <a:ext cx="8673175" cy="923330"/>
          </a:xfrm>
          <a:prstGeom prst="rect">
            <a:avLst/>
          </a:prstGeom>
        </p:spPr>
        <p:txBody>
          <a:bodyPr wrap="square">
            <a:spAutoFit/>
          </a:bodyPr>
          <a:lstStyle/>
          <a:p>
            <a:pPr algn="just"/>
            <a:r>
              <a:rPr lang="it-IT" dirty="0">
                <a:latin typeface="Times New Roman" panose="02020603050405020304" pitchFamily="18" charset="0"/>
                <a:cs typeface="Times New Roman" panose="02020603050405020304" pitchFamily="18" charset="0"/>
              </a:rPr>
              <a:t>Perché è difficile nei dati </a:t>
            </a:r>
            <a:r>
              <a:rPr lang="it-IT" dirty="0" err="1">
                <a:latin typeface="Times New Roman" panose="02020603050405020304" pitchFamily="18" charset="0"/>
                <a:cs typeface="Times New Roman" panose="02020603050405020304" pitchFamily="18" charset="0"/>
              </a:rPr>
              <a:t>realiCaso</a:t>
            </a:r>
            <a:r>
              <a:rPr lang="it-IT" dirty="0">
                <a:latin typeface="Times New Roman" panose="02020603050405020304" pitchFamily="18" charset="0"/>
                <a:cs typeface="Times New Roman" panose="02020603050405020304" pitchFamily="18" charset="0"/>
              </a:rPr>
              <a:t> reale dall’articolo (dominio biomedico):10 dataset700+ attributi standard (GDC)Colonne con nomi </a:t>
            </a:r>
            <a:r>
              <a:rPr lang="it-IT" dirty="0" err="1">
                <a:latin typeface="Times New Roman" panose="02020603050405020304" pitchFamily="18" charset="0"/>
                <a:cs typeface="Times New Roman" panose="02020603050405020304" pitchFamily="18" charset="0"/>
              </a:rPr>
              <a:t>ambiguiNecessaria</a:t>
            </a:r>
            <a:r>
              <a:rPr lang="it-IT" dirty="0">
                <a:latin typeface="Times New Roman" panose="02020603050405020304" pitchFamily="18" charset="0"/>
                <a:cs typeface="Times New Roman" panose="02020603050405020304" pitchFamily="18" charset="0"/>
              </a:rPr>
              <a:t> conoscenza di </a:t>
            </a:r>
            <a:r>
              <a:rPr lang="it-IT" dirty="0" err="1">
                <a:latin typeface="Times New Roman" panose="02020603050405020304" pitchFamily="18" charset="0"/>
                <a:cs typeface="Times New Roman" panose="02020603050405020304" pitchFamily="18" charset="0"/>
              </a:rPr>
              <a:t>dominioMetodi</a:t>
            </a:r>
            <a:r>
              <a:rPr lang="it-IT" dirty="0">
                <a:latin typeface="Times New Roman" panose="02020603050405020304" pitchFamily="18" charset="0"/>
                <a:cs typeface="Times New Roman" panose="02020603050405020304" pitchFamily="18" charset="0"/>
              </a:rPr>
              <a:t> classici (stringhe, regole, grafi) → falliscono.</a:t>
            </a:r>
          </a:p>
        </p:txBody>
      </p:sp>
      <p:sp>
        <p:nvSpPr>
          <p:cNvPr id="9" name="Rettangolo 8"/>
          <p:cNvSpPr/>
          <p:nvPr/>
        </p:nvSpPr>
        <p:spPr>
          <a:xfrm>
            <a:off x="147297" y="4293096"/>
            <a:ext cx="8673174" cy="1200329"/>
          </a:xfrm>
          <a:prstGeom prst="rect">
            <a:avLst/>
          </a:prstGeom>
        </p:spPr>
        <p:txBody>
          <a:bodyPr wrap="square">
            <a:spAutoFit/>
          </a:bodyPr>
          <a:lstStyle/>
          <a:p>
            <a:pPr algn="just"/>
            <a:r>
              <a:rPr lang="it-IT" dirty="0">
                <a:latin typeface="Times New Roman" panose="02020603050405020304" pitchFamily="18" charset="0"/>
                <a:cs typeface="Times New Roman" panose="02020603050405020304" pitchFamily="18" charset="0"/>
              </a:rPr>
              <a:t>L’articolo “</a:t>
            </a:r>
            <a:r>
              <a:rPr lang="it-IT" dirty="0" err="1">
                <a:latin typeface="Times New Roman" panose="02020603050405020304" pitchFamily="18" charset="0"/>
                <a:cs typeface="Times New Roman" panose="02020603050405020304" pitchFamily="18" charset="0"/>
              </a:rPr>
              <a:t>Magneto</a:t>
            </a:r>
            <a:r>
              <a:rPr lang="it-IT" dirty="0">
                <a:latin typeface="Times New Roman" panose="02020603050405020304" pitchFamily="18" charset="0"/>
                <a:cs typeface="Times New Roman" panose="02020603050405020304" pitchFamily="18" charset="0"/>
              </a:rPr>
              <a:t>: </a:t>
            </a:r>
            <a:r>
              <a:rPr lang="it-IT" dirty="0" err="1">
                <a:latin typeface="Times New Roman" panose="02020603050405020304" pitchFamily="18" charset="0"/>
                <a:cs typeface="Times New Roman" panose="02020603050405020304" pitchFamily="18" charset="0"/>
              </a:rPr>
              <a:t>Combining</a:t>
            </a:r>
            <a:r>
              <a:rPr lang="it-IT" dirty="0">
                <a:latin typeface="Times New Roman" panose="02020603050405020304" pitchFamily="18" charset="0"/>
                <a:cs typeface="Times New Roman" panose="02020603050405020304" pitchFamily="18" charset="0"/>
              </a:rPr>
              <a:t> Small and Large Language </a:t>
            </a:r>
            <a:r>
              <a:rPr lang="it-IT" dirty="0" err="1">
                <a:latin typeface="Times New Roman" panose="02020603050405020304" pitchFamily="18" charset="0"/>
                <a:cs typeface="Times New Roman" panose="02020603050405020304" pitchFamily="18" charset="0"/>
              </a:rPr>
              <a:t>Models</a:t>
            </a:r>
            <a:r>
              <a:rPr lang="it-IT" dirty="0">
                <a:latin typeface="Times New Roman" panose="02020603050405020304" pitchFamily="18" charset="0"/>
                <a:cs typeface="Times New Roman" panose="02020603050405020304" pitchFamily="18" charset="0"/>
              </a:rPr>
              <a:t> for Schema </a:t>
            </a:r>
            <a:r>
              <a:rPr lang="it-IT" dirty="0" err="1">
                <a:latin typeface="Times New Roman" panose="02020603050405020304" pitchFamily="18" charset="0"/>
                <a:cs typeface="Times New Roman" panose="02020603050405020304" pitchFamily="18" charset="0"/>
              </a:rPr>
              <a:t>Matching</a:t>
            </a:r>
            <a:r>
              <a:rPr lang="it-IT" dirty="0">
                <a:latin typeface="Times New Roman" panose="02020603050405020304" pitchFamily="18" charset="0"/>
                <a:cs typeface="Times New Roman" panose="02020603050405020304" pitchFamily="18" charset="0"/>
              </a:rPr>
              <a:t>” affronta questo problema introducendo un nuovo </a:t>
            </a:r>
            <a:r>
              <a:rPr lang="it-IT" dirty="0" err="1">
                <a:latin typeface="Times New Roman" panose="02020603050405020304" pitchFamily="18" charset="0"/>
                <a:cs typeface="Times New Roman" panose="02020603050405020304" pitchFamily="18" charset="0"/>
              </a:rPr>
              <a:t>framework</a:t>
            </a:r>
            <a:r>
              <a:rPr lang="it-IT" dirty="0">
                <a:latin typeface="Times New Roman" panose="02020603050405020304" pitchFamily="18" charset="0"/>
                <a:cs typeface="Times New Roman" panose="02020603050405020304" pitchFamily="18" charset="0"/>
              </a:rPr>
              <a:t> che sfrutta in modo complementare le capacità dei Small Language </a:t>
            </a:r>
            <a:r>
              <a:rPr lang="it-IT" dirty="0" err="1">
                <a:latin typeface="Times New Roman" panose="02020603050405020304" pitchFamily="18" charset="0"/>
                <a:cs typeface="Times New Roman" panose="02020603050405020304" pitchFamily="18" charset="0"/>
              </a:rPr>
              <a:t>Models</a:t>
            </a:r>
            <a:r>
              <a:rPr lang="it-IT" dirty="0">
                <a:latin typeface="Times New Roman" panose="02020603050405020304" pitchFamily="18" charset="0"/>
                <a:cs typeface="Times New Roman" panose="02020603050405020304" pitchFamily="18" charset="0"/>
              </a:rPr>
              <a:t> (SLM) e dei Large Language </a:t>
            </a:r>
            <a:r>
              <a:rPr lang="it-IT" dirty="0" err="1">
                <a:latin typeface="Times New Roman" panose="02020603050405020304" pitchFamily="18" charset="0"/>
                <a:cs typeface="Times New Roman" panose="02020603050405020304" pitchFamily="18" charset="0"/>
              </a:rPr>
              <a:t>Models</a:t>
            </a:r>
            <a:r>
              <a:rPr lang="it-IT" dirty="0">
                <a:latin typeface="Times New Roman" panose="02020603050405020304" pitchFamily="18" charset="0"/>
                <a:cs typeface="Times New Roman" panose="02020603050405020304" pitchFamily="18" charset="0"/>
              </a:rPr>
              <a:t> (LLM). </a:t>
            </a:r>
          </a:p>
        </p:txBody>
      </p:sp>
    </p:spTree>
    <p:extLst>
      <p:ext uri="{BB962C8B-B14F-4D97-AF65-F5344CB8AC3E}">
        <p14:creationId xmlns:p14="http://schemas.microsoft.com/office/powerpoint/2010/main" val="3393742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251520" y="2132856"/>
            <a:ext cx="8496944" cy="2616101"/>
          </a:xfrm>
          <a:prstGeom prst="rect">
            <a:avLst/>
          </a:prstGeom>
        </p:spPr>
        <p:txBody>
          <a:bodyPr wrap="square">
            <a:spAutoFit/>
          </a:bodyPr>
          <a:lstStyle/>
          <a:p>
            <a:pPr algn="just"/>
            <a:r>
              <a:rPr lang="it-IT" sz="2000" b="1" dirty="0">
                <a:latin typeface="Times New Roman" panose="02020603050405020304" pitchFamily="18" charset="0"/>
                <a:cs typeface="Times New Roman" panose="02020603050405020304" pitchFamily="18" charset="0"/>
              </a:rPr>
              <a:t>Perché usare i Language </a:t>
            </a:r>
            <a:r>
              <a:rPr lang="it-IT" sz="2000" b="1" dirty="0" err="1" smtClean="0">
                <a:latin typeface="Times New Roman" panose="02020603050405020304" pitchFamily="18" charset="0"/>
                <a:cs typeface="Times New Roman" panose="02020603050405020304" pitchFamily="18" charset="0"/>
              </a:rPr>
              <a:t>Models</a:t>
            </a:r>
            <a:endParaRPr lang="it-IT" sz="2000" b="1" dirty="0" smtClean="0">
              <a:latin typeface="Times New Roman" panose="02020603050405020304" pitchFamily="18" charset="0"/>
              <a:cs typeface="Times New Roman" panose="02020603050405020304" pitchFamily="18" charset="0"/>
            </a:endParaRPr>
          </a:p>
          <a:p>
            <a:pPr algn="just"/>
            <a:endParaRPr lang="it-IT" dirty="0" smtClean="0">
              <a:latin typeface="Times New Roman" panose="02020603050405020304" pitchFamily="18" charset="0"/>
              <a:cs typeface="Times New Roman" panose="02020603050405020304" pitchFamily="18" charset="0"/>
            </a:endParaRPr>
          </a:p>
          <a:p>
            <a:pPr algn="just"/>
            <a:r>
              <a:rPr lang="it-IT" dirty="0" smtClean="0">
                <a:latin typeface="Times New Roman" panose="02020603050405020304" pitchFamily="18" charset="0"/>
                <a:cs typeface="Times New Roman" panose="02020603050405020304" pitchFamily="18" charset="0"/>
              </a:rPr>
              <a:t>Gli </a:t>
            </a:r>
            <a:r>
              <a:rPr lang="it-IT" dirty="0">
                <a:latin typeface="Times New Roman" panose="02020603050405020304" pitchFamily="18" charset="0"/>
                <a:cs typeface="Times New Roman" panose="02020603050405020304" pitchFamily="18" charset="0"/>
              </a:rPr>
              <a:t>LLM/SLM rappresentano il testo come vettori semantici (</a:t>
            </a:r>
            <a:r>
              <a:rPr lang="it-IT" dirty="0" err="1">
                <a:latin typeface="Times New Roman" panose="02020603050405020304" pitchFamily="18" charset="0"/>
                <a:cs typeface="Times New Roman" panose="02020603050405020304" pitchFamily="18" charset="0"/>
              </a:rPr>
              <a:t>embedding</a:t>
            </a:r>
            <a:r>
              <a:rPr lang="it-IT" dirty="0" smtClean="0">
                <a:latin typeface="Times New Roman" panose="02020603050405020304" pitchFamily="18" charset="0"/>
                <a:cs typeface="Times New Roman" panose="02020603050405020304" pitchFamily="18" charset="0"/>
              </a:rPr>
              <a:t>). </a:t>
            </a:r>
          </a:p>
          <a:p>
            <a:pPr algn="just"/>
            <a:r>
              <a:rPr lang="it-IT" dirty="0" smtClean="0">
                <a:latin typeface="Times New Roman" panose="02020603050405020304" pitchFamily="18" charset="0"/>
                <a:cs typeface="Times New Roman" panose="02020603050405020304" pitchFamily="18" charset="0"/>
              </a:rPr>
              <a:t>Colonne </a:t>
            </a:r>
            <a:r>
              <a:rPr lang="it-IT" dirty="0">
                <a:latin typeface="Times New Roman" panose="02020603050405020304" pitchFamily="18" charset="0"/>
                <a:cs typeface="Times New Roman" panose="02020603050405020304" pitchFamily="18" charset="0"/>
              </a:rPr>
              <a:t>simili → vettori vicini → cosine </a:t>
            </a:r>
            <a:r>
              <a:rPr lang="it-IT" dirty="0" err="1">
                <a:latin typeface="Times New Roman" panose="02020603050405020304" pitchFamily="18" charset="0"/>
                <a:cs typeface="Times New Roman" panose="02020603050405020304" pitchFamily="18" charset="0"/>
              </a:rPr>
              <a:t>similarity</a:t>
            </a:r>
            <a:r>
              <a:rPr lang="it-IT" dirty="0">
                <a:latin typeface="Times New Roman" panose="02020603050405020304" pitchFamily="18" charset="0"/>
                <a:cs typeface="Times New Roman" panose="02020603050405020304" pitchFamily="18" charset="0"/>
              </a:rPr>
              <a:t> alta</a:t>
            </a:r>
            <a:r>
              <a:rPr lang="it-IT" dirty="0" smtClean="0">
                <a:latin typeface="Times New Roman" panose="02020603050405020304" pitchFamily="18" charset="0"/>
                <a:cs typeface="Times New Roman" panose="02020603050405020304" pitchFamily="18" charset="0"/>
              </a:rPr>
              <a:t>.</a:t>
            </a:r>
          </a:p>
          <a:p>
            <a:pPr algn="just"/>
            <a:r>
              <a:rPr lang="it-IT" dirty="0" smtClean="0">
                <a:latin typeface="Times New Roman" panose="02020603050405020304" pitchFamily="18" charset="0"/>
                <a:cs typeface="Times New Roman" panose="02020603050405020304" pitchFamily="18" charset="0"/>
              </a:rPr>
              <a:t>Ma:</a:t>
            </a:r>
          </a:p>
          <a:p>
            <a:pPr algn="just"/>
            <a:r>
              <a:rPr lang="it-IT" dirty="0">
                <a:latin typeface="Times New Roman" panose="02020603050405020304" pitchFamily="18" charset="0"/>
                <a:cs typeface="Times New Roman" panose="02020603050405020304" pitchFamily="18" charset="0"/>
              </a:rPr>
              <a:t> </a:t>
            </a:r>
            <a:r>
              <a:rPr lang="it-IT" dirty="0" smtClean="0">
                <a:latin typeface="Times New Roman" panose="02020603050405020304" pitchFamily="18" charset="0"/>
                <a:cs typeface="Times New Roman" panose="02020603050405020304" pitchFamily="18" charset="0"/>
              </a:rPr>
              <a:t>                                             SLM</a:t>
            </a:r>
            <a:r>
              <a:rPr lang="it-IT" dirty="0">
                <a:latin typeface="Times New Roman" panose="02020603050405020304" pitchFamily="18" charset="0"/>
                <a:cs typeface="Times New Roman" panose="02020603050405020304" pitchFamily="18" charset="0"/>
              </a:rPr>
              <a:t>	</a:t>
            </a:r>
            <a:r>
              <a:rPr lang="it-IT" dirty="0" smtClean="0">
                <a:latin typeface="Times New Roman" panose="02020603050405020304" pitchFamily="18" charset="0"/>
                <a:cs typeface="Times New Roman" panose="02020603050405020304" pitchFamily="18" charset="0"/>
              </a:rPr>
              <a:t>                 LLM</a:t>
            </a:r>
          </a:p>
          <a:p>
            <a:pPr algn="just"/>
            <a:r>
              <a:rPr lang="it-IT" dirty="0" smtClean="0">
                <a:latin typeface="Times New Roman" panose="02020603050405020304" pitchFamily="18" charset="0"/>
                <a:cs typeface="Times New Roman" panose="02020603050405020304" pitchFamily="18" charset="0"/>
              </a:rPr>
              <a:t>                                              Veloci</a:t>
            </a:r>
            <a:r>
              <a:rPr lang="it-IT" dirty="0">
                <a:latin typeface="Times New Roman" panose="02020603050405020304" pitchFamily="18" charset="0"/>
                <a:cs typeface="Times New Roman" panose="02020603050405020304" pitchFamily="18" charset="0"/>
              </a:rPr>
              <a:t>	</a:t>
            </a:r>
            <a:r>
              <a:rPr lang="it-IT" dirty="0" smtClean="0">
                <a:latin typeface="Times New Roman" panose="02020603050405020304" pitchFamily="18" charset="0"/>
                <a:cs typeface="Times New Roman" panose="02020603050405020304" pitchFamily="18" charset="0"/>
              </a:rPr>
              <a:t>                 Lenti/costosi</a:t>
            </a:r>
          </a:p>
          <a:p>
            <a:pPr algn="just"/>
            <a:r>
              <a:rPr lang="it-IT" dirty="0" smtClean="0">
                <a:latin typeface="Times New Roman" panose="02020603050405020304" pitchFamily="18" charset="0"/>
                <a:cs typeface="Times New Roman" panose="02020603050405020304" pitchFamily="18" charset="0"/>
              </a:rPr>
              <a:t>                                              Serve </a:t>
            </a:r>
            <a:r>
              <a:rPr lang="it-IT" dirty="0">
                <a:latin typeface="Times New Roman" panose="02020603050405020304" pitchFamily="18" charset="0"/>
                <a:cs typeface="Times New Roman" panose="02020603050405020304" pitchFamily="18" charset="0"/>
              </a:rPr>
              <a:t>training	</a:t>
            </a:r>
            <a:r>
              <a:rPr lang="it-IT" dirty="0" smtClean="0">
                <a:latin typeface="Times New Roman" panose="02020603050405020304" pitchFamily="18" charset="0"/>
                <a:cs typeface="Times New Roman" panose="02020603050405020304" pitchFamily="18" charset="0"/>
              </a:rPr>
              <a:t> Zero-</a:t>
            </a:r>
            <a:r>
              <a:rPr lang="it-IT" dirty="0" err="1" smtClean="0">
                <a:latin typeface="Times New Roman" panose="02020603050405020304" pitchFamily="18" charset="0"/>
                <a:cs typeface="Times New Roman" panose="02020603050405020304" pitchFamily="18" charset="0"/>
              </a:rPr>
              <a:t>shot</a:t>
            </a:r>
            <a:endParaRPr lang="it-IT" dirty="0" smtClean="0">
              <a:latin typeface="Times New Roman" panose="02020603050405020304" pitchFamily="18" charset="0"/>
              <a:cs typeface="Times New Roman" panose="02020603050405020304" pitchFamily="18" charset="0"/>
            </a:endParaRPr>
          </a:p>
          <a:p>
            <a:pPr algn="just"/>
            <a:r>
              <a:rPr lang="it-IT" dirty="0" smtClean="0">
                <a:latin typeface="Times New Roman" panose="02020603050405020304" pitchFamily="18" charset="0"/>
                <a:cs typeface="Times New Roman" panose="02020603050405020304" pitchFamily="18" charset="0"/>
              </a:rPr>
              <a:t>                                              Poco contesto  </a:t>
            </a:r>
            <a:r>
              <a:rPr lang="it-IT" dirty="0">
                <a:latin typeface="Times New Roman" panose="02020603050405020304" pitchFamily="18" charset="0"/>
                <a:cs typeface="Times New Roman" panose="02020603050405020304" pitchFamily="18" charset="0"/>
              </a:rPr>
              <a:t>	</a:t>
            </a:r>
            <a:r>
              <a:rPr lang="it-IT" dirty="0" smtClean="0">
                <a:latin typeface="Times New Roman" panose="02020603050405020304" pitchFamily="18" charset="0"/>
                <a:cs typeface="Times New Roman" panose="02020603050405020304" pitchFamily="18" charset="0"/>
              </a:rPr>
              <a:t> Forte </a:t>
            </a:r>
            <a:r>
              <a:rPr lang="it-IT" dirty="0">
                <a:latin typeface="Times New Roman" panose="02020603050405020304" pitchFamily="18" charset="0"/>
                <a:cs typeface="Times New Roman" panose="02020603050405020304" pitchFamily="18" charset="0"/>
              </a:rPr>
              <a:t>semantica</a:t>
            </a:r>
          </a:p>
        </p:txBody>
      </p:sp>
      <p:sp>
        <p:nvSpPr>
          <p:cNvPr id="8" name="Rettangolo 7"/>
          <p:cNvSpPr/>
          <p:nvPr/>
        </p:nvSpPr>
        <p:spPr>
          <a:xfrm>
            <a:off x="251520" y="5103674"/>
            <a:ext cx="8496944" cy="923330"/>
          </a:xfrm>
          <a:prstGeom prst="rect">
            <a:avLst/>
          </a:prstGeom>
        </p:spPr>
        <p:txBody>
          <a:bodyPr wrap="square">
            <a:spAutoFit/>
          </a:bodyPr>
          <a:lstStyle/>
          <a:p>
            <a:pPr algn="just"/>
            <a:r>
              <a:rPr lang="it-IT" dirty="0">
                <a:latin typeface="Times New Roman" panose="02020603050405020304" pitchFamily="18" charset="0"/>
                <a:cs typeface="Times New Roman" panose="02020603050405020304" pitchFamily="18" charset="0"/>
              </a:rPr>
              <a:t>Gli SLM, pur essendo efficienti, richiedono dati di addestramento per essere efficaci; gli LLM, invece, pur avendo una conoscenza semantica molto ampia, sono limitati da costi computazionali, latenza e vincoli di finestra di contesto.</a:t>
            </a:r>
          </a:p>
        </p:txBody>
      </p:sp>
    </p:spTree>
    <p:extLst>
      <p:ext uri="{BB962C8B-B14F-4D97-AF65-F5344CB8AC3E}">
        <p14:creationId xmlns:p14="http://schemas.microsoft.com/office/powerpoint/2010/main" val="339374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323528" y="2204864"/>
            <a:ext cx="8424936" cy="2062103"/>
          </a:xfrm>
          <a:prstGeom prst="rect">
            <a:avLst/>
          </a:prstGeom>
        </p:spPr>
        <p:txBody>
          <a:bodyPr wrap="square">
            <a:spAutoFit/>
          </a:bodyPr>
          <a:lstStyle/>
          <a:p>
            <a:r>
              <a:rPr lang="it-IT" sz="2000" b="1" dirty="0">
                <a:latin typeface="Times New Roman" panose="02020603050405020304" pitchFamily="18" charset="0"/>
                <a:cs typeface="Times New Roman" panose="02020603050405020304" pitchFamily="18" charset="0"/>
              </a:rPr>
              <a:t>Idea chiave di </a:t>
            </a:r>
            <a:r>
              <a:rPr lang="it-IT" sz="2000" b="1" dirty="0" err="1" smtClean="0">
                <a:latin typeface="Times New Roman" panose="02020603050405020304" pitchFamily="18" charset="0"/>
                <a:cs typeface="Times New Roman" panose="02020603050405020304" pitchFamily="18" charset="0"/>
              </a:rPr>
              <a:t>Magneto</a:t>
            </a:r>
            <a:endParaRPr lang="it-IT" sz="2000" b="1" dirty="0" smtClean="0">
              <a:latin typeface="Times New Roman" panose="02020603050405020304" pitchFamily="18" charset="0"/>
              <a:cs typeface="Times New Roman" panose="02020603050405020304" pitchFamily="18" charset="0"/>
            </a:endParaRPr>
          </a:p>
          <a:p>
            <a:endParaRPr lang="it-IT" dirty="0">
              <a:latin typeface="Times New Roman" panose="02020603050405020304" pitchFamily="18" charset="0"/>
              <a:cs typeface="Times New Roman" panose="02020603050405020304" pitchFamily="18" charset="0"/>
            </a:endParaRPr>
          </a:p>
          <a:p>
            <a:r>
              <a:rPr lang="it-IT" dirty="0" smtClean="0">
                <a:latin typeface="Times New Roman" panose="02020603050405020304" pitchFamily="18" charset="0"/>
                <a:cs typeface="Times New Roman" panose="02020603050405020304" pitchFamily="18" charset="0"/>
              </a:rPr>
              <a:t>Combinare </a:t>
            </a:r>
            <a:r>
              <a:rPr lang="it-IT" dirty="0">
                <a:latin typeface="Times New Roman" panose="02020603050405020304" pitchFamily="18" charset="0"/>
                <a:cs typeface="Times New Roman" panose="02020603050405020304" pitchFamily="18" charset="0"/>
              </a:rPr>
              <a:t>SLM e LLM in una pipeline a due </a:t>
            </a:r>
            <a:r>
              <a:rPr lang="it-IT" dirty="0" smtClean="0">
                <a:latin typeface="Times New Roman" panose="02020603050405020304" pitchFamily="18" charset="0"/>
                <a:cs typeface="Times New Roman" panose="02020603050405020304" pitchFamily="18" charset="0"/>
              </a:rPr>
              <a:t>fasi</a:t>
            </a:r>
          </a:p>
          <a:p>
            <a:r>
              <a:rPr lang="it-IT" dirty="0" smtClean="0">
                <a:latin typeface="Times New Roman" panose="02020603050405020304" pitchFamily="18" charset="0"/>
                <a:cs typeface="Times New Roman" panose="02020603050405020304" pitchFamily="18" charset="0"/>
              </a:rPr>
              <a:t>SLM </a:t>
            </a:r>
            <a:r>
              <a:rPr lang="it-IT" dirty="0">
                <a:latin typeface="Times New Roman" panose="02020603050405020304" pitchFamily="18" charset="0"/>
                <a:cs typeface="Times New Roman" panose="02020603050405020304" pitchFamily="18" charset="0"/>
              </a:rPr>
              <a:t>→ Candidate </a:t>
            </a:r>
            <a:r>
              <a:rPr lang="it-IT" dirty="0" err="1">
                <a:latin typeface="Times New Roman" panose="02020603050405020304" pitchFamily="18" charset="0"/>
                <a:cs typeface="Times New Roman" panose="02020603050405020304" pitchFamily="18" charset="0"/>
              </a:rPr>
              <a:t>Retrieval</a:t>
            </a:r>
            <a:r>
              <a:rPr lang="it-IT" dirty="0">
                <a:latin typeface="Times New Roman" panose="02020603050405020304" pitchFamily="18" charset="0"/>
                <a:cs typeface="Times New Roman" panose="02020603050405020304" pitchFamily="18" charset="0"/>
              </a:rPr>
              <a:t> (veloce, </a:t>
            </a:r>
            <a:r>
              <a:rPr lang="it-IT" dirty="0" smtClean="0">
                <a:latin typeface="Times New Roman" panose="02020603050405020304" pitchFamily="18" charset="0"/>
                <a:cs typeface="Times New Roman" panose="02020603050405020304" pitchFamily="18" charset="0"/>
              </a:rPr>
              <a:t>filtra)</a:t>
            </a:r>
          </a:p>
          <a:p>
            <a:r>
              <a:rPr lang="it-IT" dirty="0" smtClean="0">
                <a:latin typeface="Times New Roman" panose="02020603050405020304" pitchFamily="18" charset="0"/>
                <a:cs typeface="Times New Roman" panose="02020603050405020304" pitchFamily="18" charset="0"/>
              </a:rPr>
              <a:t>LLM </a:t>
            </a:r>
            <a:r>
              <a:rPr lang="it-IT" dirty="0">
                <a:latin typeface="Times New Roman" panose="02020603050405020304" pitchFamily="18" charset="0"/>
                <a:cs typeface="Times New Roman" panose="02020603050405020304" pitchFamily="18" charset="0"/>
              </a:rPr>
              <a:t>→ </a:t>
            </a:r>
            <a:r>
              <a:rPr lang="it-IT" dirty="0" err="1">
                <a:latin typeface="Times New Roman" panose="02020603050405020304" pitchFamily="18" charset="0"/>
                <a:cs typeface="Times New Roman" panose="02020603050405020304" pitchFamily="18" charset="0"/>
              </a:rPr>
              <a:t>Reranking</a:t>
            </a:r>
            <a:r>
              <a:rPr lang="it-IT" dirty="0">
                <a:latin typeface="Times New Roman" panose="02020603050405020304" pitchFamily="18" charset="0"/>
                <a:cs typeface="Times New Roman" panose="02020603050405020304" pitchFamily="18" charset="0"/>
              </a:rPr>
              <a:t> (preciso, semantico</a:t>
            </a:r>
            <a:r>
              <a:rPr lang="it-IT" dirty="0" smtClean="0">
                <a:latin typeface="Times New Roman" panose="02020603050405020304" pitchFamily="18" charset="0"/>
                <a:cs typeface="Times New Roman" panose="02020603050405020304" pitchFamily="18" charset="0"/>
              </a:rPr>
              <a:t>)</a:t>
            </a:r>
          </a:p>
          <a:p>
            <a:endParaRPr lang="it-IT" dirty="0">
              <a:latin typeface="Times New Roman" panose="02020603050405020304" pitchFamily="18" charset="0"/>
              <a:cs typeface="Times New Roman" panose="02020603050405020304" pitchFamily="18" charset="0"/>
            </a:endParaRPr>
          </a:p>
          <a:p>
            <a:r>
              <a:rPr lang="it-IT" dirty="0" smtClean="0">
                <a:latin typeface="Times New Roman" panose="02020603050405020304" pitchFamily="18" charset="0"/>
                <a:cs typeface="Times New Roman" panose="02020603050405020304" pitchFamily="18" charset="0"/>
              </a:rPr>
              <a:t>LLM </a:t>
            </a:r>
            <a:r>
              <a:rPr lang="it-IT" dirty="0">
                <a:latin typeface="Times New Roman" panose="02020603050405020304" pitchFamily="18" charset="0"/>
                <a:cs typeface="Times New Roman" panose="02020603050405020304" pitchFamily="18" charset="0"/>
              </a:rPr>
              <a:t>usati solo dove servono.</a:t>
            </a:r>
          </a:p>
        </p:txBody>
      </p:sp>
      <p:sp>
        <p:nvSpPr>
          <p:cNvPr id="8" name="Rettangolo 7"/>
          <p:cNvSpPr/>
          <p:nvPr/>
        </p:nvSpPr>
        <p:spPr>
          <a:xfrm>
            <a:off x="294434" y="4653136"/>
            <a:ext cx="8208912" cy="1754326"/>
          </a:xfrm>
          <a:prstGeom prst="rect">
            <a:avLst/>
          </a:prstGeom>
        </p:spPr>
        <p:txBody>
          <a:bodyPr wrap="square">
            <a:spAutoFit/>
          </a:bodyPr>
          <a:lstStyle/>
          <a:p>
            <a:pPr algn="just"/>
            <a:r>
              <a:rPr lang="it-IT" dirty="0" err="1">
                <a:latin typeface="Times New Roman" panose="02020603050405020304" pitchFamily="18" charset="0"/>
                <a:cs typeface="Times New Roman" panose="02020603050405020304" pitchFamily="18" charset="0"/>
              </a:rPr>
              <a:t>Magneto</a:t>
            </a:r>
            <a:r>
              <a:rPr lang="it-IT" dirty="0">
                <a:latin typeface="Times New Roman" panose="02020603050405020304" pitchFamily="18" charset="0"/>
                <a:cs typeface="Times New Roman" panose="02020603050405020304" pitchFamily="18" charset="0"/>
              </a:rPr>
              <a:t> propone quindi una pipeline a due fasi — </a:t>
            </a:r>
            <a:r>
              <a:rPr lang="it-IT" dirty="0" err="1">
                <a:latin typeface="Times New Roman" panose="02020603050405020304" pitchFamily="18" charset="0"/>
                <a:cs typeface="Times New Roman" panose="02020603050405020304" pitchFamily="18" charset="0"/>
              </a:rPr>
              <a:t>retrieval</a:t>
            </a:r>
            <a:r>
              <a:rPr lang="it-IT" dirty="0">
                <a:latin typeface="Times New Roman" panose="02020603050405020304" pitchFamily="18" charset="0"/>
                <a:cs typeface="Times New Roman" panose="02020603050405020304" pitchFamily="18" charset="0"/>
              </a:rPr>
              <a:t> e </a:t>
            </a:r>
            <a:r>
              <a:rPr lang="it-IT" dirty="0" err="1">
                <a:latin typeface="Times New Roman" panose="02020603050405020304" pitchFamily="18" charset="0"/>
                <a:cs typeface="Times New Roman" panose="02020603050405020304" pitchFamily="18" charset="0"/>
              </a:rPr>
              <a:t>reranking</a:t>
            </a:r>
            <a:r>
              <a:rPr lang="it-IT" dirty="0">
                <a:latin typeface="Times New Roman" panose="02020603050405020304" pitchFamily="18" charset="0"/>
                <a:cs typeface="Times New Roman" panose="02020603050405020304" pitchFamily="18" charset="0"/>
              </a:rPr>
              <a:t> — in cui gli SLM vengono utilizzati per filtrare un insieme ristretto di candidati e gli LLM per riclassificare tali candidati con maggiore precisione semantica. A questo si aggiunge un elemento innovativo: l’utilizzo degli LLM per generare automaticamente i dati di training necessari al fine-</a:t>
            </a:r>
            <a:r>
              <a:rPr lang="it-IT" dirty="0" err="1">
                <a:latin typeface="Times New Roman" panose="02020603050405020304" pitchFamily="18" charset="0"/>
                <a:cs typeface="Times New Roman" panose="02020603050405020304" pitchFamily="18" charset="0"/>
              </a:rPr>
              <a:t>tuning</a:t>
            </a:r>
            <a:r>
              <a:rPr lang="it-IT" dirty="0">
                <a:latin typeface="Times New Roman" panose="02020603050405020304" pitchFamily="18" charset="0"/>
                <a:cs typeface="Times New Roman" panose="02020603050405020304" pitchFamily="18" charset="0"/>
              </a:rPr>
              <a:t> degli SLM, eliminando la necessità di </a:t>
            </a:r>
            <a:r>
              <a:rPr lang="it-IT" dirty="0" err="1">
                <a:latin typeface="Times New Roman" panose="02020603050405020304" pitchFamily="18" charset="0"/>
                <a:cs typeface="Times New Roman" panose="02020603050405020304" pitchFamily="18" charset="0"/>
              </a:rPr>
              <a:t>dataset</a:t>
            </a:r>
            <a:r>
              <a:rPr lang="it-IT" dirty="0">
                <a:latin typeface="Times New Roman" panose="02020603050405020304" pitchFamily="18" charset="0"/>
                <a:cs typeface="Times New Roman" panose="02020603050405020304" pitchFamily="18" charset="0"/>
              </a:rPr>
              <a:t> annotati manualmente. </a:t>
            </a:r>
          </a:p>
        </p:txBody>
      </p:sp>
    </p:spTree>
    <p:extLst>
      <p:ext uri="{BB962C8B-B14F-4D97-AF65-F5344CB8AC3E}">
        <p14:creationId xmlns:p14="http://schemas.microsoft.com/office/powerpoint/2010/main" val="339374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323528" y="2204864"/>
            <a:ext cx="8424936" cy="3447098"/>
          </a:xfrm>
          <a:prstGeom prst="rect">
            <a:avLst/>
          </a:prstGeom>
        </p:spPr>
        <p:txBody>
          <a:bodyPr wrap="square">
            <a:spAutoFit/>
          </a:bodyPr>
          <a:lstStyle/>
          <a:p>
            <a:r>
              <a:rPr lang="it-IT" sz="2000" b="1" dirty="0">
                <a:latin typeface="Times New Roman" panose="02020603050405020304" pitchFamily="18" charset="0"/>
                <a:cs typeface="Times New Roman" panose="02020603050405020304" pitchFamily="18" charset="0"/>
              </a:rPr>
              <a:t>Fase 1: Candidate </a:t>
            </a:r>
            <a:r>
              <a:rPr lang="it-IT" sz="2000" b="1" dirty="0" err="1">
                <a:latin typeface="Times New Roman" panose="02020603050405020304" pitchFamily="18" charset="0"/>
                <a:cs typeface="Times New Roman" panose="02020603050405020304" pitchFamily="18" charset="0"/>
              </a:rPr>
              <a:t>Retriever</a:t>
            </a:r>
            <a:r>
              <a:rPr lang="it-IT" sz="2000" b="1" dirty="0">
                <a:latin typeface="Times New Roman" panose="02020603050405020304" pitchFamily="18" charset="0"/>
                <a:cs typeface="Times New Roman" panose="02020603050405020304" pitchFamily="18" charset="0"/>
              </a:rPr>
              <a:t> (SLM</a:t>
            </a:r>
            <a:r>
              <a:rPr lang="it-IT" sz="2000" b="1" dirty="0" smtClean="0">
                <a:latin typeface="Times New Roman" panose="02020603050405020304" pitchFamily="18" charset="0"/>
                <a:cs typeface="Times New Roman" panose="02020603050405020304" pitchFamily="18" charset="0"/>
              </a:rPr>
              <a:t>)</a:t>
            </a:r>
          </a:p>
          <a:p>
            <a:endParaRPr lang="it-IT" dirty="0" smtClean="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Gli SLM vengono utilizzati per calcolare </a:t>
            </a:r>
            <a:r>
              <a:rPr lang="it-IT" dirty="0" err="1">
                <a:latin typeface="Times New Roman" panose="02020603050405020304" pitchFamily="18" charset="0"/>
                <a:cs typeface="Times New Roman" panose="02020603050405020304" pitchFamily="18" charset="0"/>
              </a:rPr>
              <a:t>embedding</a:t>
            </a:r>
            <a:r>
              <a:rPr lang="it-IT" dirty="0">
                <a:latin typeface="Times New Roman" panose="02020603050405020304" pitchFamily="18" charset="0"/>
                <a:cs typeface="Times New Roman" panose="02020603050405020304" pitchFamily="18" charset="0"/>
              </a:rPr>
              <a:t> di colonna e produrre, per ogni colonna sorgente, una lista classificata di possibili colonne target.</a:t>
            </a:r>
          </a:p>
          <a:p>
            <a:endParaRPr lang="it-IT" dirty="0">
              <a:latin typeface="Times New Roman" panose="02020603050405020304" pitchFamily="18" charset="0"/>
              <a:cs typeface="Times New Roman" panose="02020603050405020304" pitchFamily="18" charset="0"/>
            </a:endParaRPr>
          </a:p>
          <a:p>
            <a:r>
              <a:rPr lang="it-IT" dirty="0" smtClean="0">
                <a:latin typeface="Times New Roman" panose="02020603050405020304" pitchFamily="18" charset="0"/>
                <a:cs typeface="Times New Roman" panose="02020603050405020304" pitchFamily="18" charset="0"/>
              </a:rPr>
              <a:t>Ogni </a:t>
            </a:r>
            <a:r>
              <a:rPr lang="it-IT" dirty="0">
                <a:latin typeface="Times New Roman" panose="02020603050405020304" pitchFamily="18" charset="0"/>
                <a:cs typeface="Times New Roman" panose="02020603050405020304" pitchFamily="18" charset="0"/>
              </a:rPr>
              <a:t>colonna → serializzata (nome + valori</a:t>
            </a:r>
            <a:r>
              <a:rPr lang="it-IT" dirty="0" smtClean="0">
                <a:latin typeface="Times New Roman" panose="02020603050405020304" pitchFamily="18" charset="0"/>
                <a:cs typeface="Times New Roman" panose="02020603050405020304" pitchFamily="18" charset="0"/>
              </a:rPr>
              <a:t>)</a:t>
            </a:r>
          </a:p>
          <a:p>
            <a:r>
              <a:rPr lang="it-IT" dirty="0" smtClean="0">
                <a:latin typeface="Times New Roman" panose="02020603050405020304" pitchFamily="18" charset="0"/>
                <a:cs typeface="Times New Roman" panose="02020603050405020304" pitchFamily="18" charset="0"/>
              </a:rPr>
              <a:t>Convertita </a:t>
            </a:r>
            <a:r>
              <a:rPr lang="it-IT" dirty="0">
                <a:latin typeface="Times New Roman" panose="02020603050405020304" pitchFamily="18" charset="0"/>
                <a:cs typeface="Times New Roman" panose="02020603050405020304" pitchFamily="18" charset="0"/>
              </a:rPr>
              <a:t>in </a:t>
            </a:r>
            <a:r>
              <a:rPr lang="it-IT" dirty="0" err="1" smtClean="0">
                <a:latin typeface="Times New Roman" panose="02020603050405020304" pitchFamily="18" charset="0"/>
                <a:cs typeface="Times New Roman" panose="02020603050405020304" pitchFamily="18" charset="0"/>
              </a:rPr>
              <a:t>embedding</a:t>
            </a:r>
            <a:endParaRPr lang="it-IT" dirty="0" smtClean="0">
              <a:latin typeface="Times New Roman" panose="02020603050405020304" pitchFamily="18" charset="0"/>
              <a:cs typeface="Times New Roman" panose="02020603050405020304" pitchFamily="18" charset="0"/>
            </a:endParaRPr>
          </a:p>
          <a:p>
            <a:r>
              <a:rPr lang="it-IT" dirty="0" smtClean="0">
                <a:latin typeface="Times New Roman" panose="02020603050405020304" pitchFamily="18" charset="0"/>
                <a:cs typeface="Times New Roman" panose="02020603050405020304" pitchFamily="18" charset="0"/>
              </a:rPr>
              <a:t>Confronto </a:t>
            </a:r>
            <a:r>
              <a:rPr lang="it-IT" dirty="0">
                <a:latin typeface="Times New Roman" panose="02020603050405020304" pitchFamily="18" charset="0"/>
                <a:cs typeface="Times New Roman" panose="02020603050405020304" pitchFamily="18" charset="0"/>
              </a:rPr>
              <a:t>tramite cosine </a:t>
            </a:r>
            <a:r>
              <a:rPr lang="it-IT" dirty="0" err="1" smtClean="0">
                <a:latin typeface="Times New Roman" panose="02020603050405020304" pitchFamily="18" charset="0"/>
                <a:cs typeface="Times New Roman" panose="02020603050405020304" pitchFamily="18" charset="0"/>
              </a:rPr>
              <a:t>similarity</a:t>
            </a:r>
            <a:endParaRPr lang="it-IT" dirty="0" smtClean="0">
              <a:latin typeface="Times New Roman" panose="02020603050405020304" pitchFamily="18" charset="0"/>
              <a:cs typeface="Times New Roman" panose="02020603050405020304" pitchFamily="18" charset="0"/>
            </a:endParaRPr>
          </a:p>
          <a:p>
            <a:r>
              <a:rPr lang="it-IT" dirty="0" smtClean="0">
                <a:latin typeface="Times New Roman" panose="02020603050405020304" pitchFamily="18" charset="0"/>
                <a:cs typeface="Times New Roman" panose="02020603050405020304" pitchFamily="18" charset="0"/>
              </a:rPr>
              <a:t>Produce </a:t>
            </a:r>
            <a:r>
              <a:rPr lang="it-IT" dirty="0">
                <a:latin typeface="Times New Roman" panose="02020603050405020304" pitchFamily="18" charset="0"/>
                <a:cs typeface="Times New Roman" panose="02020603050405020304" pitchFamily="18" charset="0"/>
              </a:rPr>
              <a:t>Top-k </a:t>
            </a:r>
            <a:r>
              <a:rPr lang="it-IT" dirty="0" smtClean="0">
                <a:latin typeface="Times New Roman" panose="02020603050405020304" pitchFamily="18" charset="0"/>
                <a:cs typeface="Times New Roman" panose="02020603050405020304" pitchFamily="18" charset="0"/>
              </a:rPr>
              <a:t>candidati</a:t>
            </a:r>
          </a:p>
          <a:p>
            <a:endParaRPr lang="it-IT" dirty="0" smtClean="0">
              <a:latin typeface="Times New Roman" panose="02020603050405020304" pitchFamily="18" charset="0"/>
              <a:cs typeface="Times New Roman" panose="02020603050405020304" pitchFamily="18" charset="0"/>
            </a:endParaRPr>
          </a:p>
          <a:p>
            <a:endParaRPr lang="it-IT" dirty="0">
              <a:latin typeface="Times New Roman" panose="02020603050405020304" pitchFamily="18" charset="0"/>
              <a:cs typeface="Times New Roman" panose="02020603050405020304" pitchFamily="18" charset="0"/>
            </a:endParaRPr>
          </a:p>
          <a:p>
            <a:r>
              <a:rPr lang="it-IT" dirty="0" smtClean="0">
                <a:latin typeface="Times New Roman" panose="02020603050405020304" pitchFamily="18" charset="0"/>
                <a:cs typeface="Times New Roman" panose="02020603050405020304" pitchFamily="18" charset="0"/>
              </a:rPr>
              <a:t>Riduce </a:t>
            </a:r>
            <a:r>
              <a:rPr lang="it-IT" dirty="0">
                <a:latin typeface="Times New Roman" panose="02020603050405020304" pitchFamily="18" charset="0"/>
                <a:cs typeface="Times New Roman" panose="02020603050405020304" pitchFamily="18" charset="0"/>
              </a:rPr>
              <a:t>drasticamente lo spazio di ricerca.</a:t>
            </a:r>
          </a:p>
        </p:txBody>
      </p:sp>
    </p:spTree>
    <p:extLst>
      <p:ext uri="{BB962C8B-B14F-4D97-AF65-F5344CB8AC3E}">
        <p14:creationId xmlns:p14="http://schemas.microsoft.com/office/powerpoint/2010/main" val="3393742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358806" y="2132856"/>
            <a:ext cx="8245642" cy="4555093"/>
          </a:xfrm>
          <a:prstGeom prst="rect">
            <a:avLst/>
          </a:prstGeom>
        </p:spPr>
        <p:txBody>
          <a:bodyPr wrap="square">
            <a:spAutoFit/>
          </a:bodyPr>
          <a:lstStyle/>
          <a:p>
            <a:r>
              <a:rPr lang="it-IT" sz="2000" b="1" dirty="0">
                <a:latin typeface="Times New Roman" panose="02020603050405020304" pitchFamily="18" charset="0"/>
                <a:cs typeface="Times New Roman" panose="02020603050405020304" pitchFamily="18" charset="0"/>
              </a:rPr>
              <a:t>Serializzazione e </a:t>
            </a:r>
            <a:r>
              <a:rPr lang="it-IT" sz="2000" b="1" dirty="0" smtClean="0">
                <a:latin typeface="Times New Roman" panose="02020603050405020304" pitchFamily="18" charset="0"/>
                <a:cs typeface="Times New Roman" panose="02020603050405020304" pitchFamily="18" charset="0"/>
              </a:rPr>
              <a:t>campionamento</a:t>
            </a:r>
          </a:p>
          <a:p>
            <a:r>
              <a:rPr lang="it-IT" dirty="0">
                <a:latin typeface="Times New Roman" panose="02020603050405020304" pitchFamily="18" charset="0"/>
                <a:cs typeface="Times New Roman" panose="02020603050405020304" pitchFamily="18" charset="0"/>
              </a:rPr>
              <a:t>Un aspetto cruciale è come trasformare una colonna tabellare in una sequenza di </a:t>
            </a:r>
            <a:r>
              <a:rPr lang="it-IT" dirty="0" err="1">
                <a:latin typeface="Times New Roman" panose="02020603050405020304" pitchFamily="18" charset="0"/>
                <a:cs typeface="Times New Roman" panose="02020603050405020304" pitchFamily="18" charset="0"/>
              </a:rPr>
              <a:t>token</a:t>
            </a:r>
            <a:r>
              <a:rPr lang="it-IT" dirty="0">
                <a:latin typeface="Times New Roman" panose="02020603050405020304" pitchFamily="18" charset="0"/>
                <a:cs typeface="Times New Roman" panose="02020603050405020304" pitchFamily="18" charset="0"/>
              </a:rPr>
              <a:t> interpretabile dal modello</a:t>
            </a:r>
            <a:r>
              <a:rPr lang="it-IT" dirty="0" smtClean="0">
                <a:latin typeface="Times New Roman" panose="02020603050405020304" pitchFamily="18" charset="0"/>
                <a:cs typeface="Times New Roman" panose="02020603050405020304" pitchFamily="18" charset="0"/>
              </a:rPr>
              <a:t>.</a:t>
            </a:r>
          </a:p>
          <a:p>
            <a:endParaRPr lang="it-IT" dirty="0">
              <a:latin typeface="Times New Roman" panose="02020603050405020304" pitchFamily="18" charset="0"/>
              <a:cs typeface="Times New Roman" panose="02020603050405020304" pitchFamily="18" charset="0"/>
            </a:endParaRPr>
          </a:p>
          <a:p>
            <a:r>
              <a:rPr lang="it-IT" dirty="0" err="1">
                <a:latin typeface="Times New Roman" panose="02020603050405020304" pitchFamily="18" charset="0"/>
                <a:cs typeface="Times New Roman" panose="02020603050405020304" pitchFamily="18" charset="0"/>
              </a:rPr>
              <a:t>Magneto</a:t>
            </a:r>
            <a:r>
              <a:rPr lang="it-IT" dirty="0">
                <a:latin typeface="Times New Roman" panose="02020603050405020304" pitchFamily="18" charset="0"/>
                <a:cs typeface="Times New Roman" panose="02020603050405020304" pitchFamily="18" charset="0"/>
              </a:rPr>
              <a:t> introduce diverse strategie di serializzazione:</a:t>
            </a:r>
          </a:p>
          <a:p>
            <a:r>
              <a:rPr lang="it-IT" dirty="0">
                <a:latin typeface="Times New Roman" panose="02020603050405020304" pitchFamily="18" charset="0"/>
                <a:cs typeface="Times New Roman" panose="02020603050405020304" pitchFamily="18" charset="0"/>
              </a:rPr>
              <a:t>•	S default: nome colonna + valori separati da [SEP]</a:t>
            </a:r>
          </a:p>
          <a:p>
            <a:r>
              <a:rPr lang="it-IT" dirty="0">
                <a:latin typeface="Times New Roman" panose="02020603050405020304" pitchFamily="18" charset="0"/>
                <a:cs typeface="Times New Roman" panose="02020603050405020304" pitchFamily="18" charset="0"/>
              </a:rPr>
              <a:t>•	S verbose: aggiunta di prefissi descrittivi</a:t>
            </a:r>
          </a:p>
          <a:p>
            <a:r>
              <a:rPr lang="it-IT" dirty="0">
                <a:latin typeface="Times New Roman" panose="02020603050405020304" pitchFamily="18" charset="0"/>
                <a:cs typeface="Times New Roman" panose="02020603050405020304" pitchFamily="18" charset="0"/>
              </a:rPr>
              <a:t>•	S </a:t>
            </a:r>
            <a:r>
              <a:rPr lang="it-IT" dirty="0" err="1">
                <a:latin typeface="Times New Roman" panose="02020603050405020304" pitchFamily="18" charset="0"/>
                <a:cs typeface="Times New Roman" panose="02020603050405020304" pitchFamily="18" charset="0"/>
              </a:rPr>
              <a:t>repeat</a:t>
            </a:r>
            <a:r>
              <a:rPr lang="it-IT" dirty="0">
                <a:latin typeface="Times New Roman" panose="02020603050405020304" pitchFamily="18" charset="0"/>
                <a:cs typeface="Times New Roman" panose="02020603050405020304" pitchFamily="18" charset="0"/>
              </a:rPr>
              <a:t>: ripetizione del nome colonna per enfatizzarlo</a:t>
            </a:r>
          </a:p>
          <a:p>
            <a:r>
              <a:rPr lang="it-IT" dirty="0">
                <a:latin typeface="Times New Roman" panose="02020603050405020304" pitchFamily="18" charset="0"/>
                <a:cs typeface="Times New Roman" panose="02020603050405020304" pitchFamily="18" charset="0"/>
              </a:rPr>
              <a:t>Viene inoltre introdotto un campionamento prioritario dei valori basato su frequenza e </a:t>
            </a:r>
            <a:r>
              <a:rPr lang="it-IT" dirty="0" err="1">
                <a:latin typeface="Times New Roman" panose="02020603050405020304" pitchFamily="18" charset="0"/>
                <a:cs typeface="Times New Roman" panose="02020603050405020304" pitchFamily="18" charset="0"/>
              </a:rPr>
              <a:t>hashing</a:t>
            </a:r>
            <a:r>
              <a:rPr lang="it-IT" dirty="0">
                <a:latin typeface="Times New Roman" panose="02020603050405020304" pitchFamily="18" charset="0"/>
                <a:cs typeface="Times New Roman" panose="02020603050405020304" pitchFamily="18" charset="0"/>
              </a:rPr>
              <a:t>, per selezionare valori rappresentativi riducendo il rumore.</a:t>
            </a:r>
          </a:p>
          <a:p>
            <a:endParaRPr lang="it-IT" dirty="0">
              <a:latin typeface="Times New Roman" panose="02020603050405020304" pitchFamily="18" charset="0"/>
              <a:cs typeface="Times New Roman" panose="02020603050405020304" pitchFamily="18" charset="0"/>
            </a:endParaRPr>
          </a:p>
          <a:p>
            <a:r>
              <a:rPr lang="it-IT" dirty="0" smtClean="0">
                <a:latin typeface="Times New Roman" panose="02020603050405020304" pitchFamily="18" charset="0"/>
                <a:cs typeface="Times New Roman" panose="02020603050405020304" pitchFamily="18" charset="0"/>
              </a:rPr>
              <a:t>Tecniche</a:t>
            </a:r>
            <a:r>
              <a:rPr lang="it-IT" dirty="0">
                <a:latin typeface="Times New Roman" panose="02020603050405020304" pitchFamily="18" charset="0"/>
                <a:cs typeface="Times New Roman" panose="02020603050405020304" pitchFamily="18" charset="0"/>
              </a:rPr>
              <a:t>:</a:t>
            </a:r>
          </a:p>
          <a:p>
            <a:r>
              <a:rPr lang="it-IT" dirty="0">
                <a:latin typeface="Times New Roman" panose="02020603050405020304" pitchFamily="18" charset="0"/>
                <a:cs typeface="Times New Roman" panose="02020603050405020304" pitchFamily="18" charset="0"/>
              </a:rPr>
              <a:t>serializzazione intelligente</a:t>
            </a:r>
          </a:p>
          <a:p>
            <a:r>
              <a:rPr lang="it-IT" dirty="0">
                <a:latin typeface="Times New Roman" panose="02020603050405020304" pitchFamily="18" charset="0"/>
                <a:cs typeface="Times New Roman" panose="02020603050405020304" pitchFamily="18" charset="0"/>
              </a:rPr>
              <a:t>campionamento valori rappresentativi</a:t>
            </a:r>
          </a:p>
          <a:p>
            <a:r>
              <a:rPr lang="it-IT" dirty="0">
                <a:latin typeface="Times New Roman" panose="02020603050405020304" pitchFamily="18" charset="0"/>
                <a:cs typeface="Times New Roman" panose="02020603050405020304" pitchFamily="18" charset="0"/>
              </a:rPr>
              <a:t>riduzione </a:t>
            </a:r>
            <a:r>
              <a:rPr lang="it-IT" dirty="0" smtClean="0">
                <a:latin typeface="Times New Roman" panose="02020603050405020304" pitchFamily="18" charset="0"/>
                <a:cs typeface="Times New Roman" panose="02020603050405020304" pitchFamily="18" charset="0"/>
              </a:rPr>
              <a:t>rumore</a:t>
            </a:r>
          </a:p>
          <a:p>
            <a:endParaRPr lang="it-IT" dirty="0"/>
          </a:p>
        </p:txBody>
      </p:sp>
    </p:spTree>
    <p:extLst>
      <p:ext uri="{BB962C8B-B14F-4D97-AF65-F5344CB8AC3E}">
        <p14:creationId xmlns:p14="http://schemas.microsoft.com/office/powerpoint/2010/main" val="3393742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323528" y="2204864"/>
            <a:ext cx="8136904" cy="3724096"/>
          </a:xfrm>
          <a:prstGeom prst="rect">
            <a:avLst/>
          </a:prstGeom>
        </p:spPr>
        <p:txBody>
          <a:bodyPr wrap="square">
            <a:spAutoFit/>
          </a:bodyPr>
          <a:lstStyle/>
          <a:p>
            <a:pPr algn="just"/>
            <a:r>
              <a:rPr lang="it-IT" sz="2000" b="1" dirty="0">
                <a:latin typeface="Times New Roman" panose="02020603050405020304" pitchFamily="18" charset="0"/>
                <a:cs typeface="Times New Roman" panose="02020603050405020304" pitchFamily="18" charset="0"/>
              </a:rPr>
              <a:t>Fase 2: </a:t>
            </a:r>
            <a:r>
              <a:rPr lang="it-IT" sz="2000" b="1" dirty="0" err="1">
                <a:latin typeface="Times New Roman" panose="02020603050405020304" pitchFamily="18" charset="0"/>
                <a:cs typeface="Times New Roman" panose="02020603050405020304" pitchFamily="18" charset="0"/>
              </a:rPr>
              <a:t>Reranking</a:t>
            </a:r>
            <a:r>
              <a:rPr lang="it-IT" sz="2000" b="1" dirty="0">
                <a:latin typeface="Times New Roman" panose="02020603050405020304" pitchFamily="18" charset="0"/>
                <a:cs typeface="Times New Roman" panose="02020603050405020304" pitchFamily="18" charset="0"/>
              </a:rPr>
              <a:t> (LLM</a:t>
            </a:r>
            <a:r>
              <a:rPr lang="it-IT" sz="2000" b="1" dirty="0" smtClean="0">
                <a:latin typeface="Times New Roman" panose="02020603050405020304" pitchFamily="18" charset="0"/>
                <a:cs typeface="Times New Roman" panose="02020603050405020304" pitchFamily="18" charset="0"/>
              </a:rPr>
              <a:t>)</a:t>
            </a:r>
          </a:p>
          <a:p>
            <a:pPr algn="just"/>
            <a:endParaRPr lang="it-IT" dirty="0">
              <a:latin typeface="Times New Roman" panose="02020603050405020304" pitchFamily="18" charset="0"/>
              <a:cs typeface="Times New Roman" panose="02020603050405020304" pitchFamily="18" charset="0"/>
            </a:endParaRPr>
          </a:p>
          <a:p>
            <a:pPr algn="just"/>
            <a:r>
              <a:rPr lang="it-IT" dirty="0" smtClean="0">
                <a:latin typeface="Times New Roman" panose="02020603050405020304" pitchFamily="18" charset="0"/>
                <a:cs typeface="Times New Roman" panose="02020603050405020304" pitchFamily="18" charset="0"/>
              </a:rPr>
              <a:t>LLM </a:t>
            </a:r>
            <a:r>
              <a:rPr lang="it-IT" dirty="0">
                <a:latin typeface="Times New Roman" panose="02020603050405020304" pitchFamily="18" charset="0"/>
                <a:cs typeface="Times New Roman" panose="02020603050405020304" pitchFamily="18" charset="0"/>
              </a:rPr>
              <a:t>riceve solo i Top-k candidati</a:t>
            </a:r>
            <a:r>
              <a:rPr lang="it-IT" dirty="0" smtClean="0">
                <a:latin typeface="Times New Roman" panose="02020603050405020304" pitchFamily="18" charset="0"/>
                <a:cs typeface="Times New Roman" panose="02020603050405020304" pitchFamily="18" charset="0"/>
              </a:rPr>
              <a:t>:</a:t>
            </a:r>
          </a:p>
          <a:p>
            <a:pPr algn="just"/>
            <a:r>
              <a:rPr lang="it-IT" dirty="0" err="1" smtClean="0">
                <a:latin typeface="Times New Roman" panose="02020603050405020304" pitchFamily="18" charset="0"/>
                <a:cs typeface="Times New Roman" panose="02020603050405020304" pitchFamily="18" charset="0"/>
              </a:rPr>
              <a:t>Prompt</a:t>
            </a:r>
            <a:r>
              <a:rPr lang="it-IT" dirty="0" smtClean="0">
                <a:latin typeface="Times New Roman" panose="02020603050405020304" pitchFamily="18" charset="0"/>
                <a:cs typeface="Times New Roman" panose="02020603050405020304" pitchFamily="18" charset="0"/>
              </a:rPr>
              <a:t>:“</a:t>
            </a:r>
            <a:r>
              <a:rPr lang="it-IT" dirty="0">
                <a:latin typeface="Times New Roman" panose="02020603050405020304" pitchFamily="18" charset="0"/>
                <a:cs typeface="Times New Roman" panose="02020603050405020304" pitchFamily="18" charset="0"/>
              </a:rPr>
              <a:t>Quanto sono semanticamente simili queste due colonne? Score 0–1</a:t>
            </a:r>
            <a:r>
              <a:rPr lang="it-IT" dirty="0" smtClean="0">
                <a:latin typeface="Times New Roman" panose="02020603050405020304" pitchFamily="18" charset="0"/>
                <a:cs typeface="Times New Roman" panose="02020603050405020304" pitchFamily="18" charset="0"/>
              </a:rPr>
              <a:t>”</a:t>
            </a:r>
          </a:p>
          <a:p>
            <a:pPr algn="just"/>
            <a:endParaRPr lang="it-IT" dirty="0" smtClean="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Gli LLM intervengono solo sui migliori k candidati per ogni colonna, assegnando punteggi di similarità tramite </a:t>
            </a:r>
            <a:r>
              <a:rPr lang="it-IT" dirty="0" err="1">
                <a:latin typeface="Times New Roman" panose="02020603050405020304" pitchFamily="18" charset="0"/>
                <a:cs typeface="Times New Roman" panose="02020603050405020304" pitchFamily="18" charset="0"/>
              </a:rPr>
              <a:t>prompt</a:t>
            </a:r>
            <a:r>
              <a:rPr lang="it-IT" dirty="0">
                <a:latin typeface="Times New Roman" panose="02020603050405020304" pitchFamily="18" charset="0"/>
                <a:cs typeface="Times New Roman" panose="02020603050405020304" pitchFamily="18" charset="0"/>
              </a:rPr>
              <a:t> progettati ad hoc.</a:t>
            </a:r>
          </a:p>
          <a:p>
            <a:pPr algn="just"/>
            <a:r>
              <a:rPr lang="it-IT" dirty="0">
                <a:latin typeface="Times New Roman" panose="02020603050405020304" pitchFamily="18" charset="0"/>
                <a:cs typeface="Times New Roman" panose="02020603050405020304" pitchFamily="18" charset="0"/>
              </a:rPr>
              <a:t>Questo consente di sfruttare la conoscenza semantica dell’LLM minimizzando il numero di chiamate API e rispettando i limiti di contesto.</a:t>
            </a:r>
          </a:p>
          <a:p>
            <a:pPr algn="just"/>
            <a:endParaRPr lang="it-IT" dirty="0">
              <a:latin typeface="Times New Roman" panose="02020603050405020304" pitchFamily="18" charset="0"/>
              <a:cs typeface="Times New Roman" panose="02020603050405020304" pitchFamily="18" charset="0"/>
            </a:endParaRPr>
          </a:p>
          <a:p>
            <a:pPr algn="just"/>
            <a:r>
              <a:rPr lang="it-IT" dirty="0" err="1" smtClean="0">
                <a:latin typeface="Times New Roman" panose="02020603050405020304" pitchFamily="18" charset="0"/>
                <a:cs typeface="Times New Roman" panose="02020603050405020304" pitchFamily="18" charset="0"/>
              </a:rPr>
              <a:t>Few-shot</a:t>
            </a:r>
            <a:r>
              <a:rPr lang="it-IT" dirty="0" smtClean="0">
                <a:latin typeface="Times New Roman" panose="02020603050405020304" pitchFamily="18" charset="0"/>
                <a:cs typeface="Times New Roman" panose="02020603050405020304" pitchFamily="18" charset="0"/>
              </a:rPr>
              <a:t> </a:t>
            </a:r>
            <a:r>
              <a:rPr lang="it-IT" dirty="0" err="1">
                <a:latin typeface="Times New Roman" panose="02020603050405020304" pitchFamily="18" charset="0"/>
                <a:cs typeface="Times New Roman" panose="02020603050405020304" pitchFamily="18" charset="0"/>
              </a:rPr>
              <a:t>learning</a:t>
            </a:r>
            <a:r>
              <a:rPr lang="it-IT" dirty="0" smtClean="0">
                <a:latin typeface="Times New Roman" panose="02020603050405020304" pitchFamily="18" charset="0"/>
                <a:cs typeface="Times New Roman" panose="02020603050405020304" pitchFamily="18" charset="0"/>
              </a:rPr>
              <a:t>.</a:t>
            </a:r>
          </a:p>
          <a:p>
            <a:pPr algn="just"/>
            <a:endParaRPr lang="it-IT" dirty="0">
              <a:latin typeface="Times New Roman" panose="02020603050405020304" pitchFamily="18" charset="0"/>
              <a:cs typeface="Times New Roman" panose="02020603050405020304" pitchFamily="18" charset="0"/>
            </a:endParaRPr>
          </a:p>
          <a:p>
            <a:pPr algn="just"/>
            <a:r>
              <a:rPr lang="it-IT" dirty="0" smtClean="0">
                <a:latin typeface="Times New Roman" panose="02020603050405020304" pitchFamily="18" charset="0"/>
                <a:cs typeface="Times New Roman" panose="02020603050405020304" pitchFamily="18" charset="0"/>
              </a:rPr>
              <a:t>LLM </a:t>
            </a:r>
            <a:r>
              <a:rPr lang="it-IT" dirty="0">
                <a:latin typeface="Times New Roman" panose="02020603050405020304" pitchFamily="18" charset="0"/>
                <a:cs typeface="Times New Roman" panose="02020603050405020304" pitchFamily="18" charset="0"/>
              </a:rPr>
              <a:t>fa confronti semantici profondi impossibili per SLM.</a:t>
            </a:r>
          </a:p>
        </p:txBody>
      </p:sp>
    </p:spTree>
    <p:extLst>
      <p:ext uri="{BB962C8B-B14F-4D97-AF65-F5344CB8AC3E}">
        <p14:creationId xmlns:p14="http://schemas.microsoft.com/office/powerpoint/2010/main" val="3393742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182604" y="2246145"/>
            <a:ext cx="8640960" cy="4278094"/>
          </a:xfrm>
          <a:prstGeom prst="rect">
            <a:avLst/>
          </a:prstGeom>
        </p:spPr>
        <p:txBody>
          <a:bodyPr wrap="square">
            <a:spAutoFit/>
          </a:bodyPr>
          <a:lstStyle/>
          <a:p>
            <a:pPr algn="just"/>
            <a:r>
              <a:rPr lang="it-IT" sz="2000" b="1" dirty="0">
                <a:latin typeface="Times New Roman" panose="02020603050405020304" pitchFamily="18" charset="0"/>
                <a:cs typeface="Times New Roman" panose="02020603050405020304" pitchFamily="18" charset="0"/>
              </a:rPr>
              <a:t>Addestrare gli SLM senza dati </a:t>
            </a:r>
            <a:r>
              <a:rPr lang="it-IT" sz="2000" b="1" dirty="0" smtClean="0">
                <a:latin typeface="Times New Roman" panose="02020603050405020304" pitchFamily="18" charset="0"/>
                <a:cs typeface="Times New Roman" panose="02020603050405020304" pitchFamily="18" charset="0"/>
              </a:rPr>
              <a:t>annotati</a:t>
            </a:r>
          </a:p>
          <a:p>
            <a:pPr algn="just"/>
            <a:endParaRPr lang="it-IT" dirty="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Questa è una delle innovazioni più importanti.</a:t>
            </a:r>
          </a:p>
          <a:p>
            <a:pPr algn="just"/>
            <a:r>
              <a:rPr lang="it-IT" dirty="0">
                <a:latin typeface="Times New Roman" panose="02020603050405020304" pitchFamily="18" charset="0"/>
                <a:cs typeface="Times New Roman" panose="02020603050405020304" pitchFamily="18" charset="0"/>
              </a:rPr>
              <a:t>Gli LLM vengono utilizzati per generare colonne sinteticamente diverse ma semanticamente equivalenti, che fungono da esempi positivi per un processo di apprendimento contrastivo </a:t>
            </a:r>
            <a:r>
              <a:rPr lang="it-IT" dirty="0" err="1">
                <a:latin typeface="Times New Roman" panose="02020603050405020304" pitchFamily="18" charset="0"/>
                <a:cs typeface="Times New Roman" panose="02020603050405020304" pitchFamily="18" charset="0"/>
              </a:rPr>
              <a:t>autosupervisionato</a:t>
            </a:r>
            <a:r>
              <a:rPr lang="it-IT" dirty="0" smtClean="0">
                <a:latin typeface="Times New Roman" panose="02020603050405020304" pitchFamily="18" charset="0"/>
                <a:cs typeface="Times New Roman" panose="02020603050405020304" pitchFamily="18" charset="0"/>
              </a:rPr>
              <a:t>.</a:t>
            </a:r>
          </a:p>
          <a:p>
            <a:pPr algn="just"/>
            <a:endParaRPr lang="it-IT" dirty="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Il training utilizza:</a:t>
            </a:r>
          </a:p>
          <a:p>
            <a:pPr algn="just"/>
            <a:r>
              <a:rPr lang="it-IT" dirty="0">
                <a:latin typeface="Times New Roman" panose="02020603050405020304" pitchFamily="18" charset="0"/>
                <a:cs typeface="Times New Roman" panose="02020603050405020304" pitchFamily="18" charset="0"/>
              </a:rPr>
              <a:t>•	</a:t>
            </a:r>
            <a:r>
              <a:rPr lang="it-IT" dirty="0" err="1">
                <a:latin typeface="Times New Roman" panose="02020603050405020304" pitchFamily="18" charset="0"/>
                <a:cs typeface="Times New Roman" panose="02020603050405020304" pitchFamily="18" charset="0"/>
              </a:rPr>
              <a:t>Triplet</a:t>
            </a:r>
            <a:r>
              <a:rPr lang="it-IT" dirty="0">
                <a:latin typeface="Times New Roman" panose="02020603050405020304" pitchFamily="18" charset="0"/>
                <a:cs typeface="Times New Roman" panose="02020603050405020304" pitchFamily="18" charset="0"/>
              </a:rPr>
              <a:t> </a:t>
            </a:r>
            <a:r>
              <a:rPr lang="it-IT" dirty="0" err="1">
                <a:latin typeface="Times New Roman" panose="02020603050405020304" pitchFamily="18" charset="0"/>
                <a:cs typeface="Times New Roman" panose="02020603050405020304" pitchFamily="18" charset="0"/>
              </a:rPr>
              <a:t>Loss</a:t>
            </a:r>
            <a:endParaRPr lang="it-IT" dirty="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	Online </a:t>
            </a:r>
            <a:r>
              <a:rPr lang="it-IT" dirty="0" err="1">
                <a:latin typeface="Times New Roman" panose="02020603050405020304" pitchFamily="18" charset="0"/>
                <a:cs typeface="Times New Roman" panose="02020603050405020304" pitchFamily="18" charset="0"/>
              </a:rPr>
              <a:t>Triplet</a:t>
            </a:r>
            <a:r>
              <a:rPr lang="it-IT" dirty="0">
                <a:latin typeface="Times New Roman" panose="02020603050405020304" pitchFamily="18" charset="0"/>
                <a:cs typeface="Times New Roman" panose="02020603050405020304" pitchFamily="18" charset="0"/>
              </a:rPr>
              <a:t> </a:t>
            </a:r>
            <a:r>
              <a:rPr lang="it-IT" dirty="0" err="1">
                <a:latin typeface="Times New Roman" panose="02020603050405020304" pitchFamily="18" charset="0"/>
                <a:cs typeface="Times New Roman" panose="02020603050405020304" pitchFamily="18" charset="0"/>
              </a:rPr>
              <a:t>Mining</a:t>
            </a:r>
            <a:endParaRPr lang="it-IT" dirty="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	Classi di colonne derivate dalla stessa </a:t>
            </a:r>
            <a:r>
              <a:rPr lang="it-IT" dirty="0" smtClean="0">
                <a:latin typeface="Times New Roman" panose="02020603050405020304" pitchFamily="18" charset="0"/>
                <a:cs typeface="Times New Roman" panose="02020603050405020304" pitchFamily="18" charset="0"/>
              </a:rPr>
              <a:t>ancora</a:t>
            </a:r>
          </a:p>
          <a:p>
            <a:pPr algn="just"/>
            <a:endParaRPr lang="it-IT" dirty="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Questo permette di costruire </a:t>
            </a:r>
            <a:r>
              <a:rPr lang="it-IT" dirty="0" err="1">
                <a:latin typeface="Times New Roman" panose="02020603050405020304" pitchFamily="18" charset="0"/>
                <a:cs typeface="Times New Roman" panose="02020603050405020304" pitchFamily="18" charset="0"/>
              </a:rPr>
              <a:t>embedding</a:t>
            </a:r>
            <a:r>
              <a:rPr lang="it-IT" dirty="0">
                <a:latin typeface="Times New Roman" panose="02020603050405020304" pitchFamily="18" charset="0"/>
                <a:cs typeface="Times New Roman" panose="02020603050405020304" pitchFamily="18" charset="0"/>
              </a:rPr>
              <a:t> altamente discriminativi senza dati annotati manualmente.</a:t>
            </a:r>
          </a:p>
          <a:p>
            <a:pPr algn="just"/>
            <a:endParaRPr lang="it-IT"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93742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395536" y="2132856"/>
            <a:ext cx="8280920" cy="2616101"/>
          </a:xfrm>
          <a:prstGeom prst="rect">
            <a:avLst/>
          </a:prstGeom>
        </p:spPr>
        <p:txBody>
          <a:bodyPr wrap="square">
            <a:spAutoFit/>
          </a:bodyPr>
          <a:lstStyle/>
          <a:p>
            <a:r>
              <a:rPr lang="it-IT" sz="2000" b="1" dirty="0">
                <a:latin typeface="Times New Roman" panose="02020603050405020304" pitchFamily="18" charset="0"/>
                <a:cs typeface="Times New Roman" panose="02020603050405020304" pitchFamily="18" charset="0"/>
              </a:rPr>
              <a:t>Verifica sperimentale</a:t>
            </a:r>
            <a:r>
              <a:rPr lang="it-IT" b="1" dirty="0">
                <a:latin typeface="Times New Roman" panose="02020603050405020304" pitchFamily="18" charset="0"/>
                <a:cs typeface="Times New Roman" panose="02020603050405020304" pitchFamily="18" charset="0"/>
              </a:rPr>
              <a:t>:</a:t>
            </a:r>
            <a:r>
              <a:rPr lang="it-IT" dirty="0">
                <a:latin typeface="Times New Roman" panose="02020603050405020304" pitchFamily="18" charset="0"/>
                <a:cs typeface="Times New Roman" panose="02020603050405020304" pitchFamily="18" charset="0"/>
              </a:rPr>
              <a:t> </a:t>
            </a:r>
            <a:endParaRPr lang="it-IT" dirty="0" smtClean="0">
              <a:latin typeface="Times New Roman" panose="02020603050405020304" pitchFamily="18" charset="0"/>
              <a:cs typeface="Times New Roman" panose="02020603050405020304" pitchFamily="18" charset="0"/>
            </a:endParaRPr>
          </a:p>
          <a:p>
            <a:endParaRPr lang="it-IT" dirty="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Il nuovo benchmark rappresenta uno scenario reale estremamente complesso:</a:t>
            </a:r>
          </a:p>
          <a:p>
            <a:pPr algn="just"/>
            <a:r>
              <a:rPr lang="it-IT" dirty="0">
                <a:latin typeface="Times New Roman" panose="02020603050405020304" pitchFamily="18" charset="0"/>
                <a:cs typeface="Times New Roman" panose="02020603050405020304" pitchFamily="18" charset="0"/>
              </a:rPr>
              <a:t>•	10 </a:t>
            </a:r>
            <a:r>
              <a:rPr lang="it-IT" dirty="0" err="1">
                <a:latin typeface="Times New Roman" panose="02020603050405020304" pitchFamily="18" charset="0"/>
                <a:cs typeface="Times New Roman" panose="02020603050405020304" pitchFamily="18" charset="0"/>
              </a:rPr>
              <a:t>dataset</a:t>
            </a:r>
            <a:r>
              <a:rPr lang="it-IT" dirty="0">
                <a:latin typeface="Times New Roman" panose="02020603050405020304" pitchFamily="18" charset="0"/>
                <a:cs typeface="Times New Roman" panose="02020603050405020304" pitchFamily="18" charset="0"/>
              </a:rPr>
              <a:t> reali biomedici</a:t>
            </a:r>
          </a:p>
          <a:p>
            <a:pPr algn="just"/>
            <a:r>
              <a:rPr lang="it-IT" dirty="0">
                <a:latin typeface="Times New Roman" panose="02020603050405020304" pitchFamily="18" charset="0"/>
                <a:cs typeface="Times New Roman" panose="02020603050405020304" pitchFamily="18" charset="0"/>
              </a:rPr>
              <a:t>•	fino a 179 colonne sorgente</a:t>
            </a:r>
          </a:p>
          <a:p>
            <a:pPr algn="just"/>
            <a:r>
              <a:rPr lang="it-IT" dirty="0">
                <a:latin typeface="Times New Roman" panose="02020603050405020304" pitchFamily="18" charset="0"/>
                <a:cs typeface="Times New Roman" panose="02020603050405020304" pitchFamily="18" charset="0"/>
              </a:rPr>
              <a:t>•	736 colonne target</a:t>
            </a:r>
          </a:p>
          <a:p>
            <a:pPr algn="just"/>
            <a:r>
              <a:rPr lang="it-IT" dirty="0">
                <a:latin typeface="Times New Roman" panose="02020603050405020304" pitchFamily="18" charset="0"/>
                <a:cs typeface="Times New Roman" panose="02020603050405020304" pitchFamily="18" charset="0"/>
              </a:rPr>
              <a:t>•	alta variabilità sintattica e semantica</a:t>
            </a:r>
          </a:p>
          <a:p>
            <a:pPr algn="just"/>
            <a:r>
              <a:rPr lang="it-IT" dirty="0">
                <a:latin typeface="Times New Roman" panose="02020603050405020304" pitchFamily="18" charset="0"/>
                <a:cs typeface="Times New Roman" panose="02020603050405020304" pitchFamily="18" charset="0"/>
              </a:rPr>
              <a:t>A differenza dei benchmark esistenti, questo non è “saturato” e mette realmente alla prova gli algoritmi.</a:t>
            </a:r>
            <a:endParaRPr lang="it-IT" dirty="0" smtClean="0">
              <a:latin typeface="Times New Roman" panose="02020603050405020304" pitchFamily="18" charset="0"/>
              <a:cs typeface="Times New Roman" panose="02020603050405020304" pitchFamily="18" charset="0"/>
            </a:endParaRPr>
          </a:p>
        </p:txBody>
      </p:sp>
      <p:sp>
        <p:nvSpPr>
          <p:cNvPr id="8" name="Rettangolo 7"/>
          <p:cNvSpPr/>
          <p:nvPr/>
        </p:nvSpPr>
        <p:spPr>
          <a:xfrm>
            <a:off x="395536" y="4941168"/>
            <a:ext cx="8280920" cy="1477328"/>
          </a:xfrm>
          <a:prstGeom prst="rect">
            <a:avLst/>
          </a:prstGeom>
        </p:spPr>
        <p:txBody>
          <a:bodyPr wrap="square">
            <a:spAutoFit/>
          </a:bodyPr>
          <a:lstStyle/>
          <a:p>
            <a:pPr algn="just"/>
            <a:r>
              <a:rPr lang="it-IT" dirty="0" err="1">
                <a:latin typeface="Times New Roman" panose="02020603050405020304" pitchFamily="18" charset="0"/>
                <a:cs typeface="Times New Roman" panose="02020603050405020304" pitchFamily="18" charset="0"/>
              </a:rPr>
              <a:t>Magneto</a:t>
            </a:r>
            <a:r>
              <a:rPr lang="it-IT" dirty="0">
                <a:latin typeface="Times New Roman" panose="02020603050405020304" pitchFamily="18" charset="0"/>
                <a:cs typeface="Times New Roman" panose="02020603050405020304" pitchFamily="18" charset="0"/>
              </a:rPr>
              <a:t> supera tutte le baseline tradizionali e recenti (COMA, </a:t>
            </a:r>
            <a:r>
              <a:rPr lang="it-IT" dirty="0" err="1">
                <a:latin typeface="Times New Roman" panose="02020603050405020304" pitchFamily="18" charset="0"/>
                <a:cs typeface="Times New Roman" panose="02020603050405020304" pitchFamily="18" charset="0"/>
              </a:rPr>
              <a:t>SimFlooding</a:t>
            </a:r>
            <a:r>
              <a:rPr lang="it-IT" dirty="0">
                <a:latin typeface="Times New Roman" panose="02020603050405020304" pitchFamily="18" charset="0"/>
                <a:cs typeface="Times New Roman" panose="02020603050405020304" pitchFamily="18" charset="0"/>
              </a:rPr>
              <a:t>, </a:t>
            </a:r>
            <a:r>
              <a:rPr lang="it-IT" dirty="0" err="1">
                <a:latin typeface="Times New Roman" panose="02020603050405020304" pitchFamily="18" charset="0"/>
                <a:cs typeface="Times New Roman" panose="02020603050405020304" pitchFamily="18" charset="0"/>
              </a:rPr>
              <a:t>ISResMat</a:t>
            </a:r>
            <a:r>
              <a:rPr lang="it-IT" dirty="0">
                <a:latin typeface="Times New Roman" panose="02020603050405020304" pitchFamily="18" charset="0"/>
                <a:cs typeface="Times New Roman" panose="02020603050405020304" pitchFamily="18" charset="0"/>
              </a:rPr>
              <a:t>, </a:t>
            </a:r>
            <a:r>
              <a:rPr lang="it-IT" dirty="0" err="1">
                <a:latin typeface="Times New Roman" panose="02020603050405020304" pitchFamily="18" charset="0"/>
                <a:cs typeface="Times New Roman" panose="02020603050405020304" pitchFamily="18" charset="0"/>
              </a:rPr>
              <a:t>Unicorn</a:t>
            </a:r>
            <a:r>
              <a:rPr lang="it-IT" dirty="0">
                <a:latin typeface="Times New Roman" panose="02020603050405020304" pitchFamily="18" charset="0"/>
                <a:cs typeface="Times New Roman" panose="02020603050405020304" pitchFamily="18" charset="0"/>
              </a:rPr>
              <a:t>) sia su GDC che su Valentine.</a:t>
            </a:r>
          </a:p>
          <a:p>
            <a:pPr algn="just"/>
            <a:r>
              <a:rPr lang="it-IT" dirty="0">
                <a:latin typeface="Times New Roman" panose="02020603050405020304" pitchFamily="18" charset="0"/>
                <a:cs typeface="Times New Roman" panose="02020603050405020304" pitchFamily="18" charset="0"/>
              </a:rPr>
              <a:t>La configurazione migliore risulta essere </a:t>
            </a:r>
            <a:r>
              <a:rPr lang="it-IT" dirty="0" err="1">
                <a:latin typeface="Times New Roman" panose="02020603050405020304" pitchFamily="18" charset="0"/>
                <a:cs typeface="Times New Roman" panose="02020603050405020304" pitchFamily="18" charset="0"/>
              </a:rPr>
              <a:t>Magneto-ft-llm</a:t>
            </a:r>
            <a:r>
              <a:rPr lang="it-IT" dirty="0">
                <a:latin typeface="Times New Roman" panose="02020603050405020304" pitchFamily="18" charset="0"/>
                <a:cs typeface="Times New Roman" panose="02020603050405020304" pitchFamily="18" charset="0"/>
              </a:rPr>
              <a:t>.</a:t>
            </a:r>
          </a:p>
          <a:p>
            <a:pPr algn="just"/>
            <a:r>
              <a:rPr lang="it-IT" dirty="0">
                <a:latin typeface="Times New Roman" panose="02020603050405020304" pitchFamily="18" charset="0"/>
                <a:cs typeface="Times New Roman" panose="02020603050405020304" pitchFamily="18" charset="0"/>
              </a:rPr>
              <a:t>Anche le versioni zero-</a:t>
            </a:r>
            <a:r>
              <a:rPr lang="it-IT" dirty="0" err="1">
                <a:latin typeface="Times New Roman" panose="02020603050405020304" pitchFamily="18" charset="0"/>
                <a:cs typeface="Times New Roman" panose="02020603050405020304" pitchFamily="18" charset="0"/>
              </a:rPr>
              <a:t>shot</a:t>
            </a:r>
            <a:r>
              <a:rPr lang="it-IT" dirty="0">
                <a:latin typeface="Times New Roman" panose="02020603050405020304" pitchFamily="18" charset="0"/>
                <a:cs typeface="Times New Roman" panose="02020603050405020304" pitchFamily="18" charset="0"/>
              </a:rPr>
              <a:t> mostrano prestazioni superiori grazie alle tecniche di serializzazione e campionamento.</a:t>
            </a:r>
          </a:p>
        </p:txBody>
      </p:sp>
    </p:spTree>
    <p:extLst>
      <p:ext uri="{BB962C8B-B14F-4D97-AF65-F5344CB8AC3E}">
        <p14:creationId xmlns:p14="http://schemas.microsoft.com/office/powerpoint/2010/main" val="3393742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395536" y="2274838"/>
            <a:ext cx="8352928" cy="1938992"/>
          </a:xfrm>
          <a:prstGeom prst="rect">
            <a:avLst/>
          </a:prstGeom>
        </p:spPr>
        <p:txBody>
          <a:bodyPr wrap="square">
            <a:spAutoFit/>
          </a:bodyPr>
          <a:lstStyle/>
          <a:p>
            <a:r>
              <a:rPr lang="it-IT" sz="2000" b="1" dirty="0">
                <a:latin typeface="Times New Roman" panose="02020603050405020304" pitchFamily="18" charset="0"/>
                <a:cs typeface="Times New Roman" panose="02020603050405020304" pitchFamily="18" charset="0"/>
              </a:rPr>
              <a:t>Compromesso tra accuratezza e </a:t>
            </a:r>
            <a:r>
              <a:rPr lang="it-IT" sz="2000" b="1" dirty="0" smtClean="0">
                <a:latin typeface="Times New Roman" panose="02020603050405020304" pitchFamily="18" charset="0"/>
                <a:cs typeface="Times New Roman" panose="02020603050405020304" pitchFamily="18" charset="0"/>
              </a:rPr>
              <a:t>costo</a:t>
            </a:r>
          </a:p>
          <a:p>
            <a:pPr algn="just"/>
            <a:endParaRPr lang="it-IT" sz="2000" b="1" dirty="0">
              <a:latin typeface="Times New Roman" panose="02020603050405020304" pitchFamily="18" charset="0"/>
              <a:cs typeface="Times New Roman" panose="02020603050405020304" pitchFamily="18" charset="0"/>
            </a:endParaRPr>
          </a:p>
          <a:p>
            <a:pPr algn="just"/>
            <a:r>
              <a:rPr lang="it-IT" sz="2000" dirty="0">
                <a:latin typeface="Times New Roman" panose="02020603050405020304" pitchFamily="18" charset="0"/>
                <a:cs typeface="Times New Roman" panose="02020603050405020304" pitchFamily="18" charset="0"/>
              </a:rPr>
              <a:t>Uno dei contributi chiave dell’articolo è dimostrare che è possibile ottenere alta accuratezza senza costi proibitivi, usando gli LLM solo dove necessario.</a:t>
            </a:r>
          </a:p>
          <a:p>
            <a:pPr algn="just"/>
            <a:r>
              <a:rPr lang="it-IT" sz="2000" dirty="0" err="1">
                <a:latin typeface="Times New Roman" panose="02020603050405020304" pitchFamily="18" charset="0"/>
                <a:cs typeface="Times New Roman" panose="02020603050405020304" pitchFamily="18" charset="0"/>
              </a:rPr>
              <a:t>Magneto</a:t>
            </a:r>
            <a:r>
              <a:rPr lang="it-IT" sz="2000" dirty="0">
                <a:latin typeface="Times New Roman" panose="02020603050405020304" pitchFamily="18" charset="0"/>
                <a:cs typeface="Times New Roman" panose="02020603050405020304" pitchFamily="18" charset="0"/>
              </a:rPr>
              <a:t> riesce a posizionarsi in una zona ottimale del </a:t>
            </a:r>
            <a:r>
              <a:rPr lang="it-IT" sz="2000" dirty="0" err="1">
                <a:latin typeface="Times New Roman" panose="02020603050405020304" pitchFamily="18" charset="0"/>
                <a:cs typeface="Times New Roman" panose="02020603050405020304" pitchFamily="18" charset="0"/>
              </a:rPr>
              <a:t>trade</a:t>
            </a:r>
            <a:r>
              <a:rPr lang="it-IT" sz="2000" dirty="0">
                <a:latin typeface="Times New Roman" panose="02020603050405020304" pitchFamily="18" charset="0"/>
                <a:cs typeface="Times New Roman" panose="02020603050405020304" pitchFamily="18" charset="0"/>
              </a:rPr>
              <a:t>-off tra </a:t>
            </a:r>
            <a:r>
              <a:rPr lang="it-IT" sz="2000" dirty="0" err="1">
                <a:latin typeface="Times New Roman" panose="02020603050405020304" pitchFamily="18" charset="0"/>
                <a:cs typeface="Times New Roman" panose="02020603050405020304" pitchFamily="18" charset="0"/>
              </a:rPr>
              <a:t>runtime</a:t>
            </a:r>
            <a:r>
              <a:rPr lang="it-IT" sz="2000" dirty="0">
                <a:latin typeface="Times New Roman" panose="02020603050405020304" pitchFamily="18" charset="0"/>
                <a:cs typeface="Times New Roman" panose="02020603050405020304" pitchFamily="18" charset="0"/>
              </a:rPr>
              <a:t> e accuratezza.</a:t>
            </a:r>
          </a:p>
        </p:txBody>
      </p:sp>
    </p:spTree>
    <p:extLst>
      <p:ext uri="{BB962C8B-B14F-4D97-AF65-F5344CB8AC3E}">
        <p14:creationId xmlns:p14="http://schemas.microsoft.com/office/powerpoint/2010/main" val="339374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txBox="1">
            <a:spLocks/>
          </p:cNvSpPr>
          <p:nvPr/>
        </p:nvSpPr>
        <p:spPr>
          <a:xfrm>
            <a:off x="0" y="0"/>
            <a:ext cx="9144000" cy="1417638"/>
          </a:xfrm>
          <a:prstGeom prst="rect">
            <a:avLst/>
          </a:prstGeom>
        </p:spPr>
        <p:style>
          <a:lnRef idx="0">
            <a:schemeClr val="accent1"/>
          </a:lnRef>
          <a:fillRef idx="3">
            <a:schemeClr val="accent1"/>
          </a:fillRef>
          <a:effectRef idx="3">
            <a:schemeClr val="accent1"/>
          </a:effectRef>
          <a:fontRef idx="minor">
            <a:schemeClr val="lt1"/>
          </a:fontRef>
        </p:style>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it-IT" sz="1800" dirty="0" err="1" smtClean="0"/>
              <a:t>HomeWork</a:t>
            </a:r>
            <a:r>
              <a:rPr lang="it-IT" sz="1800" dirty="0" smtClean="0"/>
              <a:t> 3</a:t>
            </a:r>
            <a:br>
              <a:rPr lang="it-IT" sz="1800" dirty="0" smtClean="0"/>
            </a:br>
            <a:r>
              <a:rPr lang="it-IT" sz="1800" dirty="0" smtClean="0"/>
              <a:t>Ingegneria dei Dati</a:t>
            </a:r>
            <a:endParaRPr lang="it-IT" sz="3000" dirty="0"/>
          </a:p>
        </p:txBody>
      </p:sp>
      <p:pic>
        <p:nvPicPr>
          <p:cNvPr id="3" name="Immagin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512" y="188640"/>
            <a:ext cx="1645469" cy="1031045"/>
          </a:xfrm>
          <a:prstGeom prst="rect">
            <a:avLst/>
          </a:prstGeom>
        </p:spPr>
      </p:pic>
      <p:cxnSp>
        <p:nvCxnSpPr>
          <p:cNvPr id="4" name="Connettore 1 3"/>
          <p:cNvCxnSpPr/>
          <p:nvPr/>
        </p:nvCxnSpPr>
        <p:spPr>
          <a:xfrm flipV="1">
            <a:off x="-12968" y="148478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 name="Connettore 1 4"/>
          <p:cNvCxnSpPr/>
          <p:nvPr/>
        </p:nvCxnSpPr>
        <p:spPr>
          <a:xfrm flipV="1">
            <a:off x="-19830" y="1655186"/>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6" name="Connettore 1 5"/>
          <p:cNvCxnSpPr/>
          <p:nvPr/>
        </p:nvCxnSpPr>
        <p:spPr>
          <a:xfrm flipV="1">
            <a:off x="-19830" y="1844824"/>
            <a:ext cx="9163830" cy="3600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 name="Rettangolo 6"/>
          <p:cNvSpPr/>
          <p:nvPr/>
        </p:nvSpPr>
        <p:spPr>
          <a:xfrm>
            <a:off x="457629" y="2492896"/>
            <a:ext cx="8208912" cy="3693319"/>
          </a:xfrm>
          <a:prstGeom prst="rect">
            <a:avLst/>
          </a:prstGeom>
        </p:spPr>
        <p:txBody>
          <a:bodyPr wrap="square">
            <a:spAutoFit/>
          </a:bodyPr>
          <a:lstStyle/>
          <a:p>
            <a:pPr algn="just"/>
            <a:r>
              <a:rPr lang="it-IT" b="1" dirty="0" err="1">
                <a:latin typeface="Times New Roman" panose="02020603050405020304" pitchFamily="18" charset="0"/>
                <a:cs typeface="Times New Roman" panose="02020603050405020304" pitchFamily="18" charset="0"/>
              </a:rPr>
              <a:t>Magneto</a:t>
            </a:r>
            <a:r>
              <a:rPr lang="it-IT" b="1" dirty="0">
                <a:latin typeface="Times New Roman" panose="02020603050405020304" pitchFamily="18" charset="0"/>
                <a:cs typeface="Times New Roman" panose="02020603050405020304" pitchFamily="18" charset="0"/>
              </a:rPr>
              <a:t> rappresenta un passo avanti significativo nello schema </a:t>
            </a:r>
            <a:r>
              <a:rPr lang="it-IT" b="1" dirty="0" err="1">
                <a:latin typeface="Times New Roman" panose="02020603050405020304" pitchFamily="18" charset="0"/>
                <a:cs typeface="Times New Roman" panose="02020603050405020304" pitchFamily="18" charset="0"/>
              </a:rPr>
              <a:t>matching</a:t>
            </a:r>
            <a:r>
              <a:rPr lang="it-IT" dirty="0" smtClean="0">
                <a:latin typeface="Times New Roman" panose="02020603050405020304" pitchFamily="18" charset="0"/>
                <a:cs typeface="Times New Roman" panose="02020603050405020304" pitchFamily="18" charset="0"/>
              </a:rPr>
              <a:t>,</a:t>
            </a:r>
          </a:p>
          <a:p>
            <a:pPr algn="just"/>
            <a:endParaRPr lang="it-IT" dirty="0" smtClean="0">
              <a:latin typeface="Times New Roman" panose="02020603050405020304" pitchFamily="18" charset="0"/>
              <a:cs typeface="Times New Roman" panose="02020603050405020304" pitchFamily="18" charset="0"/>
            </a:endParaRPr>
          </a:p>
          <a:p>
            <a:pPr algn="just"/>
            <a:r>
              <a:rPr lang="it-IT" dirty="0" smtClean="0">
                <a:latin typeface="Times New Roman" panose="02020603050405020304" pitchFamily="18" charset="0"/>
                <a:cs typeface="Times New Roman" panose="02020603050405020304" pitchFamily="18" charset="0"/>
              </a:rPr>
              <a:t>dimostrando </a:t>
            </a:r>
            <a:r>
              <a:rPr lang="it-IT" dirty="0">
                <a:latin typeface="Times New Roman" panose="02020603050405020304" pitchFamily="18" charset="0"/>
                <a:cs typeface="Times New Roman" panose="02020603050405020304" pitchFamily="18" charset="0"/>
              </a:rPr>
              <a:t>che la combinazione intelligente di SLM e LLM può superare i limiti di entrambi</a:t>
            </a:r>
            <a:r>
              <a:rPr lang="it-IT" dirty="0" smtClean="0">
                <a:latin typeface="Times New Roman" panose="02020603050405020304" pitchFamily="18" charset="0"/>
                <a:cs typeface="Times New Roman" panose="02020603050405020304" pitchFamily="18" charset="0"/>
              </a:rPr>
              <a:t>.</a:t>
            </a:r>
          </a:p>
          <a:p>
            <a:pPr algn="just"/>
            <a:endParaRPr lang="it-IT" dirty="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L’uso degli LLM per generare dati di training, la pipeline a due fasi, le tecniche di serializzazione e il nuovo benchmark rendono questo lavoro particolarmente rilevante per applicazioni reali di integrazione dei dati, specialmente in domini complessi come quello biomedico</a:t>
            </a:r>
            <a:r>
              <a:rPr lang="it-IT" dirty="0" smtClean="0">
                <a:latin typeface="Times New Roman" panose="02020603050405020304" pitchFamily="18" charset="0"/>
                <a:cs typeface="Times New Roman" panose="02020603050405020304" pitchFamily="18" charset="0"/>
              </a:rPr>
              <a:t>.</a:t>
            </a:r>
          </a:p>
          <a:p>
            <a:pPr algn="just"/>
            <a:endParaRPr lang="it-IT" dirty="0" smtClean="0">
              <a:latin typeface="Times New Roman" panose="02020603050405020304" pitchFamily="18" charset="0"/>
              <a:cs typeface="Times New Roman" panose="02020603050405020304" pitchFamily="18" charset="0"/>
            </a:endParaRPr>
          </a:p>
          <a:p>
            <a:pPr algn="just"/>
            <a:r>
              <a:rPr lang="it-IT" dirty="0">
                <a:latin typeface="Times New Roman" panose="02020603050405020304" pitchFamily="18" charset="0"/>
                <a:cs typeface="Times New Roman" panose="02020603050405020304" pitchFamily="18" charset="0"/>
              </a:rPr>
              <a:t>Gli LLM non sostituiscono gli algoritmi tradizionali</a:t>
            </a:r>
            <a:r>
              <a:rPr lang="it-IT" dirty="0" smtClean="0">
                <a:latin typeface="Times New Roman" panose="02020603050405020304" pitchFamily="18" charset="0"/>
                <a:cs typeface="Times New Roman" panose="02020603050405020304" pitchFamily="18" charset="0"/>
              </a:rPr>
              <a:t>. Li </a:t>
            </a:r>
            <a:r>
              <a:rPr lang="it-IT" dirty="0">
                <a:latin typeface="Times New Roman" panose="02020603050405020304" pitchFamily="18" charset="0"/>
                <a:cs typeface="Times New Roman" panose="02020603050405020304" pitchFamily="18" charset="0"/>
              </a:rPr>
              <a:t>potenziano quando usati nel punto giusto della pipeline</a:t>
            </a:r>
            <a:r>
              <a:rPr lang="it-IT" dirty="0" smtClean="0">
                <a:latin typeface="Times New Roman" panose="02020603050405020304" pitchFamily="18" charset="0"/>
                <a:cs typeface="Times New Roman" panose="02020603050405020304" pitchFamily="18" charset="0"/>
              </a:rPr>
              <a:t>. Questa </a:t>
            </a:r>
            <a:r>
              <a:rPr lang="it-IT" dirty="0">
                <a:latin typeface="Times New Roman" panose="02020603050405020304" pitchFamily="18" charset="0"/>
                <a:cs typeface="Times New Roman" panose="02020603050405020304" pitchFamily="18" charset="0"/>
              </a:rPr>
              <a:t>è l’idea centrale dell’articolo.</a:t>
            </a:r>
          </a:p>
          <a:p>
            <a:pPr algn="just"/>
            <a:endParaRPr lang="it-IT" dirty="0"/>
          </a:p>
        </p:txBody>
      </p:sp>
    </p:spTree>
    <p:extLst>
      <p:ext uri="{BB962C8B-B14F-4D97-AF65-F5344CB8AC3E}">
        <p14:creationId xmlns:p14="http://schemas.microsoft.com/office/powerpoint/2010/main" val="339374257"/>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119</TotalTime>
  <Words>797</Words>
  <Application>Microsoft Office PowerPoint</Application>
  <PresentationFormat>Presentazione su schermo (4:3)</PresentationFormat>
  <Paragraphs>106</Paragraphs>
  <Slides>12</Slides>
  <Notes>0</Notes>
  <HiddenSlides>0</HiddenSlides>
  <MMClips>0</MMClips>
  <ScaleCrop>false</ScaleCrop>
  <HeadingPairs>
    <vt:vector size="4" baseType="variant">
      <vt:variant>
        <vt:lpstr>Tema</vt:lpstr>
      </vt:variant>
      <vt:variant>
        <vt:i4>1</vt:i4>
      </vt:variant>
      <vt:variant>
        <vt:lpstr>Titoli diapositive</vt:lpstr>
      </vt:variant>
      <vt:variant>
        <vt:i4>12</vt:i4>
      </vt:variant>
    </vt:vector>
  </HeadingPairs>
  <TitlesOfParts>
    <vt:vector size="13" baseType="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DOUGLAS RUFFINI</dc:creator>
  <cp:lastModifiedBy>Microsoft</cp:lastModifiedBy>
  <cp:revision>23</cp:revision>
  <cp:lastPrinted>2026-01-30T20:06:55Z</cp:lastPrinted>
  <dcterms:created xsi:type="dcterms:W3CDTF">2026-01-30T17:57:05Z</dcterms:created>
  <dcterms:modified xsi:type="dcterms:W3CDTF">2026-01-30T20:07:29Z</dcterms:modified>
</cp:coreProperties>
</file>